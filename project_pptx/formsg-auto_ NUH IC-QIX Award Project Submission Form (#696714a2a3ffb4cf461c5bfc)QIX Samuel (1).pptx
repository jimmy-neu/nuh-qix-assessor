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8"/>
  </p:notesMasterIdLst>
  <p:sldIdLst>
    <p:sldId id="256" r:id="rId5"/>
    <p:sldId id="264" r:id="rId6"/>
    <p:sldId id="259" r:id="rId7"/>
    <p:sldId id="257" r:id="rId8"/>
    <p:sldId id="266" r:id="rId9"/>
    <p:sldId id="258" r:id="rId10"/>
    <p:sldId id="260" r:id="rId11"/>
    <p:sldId id="268" r:id="rId12"/>
    <p:sldId id="265" r:id="rId13"/>
    <p:sldId id="267"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16" autoAdjust="0"/>
    <p:restoredTop sz="95931" autoAdjust="0"/>
  </p:normalViewPr>
  <p:slideViewPr>
    <p:cSldViewPr snapToGrid="0">
      <p:cViewPr varScale="1">
        <p:scale>
          <a:sx n="153" d="100"/>
          <a:sy n="153" d="100"/>
        </p:scale>
        <p:origin x="156" y="42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NULL"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3736334906188671"/>
          <c:y val="0.19144346863671388"/>
          <c:w val="0.83542576658437195"/>
          <c:h val="0.71219817080748993"/>
        </c:manualLayout>
      </c:layout>
      <c:lineChart>
        <c:grouping val="standard"/>
        <c:varyColors val="0"/>
        <c:ser>
          <c:idx val="0"/>
          <c:order val="0"/>
          <c:tx>
            <c:strRef>
              <c:f>Sheet5!$B$1</c:f>
              <c:strCache>
                <c:ptCount val="1"/>
                <c:pt idx="0">
                  <c:v>Overall</c:v>
                </c:pt>
              </c:strCache>
            </c:strRef>
          </c:tx>
          <c:spPr>
            <a:ln w="31750" cap="rnd">
              <a:solidFill>
                <a:schemeClr val="accent1"/>
              </a:solidFill>
              <a:round/>
            </a:ln>
            <a:effectLst/>
          </c:spPr>
          <c:marker>
            <c:symbol val="none"/>
          </c:marker>
          <c:dLbls>
            <c:delete val="1"/>
          </c:dLbls>
          <c:cat>
            <c:strRef>
              <c:f>Sheet5!$A$2:$A$13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Sheet5!$B$2:$B$13</c:f>
              <c:numCache>
                <c:formatCode>0.0%</c:formatCode>
                <c:ptCount val="12"/>
                <c:pt idx="0">
                  <c:v>0</c:v>
                </c:pt>
                <c:pt idx="1">
                  <c:v>0</c:v>
                </c:pt>
                <c:pt idx="2">
                  <c:v>0.125</c:v>
                </c:pt>
                <c:pt idx="3">
                  <c:v>0.14299999999999999</c:v>
                </c:pt>
                <c:pt idx="4">
                  <c:v>6.7000000000000004E-2</c:v>
                </c:pt>
                <c:pt idx="5">
                  <c:v>0.13300000000000001</c:v>
                </c:pt>
                <c:pt idx="6">
                  <c:v>0.18099999999999999</c:v>
                </c:pt>
                <c:pt idx="7">
                  <c:v>0.16700000000000001</c:v>
                </c:pt>
                <c:pt idx="8">
                  <c:v>0.25</c:v>
                </c:pt>
                <c:pt idx="9">
                  <c:v>0.24</c:v>
                </c:pt>
                <c:pt idx="10">
                  <c:v>0.45</c:v>
                </c:pt>
                <c:pt idx="11">
                  <c:v>0.33300000000000002</c:v>
                </c:pt>
              </c:numCache>
            </c:numRef>
          </c:val>
          <c:smooth val="0"/>
          <c:extLst>
            <c:ext xmlns:c16="http://schemas.microsoft.com/office/drawing/2014/chart" uri="{C3380CC4-5D6E-409C-BE32-E72D297353CC}">
              <c16:uniqueId val="{00000000-B02F-4144-991B-F6227993E6DD}"/>
            </c:ext>
          </c:extLst>
        </c:ser>
        <c:ser>
          <c:idx val="1"/>
          <c:order val="1"/>
          <c:tx>
            <c:strRef>
              <c:f>Sheet5!$C$1</c:f>
              <c:strCache>
                <c:ptCount val="1"/>
                <c:pt idx="0">
                  <c:v>Pre intervention Median</c:v>
                </c:pt>
              </c:strCache>
            </c:strRef>
          </c:tx>
          <c:spPr>
            <a:ln w="31750" cap="rnd">
              <a:solidFill>
                <a:schemeClr val="accent2"/>
              </a:solidFill>
              <a:round/>
            </a:ln>
            <a:effectLst/>
          </c:spPr>
          <c:marker>
            <c:symbol val="none"/>
          </c:marker>
          <c:dLbls>
            <c:delete val="1"/>
          </c:dLbls>
          <c:cat>
            <c:strRef>
              <c:f>Sheet5!$A$2:$A$13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Sheet5!$C$2:$C$9</c:f>
              <c:numCache>
                <c:formatCode>0.0%</c:formatCode>
                <c:ptCount val="8"/>
                <c:pt idx="0">
                  <c:v>6.7000000000000004E-2</c:v>
                </c:pt>
                <c:pt idx="1">
                  <c:v>6.7000000000000004E-2</c:v>
                </c:pt>
                <c:pt idx="2">
                  <c:v>6.7000000000000004E-2</c:v>
                </c:pt>
                <c:pt idx="3">
                  <c:v>6.7000000000000004E-2</c:v>
                </c:pt>
                <c:pt idx="4">
                  <c:v>6.7000000000000004E-2</c:v>
                </c:pt>
              </c:numCache>
            </c:numRef>
          </c:val>
          <c:smooth val="0"/>
          <c:extLst>
            <c:ext xmlns:c16="http://schemas.microsoft.com/office/drawing/2014/chart" uri="{C3380CC4-5D6E-409C-BE32-E72D297353CC}">
              <c16:uniqueId val="{00000001-B02F-4144-991B-F6227993E6DD}"/>
            </c:ext>
          </c:extLst>
        </c:ser>
        <c:ser>
          <c:idx val="2"/>
          <c:order val="2"/>
          <c:tx>
            <c:strRef>
              <c:f>Sheet5!$D$1</c:f>
              <c:strCache>
                <c:ptCount val="1"/>
                <c:pt idx="0">
                  <c:v>Post intervention Median</c:v>
                </c:pt>
              </c:strCache>
            </c:strRef>
          </c:tx>
          <c:spPr>
            <a:ln w="31750" cap="rnd">
              <a:solidFill>
                <a:schemeClr val="accent3"/>
              </a:solidFill>
              <a:round/>
            </a:ln>
            <a:effectLst/>
          </c:spPr>
          <c:marker>
            <c:symbol val="none"/>
          </c:marker>
          <c:dLbls>
            <c:delete val="1"/>
          </c:dLbls>
          <c:cat>
            <c:strRef>
              <c:f>Sheet5!$A$2:$A$13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Sheet5!$D$2:$D$13</c:f>
              <c:numCache>
                <c:formatCode>General</c:formatCode>
                <c:ptCount val="12"/>
                <c:pt idx="5" formatCode="0.0%">
                  <c:v>0.24</c:v>
                </c:pt>
                <c:pt idx="6" formatCode="0.0%">
                  <c:v>0.24</c:v>
                </c:pt>
                <c:pt idx="7" formatCode="0.0%">
                  <c:v>0.24</c:v>
                </c:pt>
                <c:pt idx="8" formatCode="0.0%">
                  <c:v>0.24</c:v>
                </c:pt>
                <c:pt idx="9" formatCode="0.0%">
                  <c:v>0.24</c:v>
                </c:pt>
                <c:pt idx="10" formatCode="0.0%">
                  <c:v>0.24</c:v>
                </c:pt>
                <c:pt idx="11" formatCode="0.0%">
                  <c:v>0.24</c:v>
                </c:pt>
              </c:numCache>
            </c:numRef>
          </c:val>
          <c:smooth val="0"/>
          <c:extLst>
            <c:ext xmlns:c16="http://schemas.microsoft.com/office/drawing/2014/chart" uri="{C3380CC4-5D6E-409C-BE32-E72D297353CC}">
              <c16:uniqueId val="{00000002-B02F-4144-991B-F6227993E6DD}"/>
            </c:ext>
          </c:extLst>
        </c:ser>
        <c:dLbls>
          <c:dLblPos val="ctr"/>
          <c:showLegendKey val="0"/>
          <c:showVal val="1"/>
          <c:showCatName val="0"/>
          <c:showSerName val="0"/>
          <c:showPercent val="0"/>
          <c:showBubbleSize val="0"/>
        </c:dLbls>
        <c:smooth val="0"/>
        <c:axId val="455503280"/>
        <c:axId val="459988896"/>
      </c:lineChart>
      <c:dateAx>
        <c:axId val="455503280"/>
        <c:scaling>
          <c:orientation val="minMax"/>
        </c:scaling>
        <c:delete val="0"/>
        <c:axPos val="b"/>
        <c:numFmt formatCode="General" sourceLinked="1"/>
        <c:majorTickMark val="out"/>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en-US"/>
          </a:p>
        </c:txPr>
        <c:crossAx val="459988896"/>
        <c:crosses val="autoZero"/>
        <c:auto val="0"/>
        <c:lblOffset val="100"/>
        <c:baseTimeUnit val="days"/>
      </c:dateAx>
      <c:valAx>
        <c:axId val="459988896"/>
        <c:scaling>
          <c:orientation val="minMax"/>
          <c:max val="1"/>
          <c:min val="0"/>
        </c:scaling>
        <c:delete val="0"/>
        <c:axPos val="l"/>
        <c:majorGridlines>
          <c:spPr>
            <a:ln w="9525" cap="flat" cmpd="sng" algn="ctr">
              <a:solidFill>
                <a:schemeClr val="tx2">
                  <a:lumMod val="15000"/>
                  <a:lumOff val="85000"/>
                </a:schemeClr>
              </a:solid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en-US"/>
          </a:p>
        </c:txPr>
        <c:crossAx val="455503280"/>
        <c:crosses val="autoZero"/>
        <c:crossBetween val="between"/>
        <c:majorUnit val="0.1"/>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31">
  <cs:axisTitle>
    <cs:lnRef idx="0"/>
    <cs:fillRef idx="0"/>
    <cs:effectRef idx="0"/>
    <cs:fontRef idx="minor">
      <a:schemeClr val="tx2"/>
    </cs:fontRef>
    <cs:defRPr sz="900"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900" kern="1200"/>
  </cs:chartArea>
  <cs:dataLabel>
    <cs:lnRef idx="0"/>
    <cs:fillRef idx="0"/>
    <cs:effectRef idx="0"/>
    <cs:fontRef idx="minor">
      <a:schemeClr val="tx2"/>
    </cs:fontRef>
    <cs:defRPr sz="900"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900"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900"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1600"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900"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900" kern="1200"/>
  </cs:valueAxis>
  <cs:wall>
    <cs:lnRef idx="0"/>
    <cs:fillRef idx="0"/>
    <cs:effectRef idx="0"/>
    <cs:fontRef idx="minor">
      <a:schemeClr val="tx2"/>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E1C495-E2AE-4395-BA3C-2440B84E6B84}" type="datetimeFigureOut">
              <a:rPr lang="en-SG" smtClean="0"/>
              <a:t>2/2/2026</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CBF115-1E10-4B07-AE5E-F17A79220972}" type="slidenum">
              <a:rPr lang="en-SG" smtClean="0"/>
              <a:t>‹#›</a:t>
            </a:fld>
            <a:endParaRPr lang="en-SG"/>
          </a:p>
        </p:txBody>
      </p:sp>
    </p:spTree>
    <p:extLst>
      <p:ext uri="{BB962C8B-B14F-4D97-AF65-F5344CB8AC3E}">
        <p14:creationId xmlns:p14="http://schemas.microsoft.com/office/powerpoint/2010/main" val="28374242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sz="1000" baseline="0" dirty="0"/>
              <a:t>Keep your slides to </a:t>
            </a:r>
            <a:r>
              <a:rPr lang="en-US" sz="1000" b="1" baseline="0" dirty="0"/>
              <a:t>MAX 20 pages</a:t>
            </a:r>
            <a:r>
              <a:rPr lang="en-US" sz="1000" baseline="0" dirty="0"/>
              <a:t>, additional info can be placed at appendix.</a:t>
            </a:r>
          </a:p>
          <a:p>
            <a:pPr marL="228600" indent="-228600">
              <a:buAutoNum type="arabicPeriod"/>
            </a:pPr>
            <a:r>
              <a:rPr lang="en-US" sz="1000" baseline="0" dirty="0"/>
              <a:t>Please save as a copy before working on it</a:t>
            </a:r>
          </a:p>
          <a:p>
            <a:pPr marL="228600" indent="-228600">
              <a:buAutoNum type="arabicPeriod"/>
            </a:pPr>
            <a:r>
              <a:rPr lang="en-US" sz="1000" baseline="0" dirty="0"/>
              <a:t>Complete the templates (Slides 2 – 9)</a:t>
            </a:r>
          </a:p>
          <a:p>
            <a:pPr marL="228600" indent="-228600">
              <a:buAutoNum type="arabicPeriod"/>
            </a:pPr>
            <a:r>
              <a:rPr lang="en-US" sz="1000" baseline="0" dirty="0"/>
              <a:t>To update this overview page, </a:t>
            </a:r>
          </a:p>
          <a:p>
            <a:pPr marL="685800" lvl="1" indent="-228600">
              <a:buFont typeface="+mj-lt"/>
              <a:buAutoNum type="alphaLcParenR"/>
            </a:pPr>
            <a:r>
              <a:rPr lang="en-US" sz="1000" baseline="0" dirty="0"/>
              <a:t>Copy slide 2 (Box A)</a:t>
            </a:r>
          </a:p>
          <a:p>
            <a:pPr marL="685800" lvl="1" indent="-228600">
              <a:buFont typeface="+mj-lt"/>
              <a:buAutoNum type="alphaLcParenR"/>
            </a:pPr>
            <a:r>
              <a:rPr lang="en-US" sz="1000" baseline="0" dirty="0"/>
              <a:t>In slide 1, paste special (</a:t>
            </a:r>
            <a:r>
              <a:rPr lang="en-US" sz="1000" baseline="0" dirty="0" err="1"/>
              <a:t>Ctrl+Alt+V</a:t>
            </a:r>
            <a:r>
              <a:rPr lang="en-US" sz="1000" baseline="0" dirty="0"/>
              <a:t>), choose paste link as Microsoft </a:t>
            </a:r>
            <a:r>
              <a:rPr lang="en-US" sz="1000" baseline="0" dirty="0" err="1"/>
              <a:t>powerpoint</a:t>
            </a:r>
            <a:r>
              <a:rPr lang="en-US" sz="1000" baseline="0" dirty="0"/>
              <a:t> slide object</a:t>
            </a:r>
          </a:p>
          <a:p>
            <a:pPr marL="685800" lvl="1" indent="-228600">
              <a:buFont typeface="+mj-lt"/>
              <a:buAutoNum type="alphaLcParenR"/>
            </a:pPr>
            <a:r>
              <a:rPr lang="en-US" sz="1000" baseline="0" dirty="0"/>
              <a:t>Fit slide to quadrant (Box A) as shown on picture</a:t>
            </a:r>
          </a:p>
          <a:p>
            <a:pPr marL="685800" lvl="1" indent="-228600">
              <a:buFont typeface="+mj-lt"/>
              <a:buAutoNum type="alphaLcParenR"/>
            </a:pPr>
            <a:r>
              <a:rPr lang="en-US" sz="1000" baseline="0" dirty="0"/>
              <a:t>Repeat for slides 3-8 (Box B - F)</a:t>
            </a:r>
            <a:endParaRPr lang="en-SG" sz="1000" dirty="0"/>
          </a:p>
        </p:txBody>
      </p:sp>
      <p:sp>
        <p:nvSpPr>
          <p:cNvPr id="4" name="Slide Number Placeholder 3"/>
          <p:cNvSpPr>
            <a:spLocks noGrp="1"/>
          </p:cNvSpPr>
          <p:nvPr>
            <p:ph type="sldNum" sz="quarter" idx="10"/>
          </p:nvPr>
        </p:nvSpPr>
        <p:spPr/>
        <p:txBody>
          <a:bodyPr/>
          <a:lstStyle/>
          <a:p>
            <a:fld id="{4CCBF115-1E10-4B07-AE5E-F17A79220972}" type="slidenum">
              <a:rPr lang="en-SG" smtClean="0"/>
              <a:t>1</a:t>
            </a:fld>
            <a:endParaRPr lang="en-SG"/>
          </a:p>
        </p:txBody>
      </p:sp>
    </p:spTree>
    <p:extLst>
      <p:ext uri="{BB962C8B-B14F-4D97-AF65-F5344CB8AC3E}">
        <p14:creationId xmlns:p14="http://schemas.microsoft.com/office/powerpoint/2010/main" val="15779498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2</a:t>
            </a:fld>
            <a:endParaRPr lang="en-US" dirty="0"/>
          </a:p>
        </p:txBody>
      </p:sp>
    </p:spTree>
    <p:extLst>
      <p:ext uri="{BB962C8B-B14F-4D97-AF65-F5344CB8AC3E}">
        <p14:creationId xmlns:p14="http://schemas.microsoft.com/office/powerpoint/2010/main" val="5035408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3</a:t>
            </a:fld>
            <a:endParaRPr lang="en-US" dirty="0"/>
          </a:p>
        </p:txBody>
      </p:sp>
    </p:spTree>
    <p:extLst>
      <p:ext uri="{BB962C8B-B14F-4D97-AF65-F5344CB8AC3E}">
        <p14:creationId xmlns:p14="http://schemas.microsoft.com/office/powerpoint/2010/main" val="28922155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4</a:t>
            </a:fld>
            <a:endParaRPr lang="en-US" dirty="0"/>
          </a:p>
        </p:txBody>
      </p:sp>
    </p:spTree>
    <p:extLst>
      <p:ext uri="{BB962C8B-B14F-4D97-AF65-F5344CB8AC3E}">
        <p14:creationId xmlns:p14="http://schemas.microsoft.com/office/powerpoint/2010/main" val="32175015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9</a:t>
            </a:fld>
            <a:endParaRPr lang="en-US" dirty="0"/>
          </a:p>
        </p:txBody>
      </p:sp>
    </p:spTree>
    <p:extLst>
      <p:ext uri="{BB962C8B-B14F-4D97-AF65-F5344CB8AC3E}">
        <p14:creationId xmlns:p14="http://schemas.microsoft.com/office/powerpoint/2010/main" val="11322701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0FCC8D5-6D68-A443-97C0-91AE5977134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457241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0FCC8D5-6D68-A443-97C0-91AE5977134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069028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0FCC8D5-6D68-A443-97C0-91AE5977134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621406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0FCC8D5-6D68-A443-97C0-91AE5977134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60090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p:cNvSpPr>
            <a:spLocks noGrp="1"/>
          </p:cNvSpPr>
          <p:nvPr>
            <p:ph type="dt" sz="half" idx="10"/>
          </p:nvPr>
        </p:nvSpPr>
        <p:spPr/>
        <p:txBody>
          <a:bodyPr/>
          <a:lstStyle/>
          <a:p>
            <a:fld id="{B4B2E421-5E13-4772-A170-DF946FE92F43}" type="datetimeFigureOut">
              <a:rPr lang="en-SG" smtClean="0"/>
              <a:t>2/2/2026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088243A2-386C-46AC-BE6D-B9A356F57BF7}" type="slidenum">
              <a:rPr lang="en-SG" smtClean="0"/>
              <a:t>‹#›</a:t>
            </a:fld>
            <a:endParaRPr lang="en-SG"/>
          </a:p>
        </p:txBody>
      </p:sp>
    </p:spTree>
    <p:extLst>
      <p:ext uri="{BB962C8B-B14F-4D97-AF65-F5344CB8AC3E}">
        <p14:creationId xmlns:p14="http://schemas.microsoft.com/office/powerpoint/2010/main" val="22380539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p:cNvSpPr>
            <a:spLocks noGrp="1"/>
          </p:cNvSpPr>
          <p:nvPr>
            <p:ph type="dt" sz="half" idx="10"/>
          </p:nvPr>
        </p:nvSpPr>
        <p:spPr/>
        <p:txBody>
          <a:bodyPr/>
          <a:lstStyle/>
          <a:p>
            <a:fld id="{B4B2E421-5E13-4772-A170-DF946FE92F43}" type="datetimeFigureOut">
              <a:rPr lang="en-SG" smtClean="0"/>
              <a:t>2/2/2026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088243A2-386C-46AC-BE6D-B9A356F57BF7}" type="slidenum">
              <a:rPr lang="en-SG" smtClean="0"/>
              <a:t>‹#›</a:t>
            </a:fld>
            <a:endParaRPr lang="en-SG"/>
          </a:p>
        </p:txBody>
      </p:sp>
    </p:spTree>
    <p:extLst>
      <p:ext uri="{BB962C8B-B14F-4D97-AF65-F5344CB8AC3E}">
        <p14:creationId xmlns:p14="http://schemas.microsoft.com/office/powerpoint/2010/main" val="13712068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4B2E421-5E13-4772-A170-DF946FE92F43}" type="datetimeFigureOut">
              <a:rPr lang="en-SG" smtClean="0"/>
              <a:t>2/2/2026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088243A2-386C-46AC-BE6D-B9A356F57BF7}" type="slidenum">
              <a:rPr lang="en-SG" smtClean="0"/>
              <a:t>‹#›</a:t>
            </a:fld>
            <a:endParaRPr lang="en-SG"/>
          </a:p>
        </p:txBody>
      </p:sp>
    </p:spTree>
    <p:extLst>
      <p:ext uri="{BB962C8B-B14F-4D97-AF65-F5344CB8AC3E}">
        <p14:creationId xmlns:p14="http://schemas.microsoft.com/office/powerpoint/2010/main" val="7800623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p:cNvSpPr>
            <a:spLocks noGrp="1"/>
          </p:cNvSpPr>
          <p:nvPr>
            <p:ph type="dt" sz="half" idx="10"/>
          </p:nvPr>
        </p:nvSpPr>
        <p:spPr/>
        <p:txBody>
          <a:bodyPr/>
          <a:lstStyle/>
          <a:p>
            <a:fld id="{B4B2E421-5E13-4772-A170-DF946FE92F43}" type="datetimeFigureOut">
              <a:rPr lang="en-SG" smtClean="0"/>
              <a:t>2/2/2026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088243A2-386C-46AC-BE6D-B9A356F57BF7}" type="slidenum">
              <a:rPr lang="en-SG" smtClean="0"/>
              <a:t>‹#›</a:t>
            </a:fld>
            <a:endParaRPr lang="en-SG"/>
          </a:p>
        </p:txBody>
      </p:sp>
    </p:spTree>
    <p:extLst>
      <p:ext uri="{BB962C8B-B14F-4D97-AF65-F5344CB8AC3E}">
        <p14:creationId xmlns:p14="http://schemas.microsoft.com/office/powerpoint/2010/main" val="1128091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p:cNvSpPr>
            <a:spLocks noGrp="1"/>
          </p:cNvSpPr>
          <p:nvPr>
            <p:ph type="dt" sz="half" idx="10"/>
          </p:nvPr>
        </p:nvSpPr>
        <p:spPr/>
        <p:txBody>
          <a:bodyPr/>
          <a:lstStyle/>
          <a:p>
            <a:fld id="{B4B2E421-5E13-4772-A170-DF946FE92F43}" type="datetimeFigureOut">
              <a:rPr lang="en-SG" smtClean="0"/>
              <a:t>2/2/2026</a:t>
            </a:fld>
            <a:endParaRPr lang="en-SG"/>
          </a:p>
        </p:txBody>
      </p:sp>
      <p:sp>
        <p:nvSpPr>
          <p:cNvPr id="8" name="Footer Placeholder 7"/>
          <p:cNvSpPr>
            <a:spLocks noGrp="1"/>
          </p:cNvSpPr>
          <p:nvPr>
            <p:ph type="ftr" sz="quarter" idx="11"/>
          </p:nvPr>
        </p:nvSpPr>
        <p:spPr/>
        <p:txBody>
          <a:bodyPr/>
          <a:lstStyle/>
          <a:p>
            <a:endParaRPr lang="en-SG"/>
          </a:p>
        </p:txBody>
      </p:sp>
      <p:sp>
        <p:nvSpPr>
          <p:cNvPr id="9" name="Slide Number Placeholder 8"/>
          <p:cNvSpPr>
            <a:spLocks noGrp="1"/>
          </p:cNvSpPr>
          <p:nvPr>
            <p:ph type="sldNum" sz="quarter" idx="12"/>
          </p:nvPr>
        </p:nvSpPr>
        <p:spPr/>
        <p:txBody>
          <a:bodyPr/>
          <a:lstStyle/>
          <a:p>
            <a:fld id="{088243A2-386C-46AC-BE6D-B9A356F57BF7}" type="slidenum">
              <a:rPr lang="en-SG" smtClean="0"/>
              <a:t>‹#›</a:t>
            </a:fld>
            <a:endParaRPr lang="en-SG"/>
          </a:p>
        </p:txBody>
      </p:sp>
    </p:spTree>
    <p:extLst>
      <p:ext uri="{BB962C8B-B14F-4D97-AF65-F5344CB8AC3E}">
        <p14:creationId xmlns:p14="http://schemas.microsoft.com/office/powerpoint/2010/main" val="13694850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Date Placeholder 2"/>
          <p:cNvSpPr>
            <a:spLocks noGrp="1"/>
          </p:cNvSpPr>
          <p:nvPr>
            <p:ph type="dt" sz="half" idx="10"/>
          </p:nvPr>
        </p:nvSpPr>
        <p:spPr/>
        <p:txBody>
          <a:bodyPr/>
          <a:lstStyle/>
          <a:p>
            <a:fld id="{B4B2E421-5E13-4772-A170-DF946FE92F43}" type="datetimeFigureOut">
              <a:rPr lang="en-SG" smtClean="0"/>
              <a:t>2/2/2026</a:t>
            </a:fld>
            <a:endParaRPr lang="en-SG"/>
          </a:p>
        </p:txBody>
      </p:sp>
      <p:sp>
        <p:nvSpPr>
          <p:cNvPr id="4" name="Footer Placeholder 3"/>
          <p:cNvSpPr>
            <a:spLocks noGrp="1"/>
          </p:cNvSpPr>
          <p:nvPr>
            <p:ph type="ftr" sz="quarter" idx="11"/>
          </p:nvPr>
        </p:nvSpPr>
        <p:spPr/>
        <p:txBody>
          <a:bodyPr/>
          <a:lstStyle/>
          <a:p>
            <a:endParaRPr lang="en-SG"/>
          </a:p>
        </p:txBody>
      </p:sp>
      <p:sp>
        <p:nvSpPr>
          <p:cNvPr id="5" name="Slide Number Placeholder 4"/>
          <p:cNvSpPr>
            <a:spLocks noGrp="1"/>
          </p:cNvSpPr>
          <p:nvPr>
            <p:ph type="sldNum" sz="quarter" idx="12"/>
          </p:nvPr>
        </p:nvSpPr>
        <p:spPr/>
        <p:txBody>
          <a:bodyPr/>
          <a:lstStyle/>
          <a:p>
            <a:fld id="{088243A2-386C-46AC-BE6D-B9A356F57BF7}" type="slidenum">
              <a:rPr lang="en-SG" smtClean="0"/>
              <a:t>‹#›</a:t>
            </a:fld>
            <a:endParaRPr lang="en-SG"/>
          </a:p>
        </p:txBody>
      </p:sp>
    </p:spTree>
    <p:extLst>
      <p:ext uri="{BB962C8B-B14F-4D97-AF65-F5344CB8AC3E}">
        <p14:creationId xmlns:p14="http://schemas.microsoft.com/office/powerpoint/2010/main" val="33667133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4B2E421-5E13-4772-A170-DF946FE92F43}" type="datetimeFigureOut">
              <a:rPr lang="en-SG" smtClean="0"/>
              <a:t>2/2/2026</a:t>
            </a:fld>
            <a:endParaRPr lang="en-SG"/>
          </a:p>
        </p:txBody>
      </p:sp>
      <p:sp>
        <p:nvSpPr>
          <p:cNvPr id="3" name="Footer Placeholder 2"/>
          <p:cNvSpPr>
            <a:spLocks noGrp="1"/>
          </p:cNvSpPr>
          <p:nvPr>
            <p:ph type="ftr" sz="quarter" idx="11"/>
          </p:nvPr>
        </p:nvSpPr>
        <p:spPr/>
        <p:txBody>
          <a:bodyPr/>
          <a:lstStyle/>
          <a:p>
            <a:endParaRPr lang="en-SG"/>
          </a:p>
        </p:txBody>
      </p:sp>
      <p:sp>
        <p:nvSpPr>
          <p:cNvPr id="4" name="Slide Number Placeholder 3"/>
          <p:cNvSpPr>
            <a:spLocks noGrp="1"/>
          </p:cNvSpPr>
          <p:nvPr>
            <p:ph type="sldNum" sz="quarter" idx="12"/>
          </p:nvPr>
        </p:nvSpPr>
        <p:spPr/>
        <p:txBody>
          <a:bodyPr/>
          <a:lstStyle/>
          <a:p>
            <a:fld id="{088243A2-386C-46AC-BE6D-B9A356F57BF7}" type="slidenum">
              <a:rPr lang="en-SG" smtClean="0"/>
              <a:t>‹#›</a:t>
            </a:fld>
            <a:endParaRPr lang="en-SG"/>
          </a:p>
        </p:txBody>
      </p:sp>
    </p:spTree>
    <p:extLst>
      <p:ext uri="{BB962C8B-B14F-4D97-AF65-F5344CB8AC3E}">
        <p14:creationId xmlns:p14="http://schemas.microsoft.com/office/powerpoint/2010/main" val="20836927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4B2E421-5E13-4772-A170-DF946FE92F43}" type="datetimeFigureOut">
              <a:rPr lang="en-SG" smtClean="0"/>
              <a:t>2/2/2026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088243A2-386C-46AC-BE6D-B9A356F57BF7}" type="slidenum">
              <a:rPr lang="en-SG" smtClean="0"/>
              <a:t>‹#›</a:t>
            </a:fld>
            <a:endParaRPr lang="en-SG"/>
          </a:p>
        </p:txBody>
      </p:sp>
    </p:spTree>
    <p:extLst>
      <p:ext uri="{BB962C8B-B14F-4D97-AF65-F5344CB8AC3E}">
        <p14:creationId xmlns:p14="http://schemas.microsoft.com/office/powerpoint/2010/main" val="14619586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4B2E421-5E13-4772-A170-DF946FE92F43}" type="datetimeFigureOut">
              <a:rPr lang="en-SG" smtClean="0"/>
              <a:t>2/2/2026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088243A2-386C-46AC-BE6D-B9A356F57BF7}" type="slidenum">
              <a:rPr lang="en-SG" smtClean="0"/>
              <a:t>‹#›</a:t>
            </a:fld>
            <a:endParaRPr lang="en-SG"/>
          </a:p>
        </p:txBody>
      </p:sp>
    </p:spTree>
    <p:extLst>
      <p:ext uri="{BB962C8B-B14F-4D97-AF65-F5344CB8AC3E}">
        <p14:creationId xmlns:p14="http://schemas.microsoft.com/office/powerpoint/2010/main" val="39696368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p:cNvSpPr>
            <a:spLocks noGrp="1"/>
          </p:cNvSpPr>
          <p:nvPr>
            <p:ph type="dt" sz="half" idx="10"/>
          </p:nvPr>
        </p:nvSpPr>
        <p:spPr/>
        <p:txBody>
          <a:bodyPr/>
          <a:lstStyle/>
          <a:p>
            <a:fld id="{B4B2E421-5E13-4772-A170-DF946FE92F43}" type="datetimeFigureOut">
              <a:rPr lang="en-SG" smtClean="0"/>
              <a:t>2/2/2026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088243A2-386C-46AC-BE6D-B9A356F57BF7}" type="slidenum">
              <a:rPr lang="en-SG" smtClean="0"/>
              <a:t>‹#›</a:t>
            </a:fld>
            <a:endParaRPr lang="en-SG"/>
          </a:p>
        </p:txBody>
      </p:sp>
    </p:spTree>
    <p:extLst>
      <p:ext uri="{BB962C8B-B14F-4D97-AF65-F5344CB8AC3E}">
        <p14:creationId xmlns:p14="http://schemas.microsoft.com/office/powerpoint/2010/main" val="27160877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p:cNvSpPr>
            <a:spLocks noGrp="1"/>
          </p:cNvSpPr>
          <p:nvPr>
            <p:ph type="dt" sz="half" idx="10"/>
          </p:nvPr>
        </p:nvSpPr>
        <p:spPr/>
        <p:txBody>
          <a:bodyPr/>
          <a:lstStyle/>
          <a:p>
            <a:fld id="{B4B2E421-5E13-4772-A170-DF946FE92F43}" type="datetimeFigureOut">
              <a:rPr lang="en-SG" smtClean="0"/>
              <a:t>2/2/2026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088243A2-386C-46AC-BE6D-B9A356F57BF7}" type="slidenum">
              <a:rPr lang="en-SG" smtClean="0"/>
              <a:t>‹#›</a:t>
            </a:fld>
            <a:endParaRPr lang="en-SG"/>
          </a:p>
        </p:txBody>
      </p:sp>
    </p:spTree>
    <p:extLst>
      <p:ext uri="{BB962C8B-B14F-4D97-AF65-F5344CB8AC3E}">
        <p14:creationId xmlns:p14="http://schemas.microsoft.com/office/powerpoint/2010/main" val="34394714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4B2E421-5E13-4772-A170-DF946FE92F43}" type="datetimeFigureOut">
              <a:rPr lang="en-SG" smtClean="0"/>
              <a:t>2/2/2026</a:t>
            </a:fld>
            <a:endParaRPr lang="en-SG"/>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SG"/>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88243A2-386C-46AC-BE6D-B9A356F57BF7}" type="slidenum">
              <a:rPr lang="en-SG" smtClean="0"/>
              <a:t>‹#›</a:t>
            </a:fld>
            <a:endParaRPr lang="en-SG"/>
          </a:p>
        </p:txBody>
      </p:sp>
    </p:spTree>
    <p:extLst>
      <p:ext uri="{BB962C8B-B14F-4D97-AF65-F5344CB8AC3E}">
        <p14:creationId xmlns:p14="http://schemas.microsoft.com/office/powerpoint/2010/main" val="31201425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emf"/><Relationship Id="rId3" Type="http://schemas.openxmlformats.org/officeDocument/2006/relationships/image" Target="../media/image1.png"/><Relationship Id="rId7" Type="http://schemas.openxmlformats.org/officeDocument/2006/relationships/image" Target="../media/image4.emf"/><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emf"/><Relationship Id="rId5" Type="http://schemas.openxmlformats.org/officeDocument/2006/relationships/image" Target="../media/image2.emf"/><Relationship Id="rId10" Type="http://schemas.openxmlformats.org/officeDocument/2006/relationships/image" Target="../media/image7.emf"/><Relationship Id="rId4" Type="http://schemas.openxmlformats.org/officeDocument/2006/relationships/oleObject" Target="???" TargetMode="External"/><Relationship Id="rId9" Type="http://schemas.openxmlformats.org/officeDocument/2006/relationships/image" Target="../media/image6.emf"/></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p:cNvPicPr>
            <a:picLocks noChangeAspect="1"/>
          </p:cNvPicPr>
          <p:nvPr/>
        </p:nvPicPr>
        <p:blipFill>
          <a:blip r:embed="rId3"/>
          <a:stretch>
            <a:fillRect/>
          </a:stretch>
        </p:blipFill>
        <p:spPr>
          <a:xfrm>
            <a:off x="8438606" y="35233"/>
            <a:ext cx="3680863" cy="614904"/>
          </a:xfrm>
          <a:prstGeom prst="rect">
            <a:avLst/>
          </a:prstGeom>
        </p:spPr>
      </p:pic>
      <p:graphicFrame>
        <p:nvGraphicFramePr>
          <p:cNvPr id="4" name="Table 3"/>
          <p:cNvGraphicFramePr>
            <a:graphicFrameLocks noGrp="1"/>
          </p:cNvGraphicFramePr>
          <p:nvPr>
            <p:extLst>
              <p:ext uri="{D42A27DB-BD31-4B8C-83A1-F6EECF244321}">
                <p14:modId xmlns:p14="http://schemas.microsoft.com/office/powerpoint/2010/main" val="3226763177"/>
              </p:ext>
            </p:extLst>
          </p:nvPr>
        </p:nvGraphicFramePr>
        <p:xfrm>
          <a:off x="0" y="1742622"/>
          <a:ext cx="12192000" cy="5115378"/>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74553499"/>
                    </a:ext>
                  </a:extLst>
                </a:gridCol>
                <a:gridCol w="4064000">
                  <a:extLst>
                    <a:ext uri="{9D8B030D-6E8A-4147-A177-3AD203B41FA5}">
                      <a16:colId xmlns:a16="http://schemas.microsoft.com/office/drawing/2014/main" val="619354864"/>
                    </a:ext>
                  </a:extLst>
                </a:gridCol>
                <a:gridCol w="4064000">
                  <a:extLst>
                    <a:ext uri="{9D8B030D-6E8A-4147-A177-3AD203B41FA5}">
                      <a16:colId xmlns:a16="http://schemas.microsoft.com/office/drawing/2014/main" val="2200718166"/>
                    </a:ext>
                  </a:extLst>
                </a:gridCol>
              </a:tblGrid>
              <a:tr h="2557689">
                <a:tc>
                  <a:txBody>
                    <a:bodyPr/>
                    <a:lstStyle/>
                    <a:p>
                      <a:endParaRPr lang="en-SG" dirty="0"/>
                    </a:p>
                  </a:txBody>
                  <a:tcPr/>
                </a:tc>
                <a:tc>
                  <a:txBody>
                    <a:bodyPr/>
                    <a:lstStyle/>
                    <a:p>
                      <a:endParaRPr lang="en-SG" dirty="0"/>
                    </a:p>
                  </a:txBody>
                  <a:tcPr/>
                </a:tc>
                <a:tc>
                  <a:txBody>
                    <a:bodyPr/>
                    <a:lstStyle/>
                    <a:p>
                      <a:endParaRPr lang="en-SG" dirty="0"/>
                    </a:p>
                  </a:txBody>
                  <a:tcPr/>
                </a:tc>
                <a:extLst>
                  <a:ext uri="{0D108BD9-81ED-4DB2-BD59-A6C34878D82A}">
                    <a16:rowId xmlns:a16="http://schemas.microsoft.com/office/drawing/2014/main" val="1851914671"/>
                  </a:ext>
                </a:extLst>
              </a:tr>
              <a:tr h="2557689">
                <a:tc>
                  <a:txBody>
                    <a:bodyPr/>
                    <a:lstStyle/>
                    <a:p>
                      <a:endParaRPr lang="en-SG" dirty="0"/>
                    </a:p>
                  </a:txBody>
                  <a:tcPr/>
                </a:tc>
                <a:tc>
                  <a:txBody>
                    <a:bodyPr/>
                    <a:lstStyle/>
                    <a:p>
                      <a:endParaRPr lang="en-SG" dirty="0"/>
                    </a:p>
                  </a:txBody>
                  <a:tcPr/>
                </a:tc>
                <a:tc>
                  <a:txBody>
                    <a:bodyPr/>
                    <a:lstStyle/>
                    <a:p>
                      <a:endParaRPr lang="en-SG" dirty="0"/>
                    </a:p>
                  </a:txBody>
                  <a:tcPr/>
                </a:tc>
                <a:extLst>
                  <a:ext uri="{0D108BD9-81ED-4DB2-BD59-A6C34878D82A}">
                    <a16:rowId xmlns:a16="http://schemas.microsoft.com/office/drawing/2014/main" val="133553880"/>
                  </a:ext>
                </a:extLst>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746289377"/>
              </p:ext>
            </p:extLst>
          </p:nvPr>
        </p:nvGraphicFramePr>
        <p:xfrm>
          <a:off x="15278" y="650137"/>
          <a:ext cx="12163659" cy="1097280"/>
        </p:xfrm>
        <a:graphic>
          <a:graphicData uri="http://schemas.openxmlformats.org/drawingml/2006/table">
            <a:tbl>
              <a:tblPr firstRow="1" bandRow="1">
                <a:tableStyleId>{5940675A-B579-460E-94D1-54222C63F5DA}</a:tableStyleId>
              </a:tblPr>
              <a:tblGrid>
                <a:gridCol w="4054553">
                  <a:extLst>
                    <a:ext uri="{9D8B030D-6E8A-4147-A177-3AD203B41FA5}">
                      <a16:colId xmlns:a16="http://schemas.microsoft.com/office/drawing/2014/main" val="1457126925"/>
                    </a:ext>
                  </a:extLst>
                </a:gridCol>
                <a:gridCol w="4054553">
                  <a:extLst>
                    <a:ext uri="{9D8B030D-6E8A-4147-A177-3AD203B41FA5}">
                      <a16:colId xmlns:a16="http://schemas.microsoft.com/office/drawing/2014/main" val="3499035912"/>
                    </a:ext>
                  </a:extLst>
                </a:gridCol>
                <a:gridCol w="4054553">
                  <a:extLst>
                    <a:ext uri="{9D8B030D-6E8A-4147-A177-3AD203B41FA5}">
                      <a16:colId xmlns:a16="http://schemas.microsoft.com/office/drawing/2014/main" val="1434111927"/>
                    </a:ext>
                  </a:extLst>
                </a:gridCol>
              </a:tblGrid>
              <a:tr h="0">
                <a:tc gridSpan="3">
                  <a:txBody>
                    <a:bodyPr/>
                    <a:lstStyle/>
                    <a:p>
                      <a:r>
                        <a:rPr lang="en-US" sz="1200" dirty="0"/>
                        <a:t>Project</a:t>
                      </a:r>
                      <a:r>
                        <a:rPr lang="en-US" sz="1200" baseline="0" dirty="0"/>
                        <a:t> Title: </a:t>
                      </a:r>
                      <a:r>
                        <a:rPr lang="en-US" sz="1200" dirty="0"/>
                        <a:t>Increasing Clinically Appropriate Contrast-enhanced MRIs (CE MRI) in CKD 4 Patients</a:t>
                      </a:r>
                      <a:endParaRPr lang="en-SG" sz="1200" dirty="0"/>
                    </a:p>
                  </a:txBody>
                  <a:tcPr/>
                </a:tc>
                <a:tc hMerge="1">
                  <a:txBody>
                    <a:bodyPr/>
                    <a:lstStyle/>
                    <a:p>
                      <a:endParaRPr lang="en-SG" sz="1400" dirty="0"/>
                    </a:p>
                  </a:txBody>
                  <a:tcPr/>
                </a:tc>
                <a:tc hMerge="1">
                  <a:txBody>
                    <a:bodyPr/>
                    <a:lstStyle/>
                    <a:p>
                      <a:endParaRPr lang="en-SG" sz="1400" dirty="0"/>
                    </a:p>
                  </a:txBody>
                  <a:tcPr/>
                </a:tc>
                <a:extLst>
                  <a:ext uri="{0D108BD9-81ED-4DB2-BD59-A6C34878D82A}">
                    <a16:rowId xmlns:a16="http://schemas.microsoft.com/office/drawing/2014/main" val="2563717765"/>
                  </a:ext>
                </a:extLst>
              </a:tr>
              <a:tr h="0">
                <a:tc>
                  <a:txBody>
                    <a:bodyPr/>
                    <a:lstStyle/>
                    <a:p>
                      <a:r>
                        <a:rPr lang="en-US" sz="1200" dirty="0"/>
                        <a:t>Department: Department of Diagnostic</a:t>
                      </a:r>
                      <a:r>
                        <a:rPr lang="en-US" sz="1200" baseline="0" dirty="0"/>
                        <a:t> Imaging</a:t>
                      </a:r>
                      <a:endParaRPr lang="en-SG" sz="1200" dirty="0"/>
                    </a:p>
                  </a:txBody>
                  <a:tcPr/>
                </a:tc>
                <a:tc>
                  <a:txBody>
                    <a:bodyPr/>
                    <a:lstStyle/>
                    <a:p>
                      <a:r>
                        <a:rPr lang="en-US" sz="1200" dirty="0"/>
                        <a:t>Period: July</a:t>
                      </a:r>
                      <a:r>
                        <a:rPr lang="en-US" sz="1200" baseline="0" dirty="0"/>
                        <a:t> 2025 – Dec 2025</a:t>
                      </a:r>
                      <a:endParaRPr lang="en-SG"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Facilitators/Author: </a:t>
                      </a:r>
                      <a:r>
                        <a:rPr lang="en-US" sz="1200" dirty="0" err="1"/>
                        <a:t>Dr</a:t>
                      </a:r>
                      <a:r>
                        <a:rPr lang="en-US" sz="1200" dirty="0"/>
                        <a:t> Eric Fang</a:t>
                      </a:r>
                      <a:endParaRPr lang="en-SG" sz="1200" dirty="0"/>
                    </a:p>
                  </a:txBody>
                  <a:tcPr/>
                </a:tc>
                <a:extLst>
                  <a:ext uri="{0D108BD9-81ED-4DB2-BD59-A6C34878D82A}">
                    <a16:rowId xmlns:a16="http://schemas.microsoft.com/office/drawing/2014/main" val="496773888"/>
                  </a:ext>
                </a:extLst>
              </a:tr>
              <a:tr h="0">
                <a:tc>
                  <a:txBody>
                    <a:bodyPr/>
                    <a:lstStyle/>
                    <a:p>
                      <a:r>
                        <a:rPr lang="en-US" sz="1200" dirty="0"/>
                        <a:t>Sponsors (HODs): Prof </a:t>
                      </a:r>
                      <a:r>
                        <a:rPr lang="en-US" sz="1200" dirty="0" err="1"/>
                        <a:t>Khong</a:t>
                      </a:r>
                      <a:r>
                        <a:rPr lang="en-US" sz="1200" dirty="0"/>
                        <a:t> </a:t>
                      </a:r>
                      <a:r>
                        <a:rPr lang="en-US" sz="1200" dirty="0" err="1"/>
                        <a:t>Pek</a:t>
                      </a:r>
                      <a:r>
                        <a:rPr lang="en-US" sz="1200" dirty="0"/>
                        <a:t> Lan</a:t>
                      </a:r>
                      <a:endParaRPr lang="en-SG" sz="1200" dirty="0"/>
                    </a:p>
                  </a:txBody>
                  <a:tcPr/>
                </a:tc>
                <a:tc gridSpan="2">
                  <a:txBody>
                    <a:bodyPr/>
                    <a:lstStyle/>
                    <a:p>
                      <a:r>
                        <a:rPr lang="en-US" sz="1200" dirty="0"/>
                        <a:t>Team Leader/s: </a:t>
                      </a:r>
                      <a:r>
                        <a:rPr lang="en-US" sz="1200" dirty="0" err="1"/>
                        <a:t>Dr</a:t>
                      </a:r>
                      <a:r>
                        <a:rPr lang="en-US" sz="1200" dirty="0"/>
                        <a:t> Samuel Lau</a:t>
                      </a:r>
                      <a:endParaRPr lang="en-SG" sz="1200" dirty="0"/>
                    </a:p>
                  </a:txBody>
                  <a:tcPr/>
                </a:tc>
                <a:tc hMerge="1">
                  <a:txBody>
                    <a:bodyPr/>
                    <a:lstStyle/>
                    <a:p>
                      <a:endParaRPr lang="en-SG" sz="1400" dirty="0"/>
                    </a:p>
                  </a:txBody>
                  <a:tcPr/>
                </a:tc>
                <a:extLst>
                  <a:ext uri="{0D108BD9-81ED-4DB2-BD59-A6C34878D82A}">
                    <a16:rowId xmlns:a16="http://schemas.microsoft.com/office/drawing/2014/main" val="403266992"/>
                  </a:ext>
                </a:extLst>
              </a:tr>
              <a:tr h="0">
                <a:tc gridSpan="3">
                  <a:txBody>
                    <a:bodyPr/>
                    <a:lstStyle/>
                    <a:p>
                      <a:r>
                        <a:rPr lang="en-US" sz="1200" dirty="0"/>
                        <a:t>Team Members: </a:t>
                      </a:r>
                      <a:r>
                        <a:rPr lang="en-US" sz="1200" dirty="0" err="1"/>
                        <a:t>Dr</a:t>
                      </a:r>
                      <a:r>
                        <a:rPr lang="en-US" sz="1200" dirty="0"/>
                        <a:t> Tan Wei </a:t>
                      </a:r>
                      <a:r>
                        <a:rPr lang="en-US" sz="1200" dirty="0" err="1"/>
                        <a:t>Chuan</a:t>
                      </a:r>
                      <a:r>
                        <a:rPr lang="en-US" sz="1200" dirty="0"/>
                        <a:t>, </a:t>
                      </a:r>
                      <a:r>
                        <a:rPr lang="en-US" sz="1200" dirty="0" err="1"/>
                        <a:t>Dr</a:t>
                      </a:r>
                      <a:r>
                        <a:rPr lang="en-US" sz="1200" dirty="0"/>
                        <a:t> Chia Ming Li, </a:t>
                      </a:r>
                      <a:r>
                        <a:rPr lang="en-US" sz="1200" dirty="0" err="1"/>
                        <a:t>Dr</a:t>
                      </a:r>
                      <a:r>
                        <a:rPr lang="en-US" sz="1200" dirty="0"/>
                        <a:t> Yip </a:t>
                      </a:r>
                      <a:r>
                        <a:rPr lang="en-US" sz="1200" dirty="0" err="1"/>
                        <a:t>Jia</a:t>
                      </a:r>
                      <a:r>
                        <a:rPr lang="en-US" sz="1200" dirty="0"/>
                        <a:t> Yun, Muhammad </a:t>
                      </a:r>
                      <a:r>
                        <a:rPr lang="en-US" sz="1200" dirty="0" err="1"/>
                        <a:t>Fauzi</a:t>
                      </a:r>
                      <a:r>
                        <a:rPr lang="en-US" sz="1200" dirty="0"/>
                        <a:t>, </a:t>
                      </a:r>
                      <a:r>
                        <a:rPr lang="en-US" sz="1200" dirty="0" err="1"/>
                        <a:t>Dr</a:t>
                      </a:r>
                      <a:r>
                        <a:rPr lang="en-US" sz="1200" dirty="0"/>
                        <a:t> Sandra Tan, </a:t>
                      </a:r>
                      <a:r>
                        <a:rPr lang="en-US" sz="1200" dirty="0" err="1"/>
                        <a:t>Dr</a:t>
                      </a:r>
                      <a:r>
                        <a:rPr lang="en-US" sz="1200" dirty="0"/>
                        <a:t> Jon Tan, </a:t>
                      </a:r>
                      <a:r>
                        <a:rPr lang="en-US" sz="1200" dirty="0" err="1"/>
                        <a:t>Dr</a:t>
                      </a:r>
                      <a:r>
                        <a:rPr lang="en-US" sz="1200" dirty="0"/>
                        <a:t> Sean Lee, </a:t>
                      </a:r>
                      <a:r>
                        <a:rPr lang="en-US" sz="1200" dirty="0" err="1"/>
                        <a:t>Dr</a:t>
                      </a:r>
                      <a:r>
                        <a:rPr lang="en-US" sz="1200" dirty="0"/>
                        <a:t> Lim Mei Chin</a:t>
                      </a:r>
                      <a:endParaRPr lang="en-SG" sz="1200" dirty="0"/>
                    </a:p>
                  </a:txBody>
                  <a:tcPr/>
                </a:tc>
                <a:tc hMerge="1">
                  <a:txBody>
                    <a:bodyPr/>
                    <a:lstStyle/>
                    <a:p>
                      <a:endParaRPr lang="en-SG" sz="1400" dirty="0"/>
                    </a:p>
                  </a:txBody>
                  <a:tcPr/>
                </a:tc>
                <a:tc hMerge="1">
                  <a:txBody>
                    <a:bodyPr/>
                    <a:lstStyle/>
                    <a:p>
                      <a:endParaRPr lang="en-SG" sz="1400" dirty="0"/>
                    </a:p>
                  </a:txBody>
                  <a:tcPr/>
                </a:tc>
                <a:extLst>
                  <a:ext uri="{0D108BD9-81ED-4DB2-BD59-A6C34878D82A}">
                    <a16:rowId xmlns:a16="http://schemas.microsoft.com/office/drawing/2014/main" val="594449715"/>
                  </a:ext>
                </a:extLst>
              </a:tr>
            </a:tbl>
          </a:graphicData>
        </a:graphic>
      </p:graphicFrame>
      <p:sp>
        <p:nvSpPr>
          <p:cNvPr id="16" name="TextBox 15">
            <a:extLst>
              <a:ext uri="{FF2B5EF4-FFF2-40B4-BE49-F238E27FC236}">
                <a16:creationId xmlns:a16="http://schemas.microsoft.com/office/drawing/2014/main" id="{2396C47B-B676-4944-841C-71E929DBD9C2}"/>
              </a:ext>
            </a:extLst>
          </p:cNvPr>
          <p:cNvSpPr txBox="1"/>
          <p:nvPr/>
        </p:nvSpPr>
        <p:spPr>
          <a:xfrm>
            <a:off x="91481" y="74385"/>
            <a:ext cx="8347125" cy="461665"/>
          </a:xfrm>
          <a:prstGeom prst="rect">
            <a:avLst/>
          </a:prstGeom>
          <a:noFill/>
        </p:spPr>
        <p:txBody>
          <a:bodyPr wrap="squar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2400" b="1" dirty="0">
                <a:solidFill>
                  <a:srgbClr val="00263D"/>
                </a:solidFill>
                <a:latin typeface="Arial" panose="020B0604020202020204" pitchFamily="34" charset="0"/>
                <a:cs typeface="Arial" panose="020B0604020202020204" pitchFamily="34" charset="0"/>
              </a:rPr>
              <a:t>Incredible Care QIX Award (Process Excellence)</a:t>
            </a:r>
            <a:endParaRPr lang="en-US" sz="1200" dirty="0">
              <a:solidFill>
                <a:srgbClr val="00263D"/>
              </a:solidFill>
              <a:latin typeface="Arial" panose="020B0604020202020204" pitchFamily="34" charset="0"/>
              <a:cs typeface="Arial" panose="020B0604020202020204" pitchFamily="34" charset="0"/>
            </a:endParaRPr>
          </a:p>
        </p:txBody>
      </p:sp>
      <p:sp>
        <p:nvSpPr>
          <p:cNvPr id="15" name="Rectangle 14"/>
          <p:cNvSpPr/>
          <p:nvPr/>
        </p:nvSpPr>
        <p:spPr>
          <a:xfrm>
            <a:off x="15278" y="6599175"/>
            <a:ext cx="6476962" cy="258825"/>
          </a:xfrm>
          <a:prstGeom prst="rect">
            <a:avLst/>
          </a:prstGeom>
        </p:spPr>
        <p:txBody>
          <a:bodyPr wrap="square">
            <a:spAutoFit/>
          </a:bodyPr>
          <a:lstStyle/>
          <a:p>
            <a:r>
              <a:rPr lang="en-US" sz="1050" dirty="0">
                <a:solidFill>
                  <a:srgbClr val="00263D"/>
                </a:solidFill>
                <a:latin typeface="Arial" panose="020B0604020202020204" pitchFamily="34" charset="0"/>
                <a:cs typeface="Arial" panose="020B0604020202020204" pitchFamily="34" charset="0"/>
              </a:rPr>
              <a:t>The 6 box QIX template is brought to you by Quality Improvement Department </a:t>
            </a:r>
            <a:r>
              <a:rPr lang="en-US" sz="1050" dirty="0" err="1">
                <a:solidFill>
                  <a:srgbClr val="00263D"/>
                </a:solidFill>
                <a:latin typeface="Arial" panose="020B0604020202020204" pitchFamily="34" charset="0"/>
                <a:cs typeface="Arial" panose="020B0604020202020204" pitchFamily="34" charset="0"/>
              </a:rPr>
              <a:t>wef</a:t>
            </a:r>
            <a:r>
              <a:rPr lang="en-US" sz="1050" dirty="0">
                <a:solidFill>
                  <a:srgbClr val="00263D"/>
                </a:solidFill>
                <a:latin typeface="Arial" panose="020B0604020202020204" pitchFamily="34" charset="0"/>
                <a:cs typeface="Arial" panose="020B0604020202020204" pitchFamily="34" charset="0"/>
              </a:rPr>
              <a:t> 1 April 2023</a:t>
            </a:r>
            <a:endParaRPr lang="en-SG" sz="1050" dirty="0"/>
          </a:p>
        </p:txBody>
      </p:sp>
      <p:graphicFrame>
        <p:nvGraphicFramePr>
          <p:cNvPr id="5" name="Object 4"/>
          <p:cNvGraphicFramePr>
            <a:graphicFrameLocks noChangeAspect="1"/>
          </p:cNvGraphicFramePr>
          <p:nvPr>
            <p:extLst>
              <p:ext uri="{D42A27DB-BD31-4B8C-83A1-F6EECF244321}">
                <p14:modId xmlns:p14="http://schemas.microsoft.com/office/powerpoint/2010/main" val="625364763"/>
              </p:ext>
            </p:extLst>
          </p:nvPr>
        </p:nvGraphicFramePr>
        <p:xfrm>
          <a:off x="91481" y="1861504"/>
          <a:ext cx="3867306" cy="2174919"/>
        </p:xfrm>
        <a:graphic>
          <a:graphicData uri="http://schemas.openxmlformats.org/presentationml/2006/ole">
            <mc:AlternateContent xmlns:mc="http://schemas.openxmlformats.org/markup-compatibility/2006">
              <mc:Choice xmlns:v="urn:schemas-microsoft-com:vml" Requires="v">
                <p:oleObj name="Slide" r:id="rId4" imgW="6094506" imgH="3427643" progId="PowerPoint.Slide.8">
                  <p:link updateAutomatic="1"/>
                </p:oleObj>
              </mc:Choice>
              <mc:Fallback>
                <p:oleObj name="Slide" r:id="rId4" imgW="6094506" imgH="3427643" progId="PowerPoint.Slide.8">
                  <p:link updateAutomatic="1"/>
                  <p:pic>
                    <p:nvPicPr>
                      <p:cNvPr id="5" name="Object 4"/>
                      <p:cNvPicPr/>
                      <p:nvPr/>
                    </p:nvPicPr>
                    <p:blipFill>
                      <a:blip r:embed="rId5"/>
                      <a:stretch>
                        <a:fillRect/>
                      </a:stretch>
                    </p:blipFill>
                    <p:spPr>
                      <a:xfrm>
                        <a:off x="91481" y="1861504"/>
                        <a:ext cx="3867306" cy="2174919"/>
                      </a:xfrm>
                      <a:prstGeom prst="rect">
                        <a:avLst/>
                      </a:prstGeom>
                    </p:spPr>
                  </p:pic>
                </p:oleObj>
              </mc:Fallback>
            </mc:AlternateContent>
          </a:graphicData>
        </a:graphic>
      </p:graphicFrame>
      <p:graphicFrame>
        <p:nvGraphicFramePr>
          <p:cNvPr id="11" name="Object 10"/>
          <p:cNvGraphicFramePr>
            <a:graphicFrameLocks noChangeAspect="1"/>
          </p:cNvGraphicFramePr>
          <p:nvPr>
            <p:extLst>
              <p:ext uri="{D42A27DB-BD31-4B8C-83A1-F6EECF244321}">
                <p14:modId xmlns:p14="http://schemas.microsoft.com/office/powerpoint/2010/main" val="1056399612"/>
              </p:ext>
            </p:extLst>
          </p:nvPr>
        </p:nvGraphicFramePr>
        <p:xfrm>
          <a:off x="4194676" y="1861504"/>
          <a:ext cx="3867305" cy="2174919"/>
        </p:xfrm>
        <a:graphic>
          <a:graphicData uri="http://schemas.openxmlformats.org/presentationml/2006/ole">
            <mc:AlternateContent xmlns:mc="http://schemas.openxmlformats.org/markup-compatibility/2006">
              <mc:Choice xmlns:v="urn:schemas-microsoft-com:vml" Requires="v">
                <p:oleObj name="Slide" r:id="rId4" imgW="6094506" imgH="3427643" progId="PowerPoint.Slide.8">
                  <p:link updateAutomatic="1"/>
                </p:oleObj>
              </mc:Choice>
              <mc:Fallback>
                <p:oleObj name="Slide" r:id="rId4" imgW="6094506" imgH="3427643" progId="PowerPoint.Slide.8">
                  <p:link updateAutomatic="1"/>
                  <p:pic>
                    <p:nvPicPr>
                      <p:cNvPr id="11" name="Object 10"/>
                      <p:cNvPicPr/>
                      <p:nvPr/>
                    </p:nvPicPr>
                    <p:blipFill>
                      <a:blip r:embed="rId6"/>
                      <a:stretch>
                        <a:fillRect/>
                      </a:stretch>
                    </p:blipFill>
                    <p:spPr>
                      <a:xfrm>
                        <a:off x="4194676" y="1861504"/>
                        <a:ext cx="3867305" cy="2174919"/>
                      </a:xfrm>
                      <a:prstGeom prst="rect">
                        <a:avLst/>
                      </a:prstGeom>
                    </p:spPr>
                  </p:pic>
                </p:oleObj>
              </mc:Fallback>
            </mc:AlternateContent>
          </a:graphicData>
        </a:graphic>
      </p:graphicFrame>
      <p:graphicFrame>
        <p:nvGraphicFramePr>
          <p:cNvPr id="12" name="Object 11"/>
          <p:cNvGraphicFramePr>
            <a:graphicFrameLocks noChangeAspect="1"/>
          </p:cNvGraphicFramePr>
          <p:nvPr>
            <p:extLst>
              <p:ext uri="{D42A27DB-BD31-4B8C-83A1-F6EECF244321}">
                <p14:modId xmlns:p14="http://schemas.microsoft.com/office/powerpoint/2010/main" val="3760076875"/>
              </p:ext>
            </p:extLst>
          </p:nvPr>
        </p:nvGraphicFramePr>
        <p:xfrm>
          <a:off x="8210516" y="1846682"/>
          <a:ext cx="3908953" cy="2198340"/>
        </p:xfrm>
        <a:graphic>
          <a:graphicData uri="http://schemas.openxmlformats.org/presentationml/2006/ole">
            <mc:AlternateContent xmlns:mc="http://schemas.openxmlformats.org/markup-compatibility/2006">
              <mc:Choice xmlns:v="urn:schemas-microsoft-com:vml" Requires="v">
                <p:oleObj name="Slide" r:id="rId4" imgW="6094506" imgH="3427643" progId="PowerPoint.Slide.8">
                  <p:link updateAutomatic="1"/>
                </p:oleObj>
              </mc:Choice>
              <mc:Fallback>
                <p:oleObj name="Slide" r:id="rId4" imgW="6094506" imgH="3427643" progId="PowerPoint.Slide.8">
                  <p:link updateAutomatic="1"/>
                  <p:pic>
                    <p:nvPicPr>
                      <p:cNvPr id="12" name="Object 11"/>
                      <p:cNvPicPr/>
                      <p:nvPr/>
                    </p:nvPicPr>
                    <p:blipFill>
                      <a:blip r:embed="rId7"/>
                      <a:stretch>
                        <a:fillRect/>
                      </a:stretch>
                    </p:blipFill>
                    <p:spPr>
                      <a:xfrm>
                        <a:off x="8210516" y="1846682"/>
                        <a:ext cx="3908953" cy="2198340"/>
                      </a:xfrm>
                      <a:prstGeom prst="rect">
                        <a:avLst/>
                      </a:prstGeom>
                    </p:spPr>
                  </p:pic>
                </p:oleObj>
              </mc:Fallback>
            </mc:AlternateContent>
          </a:graphicData>
        </a:graphic>
      </p:graphicFrame>
      <p:graphicFrame>
        <p:nvGraphicFramePr>
          <p:cNvPr id="17" name="Object 16"/>
          <p:cNvGraphicFramePr>
            <a:graphicFrameLocks noChangeAspect="1"/>
          </p:cNvGraphicFramePr>
          <p:nvPr>
            <p:extLst>
              <p:ext uri="{D42A27DB-BD31-4B8C-83A1-F6EECF244321}">
                <p14:modId xmlns:p14="http://schemas.microsoft.com/office/powerpoint/2010/main" val="3697788250"/>
              </p:ext>
            </p:extLst>
          </p:nvPr>
        </p:nvGraphicFramePr>
        <p:xfrm>
          <a:off x="91480" y="4424255"/>
          <a:ext cx="3867307" cy="2174920"/>
        </p:xfrm>
        <a:graphic>
          <a:graphicData uri="http://schemas.openxmlformats.org/presentationml/2006/ole">
            <mc:AlternateContent xmlns:mc="http://schemas.openxmlformats.org/markup-compatibility/2006">
              <mc:Choice xmlns:v="urn:schemas-microsoft-com:vml" Requires="v">
                <p:oleObj name="Slide" r:id="rId4" imgW="6094506" imgH="3427643" progId="PowerPoint.Slide.8">
                  <p:link updateAutomatic="1"/>
                </p:oleObj>
              </mc:Choice>
              <mc:Fallback>
                <p:oleObj name="Slide" r:id="rId4" imgW="6094506" imgH="3427643" progId="PowerPoint.Slide.8">
                  <p:link updateAutomatic="1"/>
                  <p:pic>
                    <p:nvPicPr>
                      <p:cNvPr id="17" name="Object 16"/>
                      <p:cNvPicPr/>
                      <p:nvPr/>
                    </p:nvPicPr>
                    <p:blipFill>
                      <a:blip r:embed="rId8"/>
                      <a:stretch>
                        <a:fillRect/>
                      </a:stretch>
                    </p:blipFill>
                    <p:spPr>
                      <a:xfrm>
                        <a:off x="91480" y="4424255"/>
                        <a:ext cx="3867307" cy="2174920"/>
                      </a:xfrm>
                      <a:prstGeom prst="rect">
                        <a:avLst/>
                      </a:prstGeom>
                    </p:spPr>
                  </p:pic>
                </p:oleObj>
              </mc:Fallback>
            </mc:AlternateContent>
          </a:graphicData>
        </a:graphic>
      </p:graphicFrame>
      <p:graphicFrame>
        <p:nvGraphicFramePr>
          <p:cNvPr id="18" name="Object 17"/>
          <p:cNvGraphicFramePr>
            <a:graphicFrameLocks noChangeAspect="1"/>
          </p:cNvGraphicFramePr>
          <p:nvPr>
            <p:extLst>
              <p:ext uri="{D42A27DB-BD31-4B8C-83A1-F6EECF244321}">
                <p14:modId xmlns:p14="http://schemas.microsoft.com/office/powerpoint/2010/main" val="1501990141"/>
              </p:ext>
            </p:extLst>
          </p:nvPr>
        </p:nvGraphicFramePr>
        <p:xfrm>
          <a:off x="4194676" y="4424255"/>
          <a:ext cx="3867308" cy="2174920"/>
        </p:xfrm>
        <a:graphic>
          <a:graphicData uri="http://schemas.openxmlformats.org/presentationml/2006/ole">
            <mc:AlternateContent xmlns:mc="http://schemas.openxmlformats.org/markup-compatibility/2006">
              <mc:Choice xmlns:v="urn:schemas-microsoft-com:vml" Requires="v">
                <p:oleObj name="Slide" r:id="rId4" imgW="6094506" imgH="3427643" progId="PowerPoint.Slide.8">
                  <p:link updateAutomatic="1"/>
                </p:oleObj>
              </mc:Choice>
              <mc:Fallback>
                <p:oleObj name="Slide" r:id="rId4" imgW="6094506" imgH="3427643" progId="PowerPoint.Slide.8">
                  <p:link updateAutomatic="1"/>
                  <p:pic>
                    <p:nvPicPr>
                      <p:cNvPr id="18" name="Object 17"/>
                      <p:cNvPicPr/>
                      <p:nvPr/>
                    </p:nvPicPr>
                    <p:blipFill>
                      <a:blip r:embed="rId9"/>
                      <a:stretch>
                        <a:fillRect/>
                      </a:stretch>
                    </p:blipFill>
                    <p:spPr>
                      <a:xfrm>
                        <a:off x="4194676" y="4424255"/>
                        <a:ext cx="3867308" cy="2174920"/>
                      </a:xfrm>
                      <a:prstGeom prst="rect">
                        <a:avLst/>
                      </a:prstGeom>
                    </p:spPr>
                  </p:pic>
                </p:oleObj>
              </mc:Fallback>
            </mc:AlternateContent>
          </a:graphicData>
        </a:graphic>
      </p:graphicFrame>
      <p:graphicFrame>
        <p:nvGraphicFramePr>
          <p:cNvPr id="19" name="Object 18"/>
          <p:cNvGraphicFramePr>
            <a:graphicFrameLocks noChangeAspect="1"/>
          </p:cNvGraphicFramePr>
          <p:nvPr>
            <p:extLst>
              <p:ext uri="{D42A27DB-BD31-4B8C-83A1-F6EECF244321}">
                <p14:modId xmlns:p14="http://schemas.microsoft.com/office/powerpoint/2010/main" val="3799548788"/>
              </p:ext>
            </p:extLst>
          </p:nvPr>
        </p:nvGraphicFramePr>
        <p:xfrm>
          <a:off x="8210516" y="4424255"/>
          <a:ext cx="3908953" cy="2198341"/>
        </p:xfrm>
        <a:graphic>
          <a:graphicData uri="http://schemas.openxmlformats.org/presentationml/2006/ole">
            <mc:AlternateContent xmlns:mc="http://schemas.openxmlformats.org/markup-compatibility/2006">
              <mc:Choice xmlns:v="urn:schemas-microsoft-com:vml" Requires="v">
                <p:oleObj name="Slide" r:id="rId4" imgW="6094506" imgH="3427643" progId="PowerPoint.Slide.8">
                  <p:link updateAutomatic="1"/>
                </p:oleObj>
              </mc:Choice>
              <mc:Fallback>
                <p:oleObj name="Slide" r:id="rId4" imgW="6094506" imgH="3427643" progId="PowerPoint.Slide.8">
                  <p:link updateAutomatic="1"/>
                  <p:pic>
                    <p:nvPicPr>
                      <p:cNvPr id="19" name="Object 18"/>
                      <p:cNvPicPr/>
                      <p:nvPr/>
                    </p:nvPicPr>
                    <p:blipFill>
                      <a:blip r:embed="rId10"/>
                      <a:stretch>
                        <a:fillRect/>
                      </a:stretch>
                    </p:blipFill>
                    <p:spPr>
                      <a:xfrm>
                        <a:off x="8210516" y="4424255"/>
                        <a:ext cx="3908953" cy="2198341"/>
                      </a:xfrm>
                      <a:prstGeom prst="rect">
                        <a:avLst/>
                      </a:prstGeom>
                    </p:spPr>
                  </p:pic>
                </p:oleObj>
              </mc:Fallback>
            </mc:AlternateContent>
          </a:graphicData>
        </a:graphic>
      </p:graphicFrame>
    </p:spTree>
    <p:extLst>
      <p:ext uri="{BB962C8B-B14F-4D97-AF65-F5344CB8AC3E}">
        <p14:creationId xmlns:p14="http://schemas.microsoft.com/office/powerpoint/2010/main" val="20739165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hidden="1"/>
          <p:cNvSpPr>
            <a:spLocks noGrp="1"/>
          </p:cNvSpPr>
          <p:nvPr>
            <p:ph type="title"/>
          </p:nvPr>
        </p:nvSpPr>
        <p:spPr/>
        <p:txBody>
          <a:bodyPr/>
          <a:lstStyle/>
          <a:p>
            <a:r>
              <a:rPr lang="en-US" dirty="0"/>
              <a:t>Sample 3</a:t>
            </a:r>
          </a:p>
        </p:txBody>
      </p:sp>
      <p:sp>
        <p:nvSpPr>
          <p:cNvPr id="6" name="TextBox 5"/>
          <p:cNvSpPr txBox="1"/>
          <p:nvPr/>
        </p:nvSpPr>
        <p:spPr>
          <a:xfrm>
            <a:off x="352697" y="64109"/>
            <a:ext cx="11839302" cy="710066"/>
          </a:xfrm>
          <a:prstGeom prst="rect">
            <a:avLst/>
          </a:prstGeom>
          <a:noFill/>
        </p:spPr>
        <p:txBody>
          <a:bodyPr wrap="square" rtlCol="0">
            <a:spAutoFit/>
          </a:bodyPr>
          <a:lstStyle/>
          <a:p>
            <a:pPr>
              <a:lnSpc>
                <a:spcPct val="150000"/>
              </a:lnSpc>
            </a:pPr>
            <a:r>
              <a:rPr lang="en-US" sz="3000" b="1" dirty="0">
                <a:solidFill>
                  <a:schemeClr val="tx1">
                    <a:lumMod val="85000"/>
                    <a:lumOff val="15000"/>
                  </a:schemeClr>
                </a:solidFill>
                <a:latin typeface="Arial Black" charset="0"/>
                <a:ea typeface="Arial Black" charset="0"/>
                <a:cs typeface="Arial Black" charset="0"/>
              </a:rPr>
              <a:t>A. Define the Problem (</a:t>
            </a:r>
            <a:r>
              <a:rPr lang="en-US" sz="3000" b="1" dirty="0">
                <a:solidFill>
                  <a:srgbClr val="0070C0"/>
                </a:solidFill>
                <a:latin typeface="Arial Black" charset="0"/>
                <a:ea typeface="Arial Black" charset="0"/>
                <a:cs typeface="Arial Black" charset="0"/>
              </a:rPr>
              <a:t>P</a:t>
            </a:r>
            <a:r>
              <a:rPr lang="en-US" sz="3000" b="1" dirty="0">
                <a:solidFill>
                  <a:schemeClr val="tx1">
                    <a:lumMod val="85000"/>
                    <a:lumOff val="15000"/>
                  </a:schemeClr>
                </a:solidFill>
                <a:latin typeface="Arial Black" charset="0"/>
                <a:ea typeface="Arial Black" charset="0"/>
                <a:cs typeface="Arial Black" charset="0"/>
              </a:rPr>
              <a:t>LAN)</a:t>
            </a:r>
            <a:endParaRPr lang="en-US" sz="1600" dirty="0">
              <a:solidFill>
                <a:schemeClr val="tx1">
                  <a:lumMod val="85000"/>
                  <a:lumOff val="15000"/>
                </a:schemeClr>
              </a:solidFill>
              <a:latin typeface="Arial" charset="0"/>
              <a:ea typeface="Arial" charset="0"/>
              <a:cs typeface="Arial" charset="0"/>
            </a:endParaRPr>
          </a:p>
        </p:txBody>
      </p:sp>
      <p:cxnSp>
        <p:nvCxnSpPr>
          <p:cNvPr id="23" name="Straight Connector 22">
            <a:extLst>
              <a:ext uri="{C183D7F6-B498-43B3-948B-1728B52AA6E4}">
                <adec:decorative xmlns:adec="http://schemas.microsoft.com/office/drawing/2017/decorative" val="1"/>
              </a:ext>
            </a:extLst>
          </p:cNvPr>
          <p:cNvCxnSpPr/>
          <p:nvPr/>
        </p:nvCxnSpPr>
        <p:spPr>
          <a:xfrm>
            <a:off x="226423" y="746051"/>
            <a:ext cx="10027920" cy="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35" name="Content Placeholder 4">
            <a:extLst>
              <a:ext uri="{FF2B5EF4-FFF2-40B4-BE49-F238E27FC236}">
                <a16:creationId xmlns:a16="http://schemas.microsoft.com/office/drawing/2014/main" id="{CEEB3BAE-C0B2-447C-B8BE-96C6BD84D658}"/>
              </a:ext>
            </a:extLst>
          </p:cNvPr>
          <p:cNvSpPr txBox="1">
            <a:spLocks/>
          </p:cNvSpPr>
          <p:nvPr/>
        </p:nvSpPr>
        <p:spPr>
          <a:xfrm>
            <a:off x="352697" y="1176038"/>
            <a:ext cx="11621589" cy="436295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SG" sz="2400" dirty="0"/>
              <a:t>There are currently limited contrast-enhanced imaging options deemed safe for CKD 4 patients in NUH. Contrast-enhanced ultrasound is a viable option for evaluation of select hepatic and renal lesions, but has limited use for other body parts. Contrast-enhanced CT is also not advised in such patients due to the risk of contrast-induced acute kidney injury. </a:t>
            </a:r>
          </a:p>
          <a:p>
            <a:r>
              <a:rPr lang="en-SG" sz="2400" dirty="0"/>
              <a:t>CE MRI may hence be the safest option available as gadolinium-based contrast agents (GBCAs) used in CE MRI are not nephrotoxic. However, GBCAs have historically been avoided in this group of patients due to the risk of nephrogenic systemic fibrosis (NSF) with older-generation GBCAs (reported up to 2-5% risk).</a:t>
            </a:r>
          </a:p>
          <a:p>
            <a:r>
              <a:rPr lang="en-SG" sz="2400" dirty="0"/>
              <a:t>Updated guidelines from the American College of Radiology (ACR) from 2020 have stated that GBCAs can be used in CKD 4 patients if clinically indicated, due to the minimal risk of NSF associated with current-generation GBCAs. A revised version of the guidelines in 2024 deemed ALL MR contrast agents used in NUH to be of minimal risk of NSF. </a:t>
            </a:r>
          </a:p>
        </p:txBody>
      </p:sp>
      <p:cxnSp>
        <p:nvCxnSpPr>
          <p:cNvPr id="36" name="Straight Connector 35">
            <a:extLst>
              <a:ext uri="{FF2B5EF4-FFF2-40B4-BE49-F238E27FC236}">
                <a16:creationId xmlns:a16="http://schemas.microsoft.com/office/drawing/2014/main" id="{5A563457-1EC8-4978-BCCB-AFD88C9ED04C}"/>
              </a:ext>
              <a:ext uri="{C183D7F6-B498-43B3-948B-1728B52AA6E4}">
                <adec:decorative xmlns:adec="http://schemas.microsoft.com/office/drawing/2017/decorative" val="1"/>
              </a:ext>
            </a:extLst>
          </p:cNvPr>
          <p:cNvCxnSpPr/>
          <p:nvPr/>
        </p:nvCxnSpPr>
        <p:spPr>
          <a:xfrm>
            <a:off x="6096000" y="2363035"/>
            <a:ext cx="0" cy="241133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0054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accel="50000" decel="5000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1000" fill="hold"/>
                                        <p:tgtEl>
                                          <p:spTgt spid="6"/>
                                        </p:tgtEl>
                                        <p:attrNameLst>
                                          <p:attrName>ppt_x</p:attrName>
                                        </p:attrNameLst>
                                      </p:cBhvr>
                                      <p:tavLst>
                                        <p:tav tm="0">
                                          <p:val>
                                            <p:strVal val="0-#ppt_w/2"/>
                                          </p:val>
                                        </p:tav>
                                        <p:tav tm="100000">
                                          <p:val>
                                            <p:strVal val="#ppt_x"/>
                                          </p:val>
                                        </p:tav>
                                      </p:tavLst>
                                    </p:anim>
                                    <p:anim calcmode="lin" valueType="num">
                                      <p:cBhvr additive="base">
                                        <p:cTn id="8" dur="10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2" accel="50000" decel="50000" fill="hold" nodeType="withEffect">
                                  <p:stCondLst>
                                    <p:cond delay="0"/>
                                  </p:stCondLst>
                                  <p:childTnLst>
                                    <p:set>
                                      <p:cBhvr>
                                        <p:cTn id="10" dur="1" fill="hold">
                                          <p:stCondLst>
                                            <p:cond delay="0"/>
                                          </p:stCondLst>
                                        </p:cTn>
                                        <p:tgtEl>
                                          <p:spTgt spid="23"/>
                                        </p:tgtEl>
                                        <p:attrNameLst>
                                          <p:attrName>style.visibility</p:attrName>
                                        </p:attrNameLst>
                                      </p:cBhvr>
                                      <p:to>
                                        <p:strVal val="visible"/>
                                      </p:to>
                                    </p:set>
                                    <p:anim calcmode="lin" valueType="num">
                                      <p:cBhvr additive="base">
                                        <p:cTn id="11" dur="1000" fill="hold"/>
                                        <p:tgtEl>
                                          <p:spTgt spid="23"/>
                                        </p:tgtEl>
                                        <p:attrNameLst>
                                          <p:attrName>ppt_x</p:attrName>
                                        </p:attrNameLst>
                                      </p:cBhvr>
                                      <p:tavLst>
                                        <p:tav tm="0">
                                          <p:val>
                                            <p:strVal val="1+#ppt_w/2"/>
                                          </p:val>
                                        </p:tav>
                                        <p:tav tm="100000">
                                          <p:val>
                                            <p:strVal val="#ppt_x"/>
                                          </p:val>
                                        </p:tav>
                                      </p:tavLst>
                                    </p:anim>
                                    <p:anim calcmode="lin" valueType="num">
                                      <p:cBhvr additive="base">
                                        <p:cTn id="12" dur="1000" fill="hold"/>
                                        <p:tgtEl>
                                          <p:spTgt spid="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hidden="1"/>
          <p:cNvSpPr>
            <a:spLocks noGrp="1"/>
          </p:cNvSpPr>
          <p:nvPr>
            <p:ph type="title"/>
          </p:nvPr>
        </p:nvSpPr>
        <p:spPr/>
        <p:txBody>
          <a:bodyPr/>
          <a:lstStyle/>
          <a:p>
            <a:r>
              <a:rPr lang="en-US" dirty="0"/>
              <a:t>Sample 3</a:t>
            </a:r>
          </a:p>
        </p:txBody>
      </p:sp>
      <p:sp>
        <p:nvSpPr>
          <p:cNvPr id="6" name="TextBox 5"/>
          <p:cNvSpPr txBox="1"/>
          <p:nvPr/>
        </p:nvSpPr>
        <p:spPr>
          <a:xfrm>
            <a:off x="352697" y="64109"/>
            <a:ext cx="11839302" cy="713016"/>
          </a:xfrm>
          <a:prstGeom prst="rect">
            <a:avLst/>
          </a:prstGeom>
          <a:noFill/>
        </p:spPr>
        <p:txBody>
          <a:bodyPr wrap="square" rtlCol="0">
            <a:spAutoFit/>
          </a:bodyPr>
          <a:lstStyle/>
          <a:p>
            <a:pPr>
              <a:lnSpc>
                <a:spcPct val="150000"/>
              </a:lnSpc>
            </a:pPr>
            <a:r>
              <a:rPr lang="en-US" sz="3000" b="1" dirty="0">
                <a:solidFill>
                  <a:schemeClr val="tx1">
                    <a:lumMod val="85000"/>
                    <a:lumOff val="15000"/>
                  </a:schemeClr>
                </a:solidFill>
                <a:latin typeface="Arial Black" charset="0"/>
                <a:ea typeface="Arial Black" charset="0"/>
                <a:cs typeface="Arial Black" charset="0"/>
              </a:rPr>
              <a:t>B. Goal (</a:t>
            </a:r>
            <a:r>
              <a:rPr lang="en-US" sz="3000" b="1" dirty="0">
                <a:solidFill>
                  <a:srgbClr val="0070C0"/>
                </a:solidFill>
                <a:latin typeface="Arial Black" charset="0"/>
                <a:ea typeface="Arial Black" charset="0"/>
                <a:cs typeface="Arial Black" charset="0"/>
              </a:rPr>
              <a:t>P</a:t>
            </a:r>
            <a:r>
              <a:rPr lang="en-US" sz="3000" b="1" dirty="0">
                <a:solidFill>
                  <a:schemeClr val="tx1">
                    <a:lumMod val="85000"/>
                    <a:lumOff val="15000"/>
                  </a:schemeClr>
                </a:solidFill>
                <a:latin typeface="Arial Black" charset="0"/>
                <a:ea typeface="Arial Black" charset="0"/>
                <a:cs typeface="Arial Black" charset="0"/>
              </a:rPr>
              <a:t>LAN) </a:t>
            </a:r>
            <a:r>
              <a:rPr lang="en-US" sz="1600" dirty="0">
                <a:solidFill>
                  <a:schemeClr val="tx1">
                    <a:lumMod val="85000"/>
                    <a:lumOff val="15000"/>
                  </a:schemeClr>
                </a:solidFill>
                <a:latin typeface="Arial" charset="0"/>
                <a:ea typeface="Arial" charset="0"/>
                <a:cs typeface="Arial" charset="0"/>
              </a:rPr>
              <a:t>Set </a:t>
            </a:r>
            <a:r>
              <a:rPr lang="en-US" sz="1600" b="1" dirty="0">
                <a:solidFill>
                  <a:schemeClr val="tx1">
                    <a:lumMod val="85000"/>
                    <a:lumOff val="15000"/>
                  </a:schemeClr>
                </a:solidFill>
                <a:latin typeface="Arial" charset="0"/>
                <a:ea typeface="Arial" charset="0"/>
                <a:cs typeface="Arial" charset="0"/>
              </a:rPr>
              <a:t>SMART</a:t>
            </a:r>
            <a:r>
              <a:rPr lang="en-US" sz="1600" dirty="0">
                <a:solidFill>
                  <a:schemeClr val="tx1">
                    <a:lumMod val="85000"/>
                    <a:lumOff val="15000"/>
                  </a:schemeClr>
                </a:solidFill>
                <a:latin typeface="Arial" charset="0"/>
                <a:ea typeface="Arial" charset="0"/>
                <a:cs typeface="Arial" charset="0"/>
              </a:rPr>
              <a:t> goals  |  </a:t>
            </a:r>
            <a:r>
              <a:rPr lang="en-US" sz="1600" b="1" dirty="0">
                <a:solidFill>
                  <a:schemeClr val="tx1">
                    <a:lumMod val="85000"/>
                    <a:lumOff val="15000"/>
                  </a:schemeClr>
                </a:solidFill>
                <a:latin typeface="Arial" charset="0"/>
                <a:ea typeface="Arial" charset="0"/>
                <a:cs typeface="Arial" charset="0"/>
              </a:rPr>
              <a:t>S</a:t>
            </a:r>
            <a:r>
              <a:rPr lang="en-US" sz="1600" dirty="0">
                <a:solidFill>
                  <a:schemeClr val="tx1">
                    <a:lumMod val="85000"/>
                    <a:lumOff val="15000"/>
                  </a:schemeClr>
                </a:solidFill>
                <a:latin typeface="Arial" charset="0"/>
                <a:ea typeface="Arial" charset="0"/>
                <a:cs typeface="Arial" charset="0"/>
              </a:rPr>
              <a:t>pecific, </a:t>
            </a:r>
            <a:r>
              <a:rPr lang="en-US" sz="1600" b="1" dirty="0">
                <a:solidFill>
                  <a:schemeClr val="tx1">
                    <a:lumMod val="85000"/>
                    <a:lumOff val="15000"/>
                  </a:schemeClr>
                </a:solidFill>
                <a:latin typeface="Arial" charset="0"/>
                <a:ea typeface="Arial" charset="0"/>
                <a:cs typeface="Arial" charset="0"/>
              </a:rPr>
              <a:t>M</a:t>
            </a:r>
            <a:r>
              <a:rPr lang="en-US" sz="1600" dirty="0">
                <a:solidFill>
                  <a:schemeClr val="tx1">
                    <a:lumMod val="85000"/>
                    <a:lumOff val="15000"/>
                  </a:schemeClr>
                </a:solidFill>
                <a:latin typeface="Arial" charset="0"/>
                <a:ea typeface="Arial" charset="0"/>
                <a:cs typeface="Arial" charset="0"/>
              </a:rPr>
              <a:t>easurable, </a:t>
            </a:r>
            <a:r>
              <a:rPr lang="en-US" sz="1600" b="1" dirty="0">
                <a:solidFill>
                  <a:schemeClr val="tx1">
                    <a:lumMod val="85000"/>
                    <a:lumOff val="15000"/>
                  </a:schemeClr>
                </a:solidFill>
                <a:latin typeface="Arial" charset="0"/>
                <a:ea typeface="Arial" charset="0"/>
                <a:cs typeface="Arial" charset="0"/>
              </a:rPr>
              <a:t>A</a:t>
            </a:r>
            <a:r>
              <a:rPr lang="en-US" sz="1600" dirty="0">
                <a:solidFill>
                  <a:schemeClr val="tx1">
                    <a:lumMod val="85000"/>
                    <a:lumOff val="15000"/>
                  </a:schemeClr>
                </a:solidFill>
                <a:latin typeface="Arial" charset="0"/>
                <a:ea typeface="Arial" charset="0"/>
                <a:cs typeface="Arial" charset="0"/>
              </a:rPr>
              <a:t>chievable, </a:t>
            </a:r>
            <a:r>
              <a:rPr lang="en-US" sz="1600" b="1" dirty="0">
                <a:solidFill>
                  <a:schemeClr val="tx1">
                    <a:lumMod val="85000"/>
                    <a:lumOff val="15000"/>
                  </a:schemeClr>
                </a:solidFill>
                <a:latin typeface="Arial" charset="0"/>
                <a:ea typeface="Arial" charset="0"/>
                <a:cs typeface="Arial" charset="0"/>
              </a:rPr>
              <a:t>R</a:t>
            </a:r>
            <a:r>
              <a:rPr lang="en-US" sz="1600" dirty="0">
                <a:solidFill>
                  <a:schemeClr val="tx1">
                    <a:lumMod val="85000"/>
                    <a:lumOff val="15000"/>
                  </a:schemeClr>
                </a:solidFill>
                <a:latin typeface="Arial" charset="0"/>
                <a:ea typeface="Arial" charset="0"/>
                <a:cs typeface="Arial" charset="0"/>
              </a:rPr>
              <a:t>elevant, </a:t>
            </a:r>
            <a:r>
              <a:rPr lang="en-US" sz="1600" b="1" dirty="0">
                <a:solidFill>
                  <a:schemeClr val="tx1">
                    <a:lumMod val="85000"/>
                    <a:lumOff val="15000"/>
                  </a:schemeClr>
                </a:solidFill>
                <a:latin typeface="Arial" charset="0"/>
                <a:ea typeface="Arial" charset="0"/>
                <a:cs typeface="Arial" charset="0"/>
              </a:rPr>
              <a:t>T</a:t>
            </a:r>
            <a:r>
              <a:rPr lang="en-US" sz="1600" dirty="0">
                <a:solidFill>
                  <a:schemeClr val="tx1">
                    <a:lumMod val="85000"/>
                    <a:lumOff val="15000"/>
                  </a:schemeClr>
                </a:solidFill>
                <a:latin typeface="Arial" charset="0"/>
                <a:ea typeface="Arial" charset="0"/>
                <a:cs typeface="Arial" charset="0"/>
              </a:rPr>
              <a:t>ime-based |</a:t>
            </a:r>
          </a:p>
        </p:txBody>
      </p:sp>
      <p:cxnSp>
        <p:nvCxnSpPr>
          <p:cNvPr id="23" name="Straight Connector 22">
            <a:extLst>
              <a:ext uri="{C183D7F6-B498-43B3-948B-1728B52AA6E4}">
                <adec:decorative xmlns:adec="http://schemas.microsoft.com/office/drawing/2017/decorative" val="1"/>
              </a:ext>
            </a:extLst>
          </p:cNvPr>
          <p:cNvCxnSpPr/>
          <p:nvPr/>
        </p:nvCxnSpPr>
        <p:spPr>
          <a:xfrm flipV="1">
            <a:off x="226423" y="742663"/>
            <a:ext cx="10615985" cy="3388"/>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nvGrpSpPr>
          <p:cNvPr id="7" name="Group 6"/>
          <p:cNvGrpSpPr/>
          <p:nvPr/>
        </p:nvGrpSpPr>
        <p:grpSpPr>
          <a:xfrm>
            <a:off x="10988841" y="201276"/>
            <a:ext cx="1058779" cy="1089549"/>
            <a:chOff x="6593935" y="2001577"/>
            <a:chExt cx="3956080" cy="3956080"/>
          </a:xfrm>
        </p:grpSpPr>
        <p:grpSp>
          <p:nvGrpSpPr>
            <p:cNvPr id="2" name="Group 1">
              <a:extLst>
                <a:ext uri="{C183D7F6-B498-43B3-948B-1728B52AA6E4}">
                  <adec:decorative xmlns:adec="http://schemas.microsoft.com/office/drawing/2017/decorative" val="1"/>
                </a:ext>
              </a:extLst>
            </p:cNvPr>
            <p:cNvGrpSpPr/>
            <p:nvPr/>
          </p:nvGrpSpPr>
          <p:grpSpPr>
            <a:xfrm>
              <a:off x="7079619" y="2522492"/>
              <a:ext cx="3193392" cy="2840133"/>
              <a:chOff x="7078031" y="2522491"/>
              <a:chExt cx="3193392" cy="2840133"/>
            </a:xfrm>
          </p:grpSpPr>
          <p:sp>
            <p:nvSpPr>
              <p:cNvPr id="107" name="Freeform 5"/>
              <p:cNvSpPr>
                <a:spLocks/>
              </p:cNvSpPr>
              <p:nvPr/>
            </p:nvSpPr>
            <p:spPr bwMode="auto">
              <a:xfrm>
                <a:off x="7430552" y="2522491"/>
                <a:ext cx="1141176" cy="1448313"/>
              </a:xfrm>
              <a:custGeom>
                <a:avLst/>
                <a:gdLst/>
                <a:ahLst/>
                <a:cxnLst>
                  <a:cxn ang="0">
                    <a:pos x="1698" y="2155"/>
                  </a:cxn>
                  <a:cxn ang="0">
                    <a:pos x="0" y="828"/>
                  </a:cxn>
                  <a:cxn ang="0">
                    <a:pos x="0" y="828"/>
                  </a:cxn>
                  <a:cxn ang="0">
                    <a:pos x="40" y="779"/>
                  </a:cxn>
                  <a:cxn ang="0">
                    <a:pos x="80" y="731"/>
                  </a:cxn>
                  <a:cxn ang="0">
                    <a:pos x="122" y="684"/>
                  </a:cxn>
                  <a:cxn ang="0">
                    <a:pos x="166" y="640"/>
                  </a:cxn>
                  <a:cxn ang="0">
                    <a:pos x="209" y="596"/>
                  </a:cxn>
                  <a:cxn ang="0">
                    <a:pos x="255" y="553"/>
                  </a:cxn>
                  <a:cxn ang="0">
                    <a:pos x="300" y="513"/>
                  </a:cxn>
                  <a:cxn ang="0">
                    <a:pos x="346" y="473"/>
                  </a:cxn>
                  <a:cxn ang="0">
                    <a:pos x="393" y="435"/>
                  </a:cxn>
                  <a:cxn ang="0">
                    <a:pos x="443" y="399"/>
                  </a:cxn>
                  <a:cxn ang="0">
                    <a:pos x="492" y="365"/>
                  </a:cxn>
                  <a:cxn ang="0">
                    <a:pos x="542" y="330"/>
                  </a:cxn>
                  <a:cxn ang="0">
                    <a:pos x="593" y="300"/>
                  </a:cxn>
                  <a:cxn ang="0">
                    <a:pos x="646" y="270"/>
                  </a:cxn>
                  <a:cxn ang="0">
                    <a:pos x="697" y="241"/>
                  </a:cxn>
                  <a:cxn ang="0">
                    <a:pos x="750" y="213"/>
                  </a:cxn>
                  <a:cxn ang="0">
                    <a:pos x="805" y="188"/>
                  </a:cxn>
                  <a:cxn ang="0">
                    <a:pos x="861" y="163"/>
                  </a:cxn>
                  <a:cxn ang="0">
                    <a:pos x="916" y="142"/>
                  </a:cxn>
                  <a:cxn ang="0">
                    <a:pos x="973" y="122"/>
                  </a:cxn>
                  <a:cxn ang="0">
                    <a:pos x="1030" y="103"/>
                  </a:cxn>
                  <a:cxn ang="0">
                    <a:pos x="1088" y="84"/>
                  </a:cxn>
                  <a:cxn ang="0">
                    <a:pos x="1145" y="68"/>
                  </a:cxn>
                  <a:cxn ang="0">
                    <a:pos x="1204" y="55"/>
                  </a:cxn>
                  <a:cxn ang="0">
                    <a:pos x="1265" y="42"/>
                  </a:cxn>
                  <a:cxn ang="0">
                    <a:pos x="1326" y="30"/>
                  </a:cxn>
                  <a:cxn ang="0">
                    <a:pos x="1387" y="21"/>
                  </a:cxn>
                  <a:cxn ang="0">
                    <a:pos x="1447" y="13"/>
                  </a:cxn>
                  <a:cxn ang="0">
                    <a:pos x="1510" y="8"/>
                  </a:cxn>
                  <a:cxn ang="0">
                    <a:pos x="1573" y="4"/>
                  </a:cxn>
                  <a:cxn ang="0">
                    <a:pos x="1635" y="2"/>
                  </a:cxn>
                  <a:cxn ang="0">
                    <a:pos x="1698" y="0"/>
                  </a:cxn>
                  <a:cxn ang="0">
                    <a:pos x="1698" y="2155"/>
                  </a:cxn>
                </a:cxnLst>
                <a:rect l="0" t="0" r="r" b="b"/>
                <a:pathLst>
                  <a:path w="1698" h="2155">
                    <a:moveTo>
                      <a:pt x="1698" y="2155"/>
                    </a:moveTo>
                    <a:lnTo>
                      <a:pt x="0" y="828"/>
                    </a:lnTo>
                    <a:lnTo>
                      <a:pt x="0" y="828"/>
                    </a:lnTo>
                    <a:lnTo>
                      <a:pt x="40" y="779"/>
                    </a:lnTo>
                    <a:lnTo>
                      <a:pt x="80" y="731"/>
                    </a:lnTo>
                    <a:lnTo>
                      <a:pt x="122" y="684"/>
                    </a:lnTo>
                    <a:lnTo>
                      <a:pt x="166" y="640"/>
                    </a:lnTo>
                    <a:lnTo>
                      <a:pt x="209" y="596"/>
                    </a:lnTo>
                    <a:lnTo>
                      <a:pt x="255" y="553"/>
                    </a:lnTo>
                    <a:lnTo>
                      <a:pt x="300" y="513"/>
                    </a:lnTo>
                    <a:lnTo>
                      <a:pt x="346" y="473"/>
                    </a:lnTo>
                    <a:lnTo>
                      <a:pt x="393" y="435"/>
                    </a:lnTo>
                    <a:lnTo>
                      <a:pt x="443" y="399"/>
                    </a:lnTo>
                    <a:lnTo>
                      <a:pt x="492" y="365"/>
                    </a:lnTo>
                    <a:lnTo>
                      <a:pt x="542" y="330"/>
                    </a:lnTo>
                    <a:lnTo>
                      <a:pt x="593" y="300"/>
                    </a:lnTo>
                    <a:lnTo>
                      <a:pt x="646" y="270"/>
                    </a:lnTo>
                    <a:lnTo>
                      <a:pt x="697" y="241"/>
                    </a:lnTo>
                    <a:lnTo>
                      <a:pt x="750" y="213"/>
                    </a:lnTo>
                    <a:lnTo>
                      <a:pt x="805" y="188"/>
                    </a:lnTo>
                    <a:lnTo>
                      <a:pt x="861" y="163"/>
                    </a:lnTo>
                    <a:lnTo>
                      <a:pt x="916" y="142"/>
                    </a:lnTo>
                    <a:lnTo>
                      <a:pt x="973" y="122"/>
                    </a:lnTo>
                    <a:lnTo>
                      <a:pt x="1030" y="103"/>
                    </a:lnTo>
                    <a:lnTo>
                      <a:pt x="1088" y="84"/>
                    </a:lnTo>
                    <a:lnTo>
                      <a:pt x="1145" y="68"/>
                    </a:lnTo>
                    <a:lnTo>
                      <a:pt x="1204" y="55"/>
                    </a:lnTo>
                    <a:lnTo>
                      <a:pt x="1265" y="42"/>
                    </a:lnTo>
                    <a:lnTo>
                      <a:pt x="1326" y="30"/>
                    </a:lnTo>
                    <a:lnTo>
                      <a:pt x="1387" y="21"/>
                    </a:lnTo>
                    <a:lnTo>
                      <a:pt x="1447" y="13"/>
                    </a:lnTo>
                    <a:lnTo>
                      <a:pt x="1510" y="8"/>
                    </a:lnTo>
                    <a:lnTo>
                      <a:pt x="1573" y="4"/>
                    </a:lnTo>
                    <a:lnTo>
                      <a:pt x="1635" y="2"/>
                    </a:lnTo>
                    <a:lnTo>
                      <a:pt x="1698" y="0"/>
                    </a:lnTo>
                    <a:lnTo>
                      <a:pt x="1698" y="2155"/>
                    </a:lnTo>
                    <a:close/>
                  </a:path>
                </a:pathLst>
              </a:custGeom>
              <a:solidFill>
                <a:srgbClr val="7030A0"/>
              </a:solidFill>
              <a:ln w="3175" cmpd="sng">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8" name="Freeform 6"/>
              <p:cNvSpPr>
                <a:spLocks/>
              </p:cNvSpPr>
              <p:nvPr/>
            </p:nvSpPr>
            <p:spPr bwMode="auto">
              <a:xfrm>
                <a:off x="7847012" y="3533885"/>
                <a:ext cx="718974" cy="603085"/>
              </a:xfrm>
              <a:custGeom>
                <a:avLst/>
                <a:gdLst/>
                <a:ahLst/>
                <a:cxnLst>
                  <a:cxn ang="0">
                    <a:pos x="2159" y="1327"/>
                  </a:cxn>
                  <a:cxn ang="0">
                    <a:pos x="59" y="1811"/>
                  </a:cxn>
                  <a:cxn ang="0">
                    <a:pos x="59" y="1811"/>
                  </a:cxn>
                  <a:cxn ang="0">
                    <a:pos x="45" y="1751"/>
                  </a:cxn>
                  <a:cxn ang="0">
                    <a:pos x="34" y="1688"/>
                  </a:cxn>
                  <a:cxn ang="0">
                    <a:pos x="25" y="1627"/>
                  </a:cxn>
                  <a:cxn ang="0">
                    <a:pos x="15" y="1567"/>
                  </a:cxn>
                  <a:cxn ang="0">
                    <a:pos x="9" y="1506"/>
                  </a:cxn>
                  <a:cxn ang="0">
                    <a:pos x="4" y="1445"/>
                  </a:cxn>
                  <a:cxn ang="0">
                    <a:pos x="0" y="1384"/>
                  </a:cxn>
                  <a:cxn ang="0">
                    <a:pos x="0" y="1325"/>
                  </a:cxn>
                  <a:cxn ang="0">
                    <a:pos x="0" y="1265"/>
                  </a:cxn>
                  <a:cxn ang="0">
                    <a:pos x="0" y="1206"/>
                  </a:cxn>
                  <a:cxn ang="0">
                    <a:pos x="4" y="1147"/>
                  </a:cxn>
                  <a:cxn ang="0">
                    <a:pos x="9" y="1088"/>
                  </a:cxn>
                  <a:cxn ang="0">
                    <a:pos x="15" y="1031"/>
                  </a:cxn>
                  <a:cxn ang="0">
                    <a:pos x="25" y="972"/>
                  </a:cxn>
                  <a:cxn ang="0">
                    <a:pos x="34" y="915"/>
                  </a:cxn>
                  <a:cxn ang="0">
                    <a:pos x="45" y="858"/>
                  </a:cxn>
                  <a:cxn ang="0">
                    <a:pos x="59" y="801"/>
                  </a:cxn>
                  <a:cxn ang="0">
                    <a:pos x="74" y="746"/>
                  </a:cxn>
                  <a:cxn ang="0">
                    <a:pos x="91" y="689"/>
                  </a:cxn>
                  <a:cxn ang="0">
                    <a:pos x="110" y="634"/>
                  </a:cxn>
                  <a:cxn ang="0">
                    <a:pos x="131" y="579"/>
                  </a:cxn>
                  <a:cxn ang="0">
                    <a:pos x="152" y="524"/>
                  </a:cxn>
                  <a:cxn ang="0">
                    <a:pos x="175" y="471"/>
                  </a:cxn>
                  <a:cxn ang="0">
                    <a:pos x="201" y="416"/>
                  </a:cxn>
                  <a:cxn ang="0">
                    <a:pos x="228" y="363"/>
                  </a:cxn>
                  <a:cxn ang="0">
                    <a:pos x="256" y="309"/>
                  </a:cxn>
                  <a:cxn ang="0">
                    <a:pos x="287" y="256"/>
                  </a:cxn>
                  <a:cxn ang="0">
                    <a:pos x="317" y="205"/>
                  </a:cxn>
                  <a:cxn ang="0">
                    <a:pos x="351" y="154"/>
                  </a:cxn>
                  <a:cxn ang="0">
                    <a:pos x="385" y="102"/>
                  </a:cxn>
                  <a:cxn ang="0">
                    <a:pos x="423" y="51"/>
                  </a:cxn>
                  <a:cxn ang="0">
                    <a:pos x="461" y="0"/>
                  </a:cxn>
                  <a:cxn ang="0">
                    <a:pos x="2159" y="1327"/>
                  </a:cxn>
                </a:cxnLst>
                <a:rect l="0" t="0" r="r" b="b"/>
                <a:pathLst>
                  <a:path w="2159" h="1811">
                    <a:moveTo>
                      <a:pt x="2159" y="1327"/>
                    </a:moveTo>
                    <a:lnTo>
                      <a:pt x="59" y="1811"/>
                    </a:lnTo>
                    <a:lnTo>
                      <a:pt x="59" y="1811"/>
                    </a:lnTo>
                    <a:lnTo>
                      <a:pt x="45" y="1751"/>
                    </a:lnTo>
                    <a:lnTo>
                      <a:pt x="34" y="1688"/>
                    </a:lnTo>
                    <a:lnTo>
                      <a:pt x="25" y="1627"/>
                    </a:lnTo>
                    <a:lnTo>
                      <a:pt x="15" y="1567"/>
                    </a:lnTo>
                    <a:lnTo>
                      <a:pt x="9" y="1506"/>
                    </a:lnTo>
                    <a:lnTo>
                      <a:pt x="4" y="1445"/>
                    </a:lnTo>
                    <a:lnTo>
                      <a:pt x="0" y="1384"/>
                    </a:lnTo>
                    <a:lnTo>
                      <a:pt x="0" y="1325"/>
                    </a:lnTo>
                    <a:lnTo>
                      <a:pt x="0" y="1265"/>
                    </a:lnTo>
                    <a:lnTo>
                      <a:pt x="0" y="1206"/>
                    </a:lnTo>
                    <a:lnTo>
                      <a:pt x="4" y="1147"/>
                    </a:lnTo>
                    <a:lnTo>
                      <a:pt x="9" y="1088"/>
                    </a:lnTo>
                    <a:lnTo>
                      <a:pt x="15" y="1031"/>
                    </a:lnTo>
                    <a:lnTo>
                      <a:pt x="25" y="972"/>
                    </a:lnTo>
                    <a:lnTo>
                      <a:pt x="34" y="915"/>
                    </a:lnTo>
                    <a:lnTo>
                      <a:pt x="45" y="858"/>
                    </a:lnTo>
                    <a:lnTo>
                      <a:pt x="59" y="801"/>
                    </a:lnTo>
                    <a:lnTo>
                      <a:pt x="74" y="746"/>
                    </a:lnTo>
                    <a:lnTo>
                      <a:pt x="91" y="689"/>
                    </a:lnTo>
                    <a:lnTo>
                      <a:pt x="110" y="634"/>
                    </a:lnTo>
                    <a:lnTo>
                      <a:pt x="131" y="579"/>
                    </a:lnTo>
                    <a:lnTo>
                      <a:pt x="152" y="524"/>
                    </a:lnTo>
                    <a:lnTo>
                      <a:pt x="175" y="471"/>
                    </a:lnTo>
                    <a:lnTo>
                      <a:pt x="201" y="416"/>
                    </a:lnTo>
                    <a:lnTo>
                      <a:pt x="228" y="363"/>
                    </a:lnTo>
                    <a:lnTo>
                      <a:pt x="256" y="309"/>
                    </a:lnTo>
                    <a:lnTo>
                      <a:pt x="287" y="256"/>
                    </a:lnTo>
                    <a:lnTo>
                      <a:pt x="317" y="205"/>
                    </a:lnTo>
                    <a:lnTo>
                      <a:pt x="351" y="154"/>
                    </a:lnTo>
                    <a:lnTo>
                      <a:pt x="385" y="102"/>
                    </a:lnTo>
                    <a:lnTo>
                      <a:pt x="423" y="51"/>
                    </a:lnTo>
                    <a:lnTo>
                      <a:pt x="461" y="0"/>
                    </a:lnTo>
                    <a:lnTo>
                      <a:pt x="2159" y="1327"/>
                    </a:lnTo>
                    <a:close/>
                  </a:path>
                </a:pathLst>
              </a:custGeom>
              <a:solidFill>
                <a:srgbClr val="0070C0"/>
              </a:solidFill>
              <a:ln w="3175" cmpd="sng">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9" name="Freeform 7"/>
              <p:cNvSpPr>
                <a:spLocks/>
              </p:cNvSpPr>
              <p:nvPr/>
            </p:nvSpPr>
            <p:spPr bwMode="auto">
              <a:xfrm>
                <a:off x="7078031" y="3981165"/>
                <a:ext cx="1486202" cy="1381459"/>
              </a:xfrm>
              <a:custGeom>
                <a:avLst/>
                <a:gdLst/>
                <a:ahLst/>
                <a:cxnLst>
                  <a:cxn ang="0">
                    <a:pos x="2100" y="0"/>
                  </a:cxn>
                  <a:cxn ang="0">
                    <a:pos x="1190" y="1952"/>
                  </a:cxn>
                  <a:cxn ang="0">
                    <a:pos x="1190" y="1952"/>
                  </a:cxn>
                  <a:cxn ang="0">
                    <a:pos x="1132" y="1926"/>
                  </a:cxn>
                  <a:cxn ang="0">
                    <a:pos x="1076" y="1897"/>
                  </a:cxn>
                  <a:cxn ang="0">
                    <a:pos x="1021" y="1867"/>
                  </a:cxn>
                  <a:cxn ang="0">
                    <a:pos x="968" y="1835"/>
                  </a:cxn>
                  <a:cxn ang="0">
                    <a:pos x="915" y="1802"/>
                  </a:cxn>
                  <a:cxn ang="0">
                    <a:pos x="864" y="1768"/>
                  </a:cxn>
                  <a:cxn ang="0">
                    <a:pos x="814" y="1732"/>
                  </a:cxn>
                  <a:cxn ang="0">
                    <a:pos x="765" y="1696"/>
                  </a:cxn>
                  <a:cxn ang="0">
                    <a:pos x="718" y="1658"/>
                  </a:cxn>
                  <a:cxn ang="0">
                    <a:pos x="672" y="1618"/>
                  </a:cxn>
                  <a:cxn ang="0">
                    <a:pos x="626" y="1578"/>
                  </a:cxn>
                  <a:cxn ang="0">
                    <a:pos x="583" y="1536"/>
                  </a:cxn>
                  <a:cxn ang="0">
                    <a:pos x="541" y="1495"/>
                  </a:cxn>
                  <a:cxn ang="0">
                    <a:pos x="499" y="1451"/>
                  </a:cxn>
                  <a:cxn ang="0">
                    <a:pos x="459" y="1405"/>
                  </a:cxn>
                  <a:cxn ang="0">
                    <a:pos x="421" y="1360"/>
                  </a:cxn>
                  <a:cxn ang="0">
                    <a:pos x="385" y="1312"/>
                  </a:cxn>
                  <a:cxn ang="0">
                    <a:pos x="349" y="1265"/>
                  </a:cxn>
                  <a:cxn ang="0">
                    <a:pos x="315" y="1216"/>
                  </a:cxn>
                  <a:cxn ang="0">
                    <a:pos x="281" y="1164"/>
                  </a:cxn>
                  <a:cxn ang="0">
                    <a:pos x="250" y="1113"/>
                  </a:cxn>
                  <a:cxn ang="0">
                    <a:pos x="220" y="1062"/>
                  </a:cxn>
                  <a:cxn ang="0">
                    <a:pos x="192" y="1007"/>
                  </a:cxn>
                  <a:cxn ang="0">
                    <a:pos x="165" y="954"/>
                  </a:cxn>
                  <a:cxn ang="0">
                    <a:pos x="138" y="898"/>
                  </a:cxn>
                  <a:cxn ang="0">
                    <a:pos x="114" y="841"/>
                  </a:cxn>
                  <a:cxn ang="0">
                    <a:pos x="91" y="784"/>
                  </a:cxn>
                  <a:cxn ang="0">
                    <a:pos x="70" y="726"/>
                  </a:cxn>
                  <a:cxn ang="0">
                    <a:pos x="51" y="667"/>
                  </a:cxn>
                  <a:cxn ang="0">
                    <a:pos x="32" y="608"/>
                  </a:cxn>
                  <a:cxn ang="0">
                    <a:pos x="15" y="547"/>
                  </a:cxn>
                  <a:cxn ang="0">
                    <a:pos x="0" y="484"/>
                  </a:cxn>
                  <a:cxn ang="0">
                    <a:pos x="2100" y="0"/>
                  </a:cxn>
                </a:cxnLst>
                <a:rect l="0" t="0" r="r" b="b"/>
                <a:pathLst>
                  <a:path w="2100" h="1952">
                    <a:moveTo>
                      <a:pt x="2100" y="0"/>
                    </a:moveTo>
                    <a:lnTo>
                      <a:pt x="1190" y="1952"/>
                    </a:lnTo>
                    <a:lnTo>
                      <a:pt x="1190" y="1952"/>
                    </a:lnTo>
                    <a:lnTo>
                      <a:pt x="1132" y="1926"/>
                    </a:lnTo>
                    <a:lnTo>
                      <a:pt x="1076" y="1897"/>
                    </a:lnTo>
                    <a:lnTo>
                      <a:pt x="1021" y="1867"/>
                    </a:lnTo>
                    <a:lnTo>
                      <a:pt x="968" y="1835"/>
                    </a:lnTo>
                    <a:lnTo>
                      <a:pt x="915" y="1802"/>
                    </a:lnTo>
                    <a:lnTo>
                      <a:pt x="864" y="1768"/>
                    </a:lnTo>
                    <a:lnTo>
                      <a:pt x="814" y="1732"/>
                    </a:lnTo>
                    <a:lnTo>
                      <a:pt x="765" y="1696"/>
                    </a:lnTo>
                    <a:lnTo>
                      <a:pt x="718" y="1658"/>
                    </a:lnTo>
                    <a:lnTo>
                      <a:pt x="672" y="1618"/>
                    </a:lnTo>
                    <a:lnTo>
                      <a:pt x="626" y="1578"/>
                    </a:lnTo>
                    <a:lnTo>
                      <a:pt x="583" y="1536"/>
                    </a:lnTo>
                    <a:lnTo>
                      <a:pt x="541" y="1495"/>
                    </a:lnTo>
                    <a:lnTo>
                      <a:pt x="499" y="1451"/>
                    </a:lnTo>
                    <a:lnTo>
                      <a:pt x="459" y="1405"/>
                    </a:lnTo>
                    <a:lnTo>
                      <a:pt x="421" y="1360"/>
                    </a:lnTo>
                    <a:lnTo>
                      <a:pt x="385" y="1312"/>
                    </a:lnTo>
                    <a:lnTo>
                      <a:pt x="349" y="1265"/>
                    </a:lnTo>
                    <a:lnTo>
                      <a:pt x="315" y="1216"/>
                    </a:lnTo>
                    <a:lnTo>
                      <a:pt x="281" y="1164"/>
                    </a:lnTo>
                    <a:lnTo>
                      <a:pt x="250" y="1113"/>
                    </a:lnTo>
                    <a:lnTo>
                      <a:pt x="220" y="1062"/>
                    </a:lnTo>
                    <a:lnTo>
                      <a:pt x="192" y="1007"/>
                    </a:lnTo>
                    <a:lnTo>
                      <a:pt x="165" y="954"/>
                    </a:lnTo>
                    <a:lnTo>
                      <a:pt x="138" y="898"/>
                    </a:lnTo>
                    <a:lnTo>
                      <a:pt x="114" y="841"/>
                    </a:lnTo>
                    <a:lnTo>
                      <a:pt x="91" y="784"/>
                    </a:lnTo>
                    <a:lnTo>
                      <a:pt x="70" y="726"/>
                    </a:lnTo>
                    <a:lnTo>
                      <a:pt x="51" y="667"/>
                    </a:lnTo>
                    <a:lnTo>
                      <a:pt x="32" y="608"/>
                    </a:lnTo>
                    <a:lnTo>
                      <a:pt x="15" y="547"/>
                    </a:lnTo>
                    <a:lnTo>
                      <a:pt x="0" y="484"/>
                    </a:lnTo>
                    <a:lnTo>
                      <a:pt x="2100" y="0"/>
                    </a:lnTo>
                    <a:close/>
                  </a:path>
                </a:pathLst>
              </a:custGeom>
              <a:solidFill>
                <a:srgbClr val="00B0F0"/>
              </a:solidFill>
              <a:ln w="3175" cmpd="sng">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0" name="Freeform 8"/>
              <p:cNvSpPr>
                <a:spLocks/>
              </p:cNvSpPr>
              <p:nvPr/>
            </p:nvSpPr>
            <p:spPr bwMode="auto">
              <a:xfrm>
                <a:off x="8120070" y="3983192"/>
                <a:ext cx="927919" cy="1082406"/>
              </a:xfrm>
              <a:custGeom>
                <a:avLst/>
                <a:gdLst/>
                <a:ahLst/>
                <a:cxnLst>
                  <a:cxn ang="0">
                    <a:pos x="910" y="0"/>
                  </a:cxn>
                  <a:cxn ang="0">
                    <a:pos x="1856" y="1937"/>
                  </a:cxn>
                  <a:cxn ang="0">
                    <a:pos x="1856" y="1937"/>
                  </a:cxn>
                  <a:cxn ang="0">
                    <a:pos x="1797" y="1964"/>
                  </a:cxn>
                  <a:cxn ang="0">
                    <a:pos x="1740" y="1988"/>
                  </a:cxn>
                  <a:cxn ang="0">
                    <a:pos x="1683" y="2013"/>
                  </a:cxn>
                  <a:cxn ang="0">
                    <a:pos x="1626" y="2034"/>
                  </a:cxn>
                  <a:cxn ang="0">
                    <a:pos x="1567" y="2055"/>
                  </a:cxn>
                  <a:cxn ang="0">
                    <a:pos x="1510" y="2074"/>
                  </a:cxn>
                  <a:cxn ang="0">
                    <a:pos x="1451" y="2091"/>
                  </a:cxn>
                  <a:cxn ang="0">
                    <a:pos x="1394" y="2106"/>
                  </a:cxn>
                  <a:cxn ang="0">
                    <a:pos x="1335" y="2119"/>
                  </a:cxn>
                  <a:cxn ang="0">
                    <a:pos x="1278" y="2131"/>
                  </a:cxn>
                  <a:cxn ang="0">
                    <a:pos x="1220" y="2140"/>
                  </a:cxn>
                  <a:cxn ang="0">
                    <a:pos x="1163" y="2148"/>
                  </a:cxn>
                  <a:cxn ang="0">
                    <a:pos x="1104" y="2156"/>
                  </a:cxn>
                  <a:cxn ang="0">
                    <a:pos x="1045" y="2159"/>
                  </a:cxn>
                  <a:cxn ang="0">
                    <a:pos x="988" y="2163"/>
                  </a:cxn>
                  <a:cxn ang="0">
                    <a:pos x="929" y="2165"/>
                  </a:cxn>
                  <a:cxn ang="0">
                    <a:pos x="870" y="2163"/>
                  </a:cxn>
                  <a:cxn ang="0">
                    <a:pos x="813" y="2161"/>
                  </a:cxn>
                  <a:cxn ang="0">
                    <a:pos x="754" y="2157"/>
                  </a:cxn>
                  <a:cxn ang="0">
                    <a:pos x="695" y="2152"/>
                  </a:cxn>
                  <a:cxn ang="0">
                    <a:pos x="638" y="2146"/>
                  </a:cxn>
                  <a:cxn ang="0">
                    <a:pos x="580" y="2137"/>
                  </a:cxn>
                  <a:cxn ang="0">
                    <a:pos x="521" y="2125"/>
                  </a:cxn>
                  <a:cxn ang="0">
                    <a:pos x="464" y="2114"/>
                  </a:cxn>
                  <a:cxn ang="0">
                    <a:pos x="405" y="2099"/>
                  </a:cxn>
                  <a:cxn ang="0">
                    <a:pos x="348" y="2083"/>
                  </a:cxn>
                  <a:cxn ang="0">
                    <a:pos x="289" y="2066"/>
                  </a:cxn>
                  <a:cxn ang="0">
                    <a:pos x="230" y="2047"/>
                  </a:cxn>
                  <a:cxn ang="0">
                    <a:pos x="173" y="2026"/>
                  </a:cxn>
                  <a:cxn ang="0">
                    <a:pos x="114" y="2004"/>
                  </a:cxn>
                  <a:cxn ang="0">
                    <a:pos x="57" y="1979"/>
                  </a:cxn>
                  <a:cxn ang="0">
                    <a:pos x="0" y="1952"/>
                  </a:cxn>
                  <a:cxn ang="0">
                    <a:pos x="910" y="0"/>
                  </a:cxn>
                </a:cxnLst>
                <a:rect l="0" t="0" r="r" b="b"/>
                <a:pathLst>
                  <a:path w="1856" h="2165">
                    <a:moveTo>
                      <a:pt x="910" y="0"/>
                    </a:moveTo>
                    <a:lnTo>
                      <a:pt x="1856" y="1937"/>
                    </a:lnTo>
                    <a:lnTo>
                      <a:pt x="1856" y="1937"/>
                    </a:lnTo>
                    <a:lnTo>
                      <a:pt x="1797" y="1964"/>
                    </a:lnTo>
                    <a:lnTo>
                      <a:pt x="1740" y="1988"/>
                    </a:lnTo>
                    <a:lnTo>
                      <a:pt x="1683" y="2013"/>
                    </a:lnTo>
                    <a:lnTo>
                      <a:pt x="1626" y="2034"/>
                    </a:lnTo>
                    <a:lnTo>
                      <a:pt x="1567" y="2055"/>
                    </a:lnTo>
                    <a:lnTo>
                      <a:pt x="1510" y="2074"/>
                    </a:lnTo>
                    <a:lnTo>
                      <a:pt x="1451" y="2091"/>
                    </a:lnTo>
                    <a:lnTo>
                      <a:pt x="1394" y="2106"/>
                    </a:lnTo>
                    <a:lnTo>
                      <a:pt x="1335" y="2119"/>
                    </a:lnTo>
                    <a:lnTo>
                      <a:pt x="1278" y="2131"/>
                    </a:lnTo>
                    <a:lnTo>
                      <a:pt x="1220" y="2140"/>
                    </a:lnTo>
                    <a:lnTo>
                      <a:pt x="1163" y="2148"/>
                    </a:lnTo>
                    <a:lnTo>
                      <a:pt x="1104" y="2156"/>
                    </a:lnTo>
                    <a:lnTo>
                      <a:pt x="1045" y="2159"/>
                    </a:lnTo>
                    <a:lnTo>
                      <a:pt x="988" y="2163"/>
                    </a:lnTo>
                    <a:lnTo>
                      <a:pt x="929" y="2165"/>
                    </a:lnTo>
                    <a:lnTo>
                      <a:pt x="870" y="2163"/>
                    </a:lnTo>
                    <a:lnTo>
                      <a:pt x="813" y="2161"/>
                    </a:lnTo>
                    <a:lnTo>
                      <a:pt x="754" y="2157"/>
                    </a:lnTo>
                    <a:lnTo>
                      <a:pt x="695" y="2152"/>
                    </a:lnTo>
                    <a:lnTo>
                      <a:pt x="638" y="2146"/>
                    </a:lnTo>
                    <a:lnTo>
                      <a:pt x="580" y="2137"/>
                    </a:lnTo>
                    <a:lnTo>
                      <a:pt x="521" y="2125"/>
                    </a:lnTo>
                    <a:lnTo>
                      <a:pt x="464" y="2114"/>
                    </a:lnTo>
                    <a:lnTo>
                      <a:pt x="405" y="2099"/>
                    </a:lnTo>
                    <a:lnTo>
                      <a:pt x="348" y="2083"/>
                    </a:lnTo>
                    <a:lnTo>
                      <a:pt x="289" y="2066"/>
                    </a:lnTo>
                    <a:lnTo>
                      <a:pt x="230" y="2047"/>
                    </a:lnTo>
                    <a:lnTo>
                      <a:pt x="173" y="2026"/>
                    </a:lnTo>
                    <a:lnTo>
                      <a:pt x="114" y="2004"/>
                    </a:lnTo>
                    <a:lnTo>
                      <a:pt x="57" y="1979"/>
                    </a:lnTo>
                    <a:lnTo>
                      <a:pt x="0" y="1952"/>
                    </a:lnTo>
                    <a:lnTo>
                      <a:pt x="910" y="0"/>
                    </a:lnTo>
                    <a:close/>
                  </a:path>
                </a:pathLst>
              </a:custGeom>
              <a:solidFill>
                <a:schemeClr val="accent6">
                  <a:lumMod val="75000"/>
                </a:schemeClr>
              </a:solidFill>
              <a:ln w="3175" cmpd="sng">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1" name="Freeform 9"/>
              <p:cNvSpPr>
                <a:spLocks/>
              </p:cNvSpPr>
              <p:nvPr/>
            </p:nvSpPr>
            <p:spPr bwMode="auto">
              <a:xfrm>
                <a:off x="8585193" y="3987128"/>
                <a:ext cx="1323021" cy="1215697"/>
              </a:xfrm>
              <a:custGeom>
                <a:avLst/>
                <a:gdLst/>
                <a:ahLst/>
                <a:cxnLst>
                  <a:cxn ang="0">
                    <a:pos x="0" y="0"/>
                  </a:cxn>
                  <a:cxn ang="0">
                    <a:pos x="2108" y="448"/>
                  </a:cxn>
                  <a:cxn ang="0">
                    <a:pos x="2108" y="448"/>
                  </a:cxn>
                  <a:cxn ang="0">
                    <a:pos x="2095" y="509"/>
                  </a:cxn>
                  <a:cxn ang="0">
                    <a:pos x="2079" y="572"/>
                  </a:cxn>
                  <a:cxn ang="0">
                    <a:pos x="2060" y="631"/>
                  </a:cxn>
                  <a:cxn ang="0">
                    <a:pos x="2043" y="691"/>
                  </a:cxn>
                  <a:cxn ang="0">
                    <a:pos x="2022" y="748"/>
                  </a:cxn>
                  <a:cxn ang="0">
                    <a:pos x="2001" y="807"/>
                  </a:cxn>
                  <a:cxn ang="0">
                    <a:pos x="1977" y="864"/>
                  </a:cxn>
                  <a:cxn ang="0">
                    <a:pos x="1952" y="919"/>
                  </a:cxn>
                  <a:cxn ang="0">
                    <a:pos x="1926" y="974"/>
                  </a:cxn>
                  <a:cxn ang="0">
                    <a:pos x="1899" y="1028"/>
                  </a:cxn>
                  <a:cxn ang="0">
                    <a:pos x="1870" y="1081"/>
                  </a:cxn>
                  <a:cxn ang="0">
                    <a:pos x="1838" y="1132"/>
                  </a:cxn>
                  <a:cxn ang="0">
                    <a:pos x="1808" y="1183"/>
                  </a:cxn>
                  <a:cxn ang="0">
                    <a:pos x="1774" y="1233"/>
                  </a:cxn>
                  <a:cxn ang="0">
                    <a:pos x="1739" y="1282"/>
                  </a:cxn>
                  <a:cxn ang="0">
                    <a:pos x="1703" y="1329"/>
                  </a:cxn>
                  <a:cxn ang="0">
                    <a:pos x="1665" y="1377"/>
                  </a:cxn>
                  <a:cxn ang="0">
                    <a:pos x="1625" y="1423"/>
                  </a:cxn>
                  <a:cxn ang="0">
                    <a:pos x="1586" y="1466"/>
                  </a:cxn>
                  <a:cxn ang="0">
                    <a:pos x="1544" y="1510"/>
                  </a:cxn>
                  <a:cxn ang="0">
                    <a:pos x="1502" y="1552"/>
                  </a:cxn>
                  <a:cxn ang="0">
                    <a:pos x="1456" y="1593"/>
                  </a:cxn>
                  <a:cxn ang="0">
                    <a:pos x="1411" y="1633"/>
                  </a:cxn>
                  <a:cxn ang="0">
                    <a:pos x="1365" y="1671"/>
                  </a:cxn>
                  <a:cxn ang="0">
                    <a:pos x="1316" y="1709"/>
                  </a:cxn>
                  <a:cxn ang="0">
                    <a:pos x="1267" y="1745"/>
                  </a:cxn>
                  <a:cxn ang="0">
                    <a:pos x="1217" y="1781"/>
                  </a:cxn>
                  <a:cxn ang="0">
                    <a:pos x="1164" y="1814"/>
                  </a:cxn>
                  <a:cxn ang="0">
                    <a:pos x="1111" y="1848"/>
                  </a:cxn>
                  <a:cxn ang="0">
                    <a:pos x="1058" y="1878"/>
                  </a:cxn>
                  <a:cxn ang="0">
                    <a:pos x="1001" y="1909"/>
                  </a:cxn>
                  <a:cxn ang="0">
                    <a:pos x="946" y="1937"/>
                  </a:cxn>
                  <a:cxn ang="0">
                    <a:pos x="0" y="0"/>
                  </a:cxn>
                </a:cxnLst>
                <a:rect l="0" t="0" r="r" b="b"/>
                <a:pathLst>
                  <a:path w="2108" h="1937">
                    <a:moveTo>
                      <a:pt x="0" y="0"/>
                    </a:moveTo>
                    <a:lnTo>
                      <a:pt x="2108" y="448"/>
                    </a:lnTo>
                    <a:lnTo>
                      <a:pt x="2108" y="448"/>
                    </a:lnTo>
                    <a:lnTo>
                      <a:pt x="2095" y="509"/>
                    </a:lnTo>
                    <a:lnTo>
                      <a:pt x="2079" y="572"/>
                    </a:lnTo>
                    <a:lnTo>
                      <a:pt x="2060" y="631"/>
                    </a:lnTo>
                    <a:lnTo>
                      <a:pt x="2043" y="691"/>
                    </a:lnTo>
                    <a:lnTo>
                      <a:pt x="2022" y="748"/>
                    </a:lnTo>
                    <a:lnTo>
                      <a:pt x="2001" y="807"/>
                    </a:lnTo>
                    <a:lnTo>
                      <a:pt x="1977" y="864"/>
                    </a:lnTo>
                    <a:lnTo>
                      <a:pt x="1952" y="919"/>
                    </a:lnTo>
                    <a:lnTo>
                      <a:pt x="1926" y="974"/>
                    </a:lnTo>
                    <a:lnTo>
                      <a:pt x="1899" y="1028"/>
                    </a:lnTo>
                    <a:lnTo>
                      <a:pt x="1870" y="1081"/>
                    </a:lnTo>
                    <a:lnTo>
                      <a:pt x="1838" y="1132"/>
                    </a:lnTo>
                    <a:lnTo>
                      <a:pt x="1808" y="1183"/>
                    </a:lnTo>
                    <a:lnTo>
                      <a:pt x="1774" y="1233"/>
                    </a:lnTo>
                    <a:lnTo>
                      <a:pt x="1739" y="1282"/>
                    </a:lnTo>
                    <a:lnTo>
                      <a:pt x="1703" y="1329"/>
                    </a:lnTo>
                    <a:lnTo>
                      <a:pt x="1665" y="1377"/>
                    </a:lnTo>
                    <a:lnTo>
                      <a:pt x="1625" y="1423"/>
                    </a:lnTo>
                    <a:lnTo>
                      <a:pt x="1586" y="1466"/>
                    </a:lnTo>
                    <a:lnTo>
                      <a:pt x="1544" y="1510"/>
                    </a:lnTo>
                    <a:lnTo>
                      <a:pt x="1502" y="1552"/>
                    </a:lnTo>
                    <a:lnTo>
                      <a:pt x="1456" y="1593"/>
                    </a:lnTo>
                    <a:lnTo>
                      <a:pt x="1411" y="1633"/>
                    </a:lnTo>
                    <a:lnTo>
                      <a:pt x="1365" y="1671"/>
                    </a:lnTo>
                    <a:lnTo>
                      <a:pt x="1316" y="1709"/>
                    </a:lnTo>
                    <a:lnTo>
                      <a:pt x="1267" y="1745"/>
                    </a:lnTo>
                    <a:lnTo>
                      <a:pt x="1217" y="1781"/>
                    </a:lnTo>
                    <a:lnTo>
                      <a:pt x="1164" y="1814"/>
                    </a:lnTo>
                    <a:lnTo>
                      <a:pt x="1111" y="1848"/>
                    </a:lnTo>
                    <a:lnTo>
                      <a:pt x="1058" y="1878"/>
                    </a:lnTo>
                    <a:lnTo>
                      <a:pt x="1001" y="1909"/>
                    </a:lnTo>
                    <a:lnTo>
                      <a:pt x="946" y="1937"/>
                    </a:lnTo>
                    <a:lnTo>
                      <a:pt x="0" y="0"/>
                    </a:lnTo>
                    <a:close/>
                  </a:path>
                </a:pathLst>
              </a:custGeom>
              <a:solidFill>
                <a:srgbClr val="FFD400"/>
              </a:solidFill>
              <a:ln w="3175" cmpd="sng">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2" name="Freeform 10"/>
              <p:cNvSpPr>
                <a:spLocks/>
              </p:cNvSpPr>
              <p:nvPr/>
            </p:nvSpPr>
            <p:spPr bwMode="auto">
              <a:xfrm>
                <a:off x="8573799" y="2922618"/>
                <a:ext cx="1697624" cy="1399980"/>
              </a:xfrm>
              <a:custGeom>
                <a:avLst/>
                <a:gdLst/>
                <a:ahLst/>
                <a:cxnLst>
                  <a:cxn ang="0">
                    <a:pos x="0" y="1356"/>
                  </a:cxn>
                  <a:cxn ang="0">
                    <a:pos x="1675" y="0"/>
                  </a:cxn>
                  <a:cxn ang="0">
                    <a:pos x="1675" y="0"/>
                  </a:cxn>
                  <a:cxn ang="0">
                    <a:pos x="1715" y="50"/>
                  </a:cxn>
                  <a:cxn ang="0">
                    <a:pos x="1753" y="99"/>
                  </a:cxn>
                  <a:cxn ang="0">
                    <a:pos x="1787" y="150"/>
                  </a:cxn>
                  <a:cxn ang="0">
                    <a:pos x="1823" y="202"/>
                  </a:cxn>
                  <a:cxn ang="0">
                    <a:pos x="1855" y="253"/>
                  </a:cxn>
                  <a:cxn ang="0">
                    <a:pos x="1886" y="306"/>
                  </a:cxn>
                  <a:cxn ang="0">
                    <a:pos x="1916" y="357"/>
                  </a:cxn>
                  <a:cxn ang="0">
                    <a:pos x="1943" y="411"/>
                  </a:cxn>
                  <a:cxn ang="0">
                    <a:pos x="1969" y="464"/>
                  </a:cxn>
                  <a:cxn ang="0">
                    <a:pos x="1994" y="519"/>
                  </a:cxn>
                  <a:cxn ang="0">
                    <a:pos x="2017" y="572"/>
                  </a:cxn>
                  <a:cxn ang="0">
                    <a:pos x="2038" y="627"/>
                  </a:cxn>
                  <a:cxn ang="0">
                    <a:pos x="2057" y="682"/>
                  </a:cxn>
                  <a:cxn ang="0">
                    <a:pos x="2074" y="739"/>
                  </a:cxn>
                  <a:cxn ang="0">
                    <a:pos x="2091" y="794"/>
                  </a:cxn>
                  <a:cxn ang="0">
                    <a:pos x="2104" y="851"/>
                  </a:cxn>
                  <a:cxn ang="0">
                    <a:pos x="2117" y="908"/>
                  </a:cxn>
                  <a:cxn ang="0">
                    <a:pos x="2129" y="965"/>
                  </a:cxn>
                  <a:cxn ang="0">
                    <a:pos x="2138" y="1022"/>
                  </a:cxn>
                  <a:cxn ang="0">
                    <a:pos x="2146" y="1081"/>
                  </a:cxn>
                  <a:cxn ang="0">
                    <a:pos x="2152" y="1138"/>
                  </a:cxn>
                  <a:cxn ang="0">
                    <a:pos x="2157" y="1197"/>
                  </a:cxn>
                  <a:cxn ang="0">
                    <a:pos x="2159" y="1258"/>
                  </a:cxn>
                  <a:cxn ang="0">
                    <a:pos x="2161" y="1316"/>
                  </a:cxn>
                  <a:cxn ang="0">
                    <a:pos x="2159" y="1375"/>
                  </a:cxn>
                  <a:cxn ang="0">
                    <a:pos x="2157" y="1436"/>
                  </a:cxn>
                  <a:cxn ang="0">
                    <a:pos x="2153" y="1497"/>
                  </a:cxn>
                  <a:cxn ang="0">
                    <a:pos x="2148" y="1558"/>
                  </a:cxn>
                  <a:cxn ang="0">
                    <a:pos x="2140" y="1618"/>
                  </a:cxn>
                  <a:cxn ang="0">
                    <a:pos x="2131" y="1681"/>
                  </a:cxn>
                  <a:cxn ang="0">
                    <a:pos x="2121" y="1742"/>
                  </a:cxn>
                  <a:cxn ang="0">
                    <a:pos x="2108" y="1804"/>
                  </a:cxn>
                  <a:cxn ang="0">
                    <a:pos x="0" y="1356"/>
                  </a:cxn>
                </a:cxnLst>
                <a:rect l="0" t="0" r="r" b="b"/>
                <a:pathLst>
                  <a:path w="2161" h="1804">
                    <a:moveTo>
                      <a:pt x="0" y="1356"/>
                    </a:moveTo>
                    <a:lnTo>
                      <a:pt x="1675" y="0"/>
                    </a:lnTo>
                    <a:lnTo>
                      <a:pt x="1675" y="0"/>
                    </a:lnTo>
                    <a:lnTo>
                      <a:pt x="1715" y="50"/>
                    </a:lnTo>
                    <a:lnTo>
                      <a:pt x="1753" y="99"/>
                    </a:lnTo>
                    <a:lnTo>
                      <a:pt x="1787" y="150"/>
                    </a:lnTo>
                    <a:lnTo>
                      <a:pt x="1823" y="202"/>
                    </a:lnTo>
                    <a:lnTo>
                      <a:pt x="1855" y="253"/>
                    </a:lnTo>
                    <a:lnTo>
                      <a:pt x="1886" y="306"/>
                    </a:lnTo>
                    <a:lnTo>
                      <a:pt x="1916" y="357"/>
                    </a:lnTo>
                    <a:lnTo>
                      <a:pt x="1943" y="411"/>
                    </a:lnTo>
                    <a:lnTo>
                      <a:pt x="1969" y="464"/>
                    </a:lnTo>
                    <a:lnTo>
                      <a:pt x="1994" y="519"/>
                    </a:lnTo>
                    <a:lnTo>
                      <a:pt x="2017" y="572"/>
                    </a:lnTo>
                    <a:lnTo>
                      <a:pt x="2038" y="627"/>
                    </a:lnTo>
                    <a:lnTo>
                      <a:pt x="2057" y="682"/>
                    </a:lnTo>
                    <a:lnTo>
                      <a:pt x="2074" y="739"/>
                    </a:lnTo>
                    <a:lnTo>
                      <a:pt x="2091" y="794"/>
                    </a:lnTo>
                    <a:lnTo>
                      <a:pt x="2104" y="851"/>
                    </a:lnTo>
                    <a:lnTo>
                      <a:pt x="2117" y="908"/>
                    </a:lnTo>
                    <a:lnTo>
                      <a:pt x="2129" y="965"/>
                    </a:lnTo>
                    <a:lnTo>
                      <a:pt x="2138" y="1022"/>
                    </a:lnTo>
                    <a:lnTo>
                      <a:pt x="2146" y="1081"/>
                    </a:lnTo>
                    <a:lnTo>
                      <a:pt x="2152" y="1138"/>
                    </a:lnTo>
                    <a:lnTo>
                      <a:pt x="2157" y="1197"/>
                    </a:lnTo>
                    <a:lnTo>
                      <a:pt x="2159" y="1258"/>
                    </a:lnTo>
                    <a:lnTo>
                      <a:pt x="2161" y="1316"/>
                    </a:lnTo>
                    <a:lnTo>
                      <a:pt x="2159" y="1375"/>
                    </a:lnTo>
                    <a:lnTo>
                      <a:pt x="2157" y="1436"/>
                    </a:lnTo>
                    <a:lnTo>
                      <a:pt x="2153" y="1497"/>
                    </a:lnTo>
                    <a:lnTo>
                      <a:pt x="2148" y="1558"/>
                    </a:lnTo>
                    <a:lnTo>
                      <a:pt x="2140" y="1618"/>
                    </a:lnTo>
                    <a:lnTo>
                      <a:pt x="2131" y="1681"/>
                    </a:lnTo>
                    <a:lnTo>
                      <a:pt x="2121" y="1742"/>
                    </a:lnTo>
                    <a:lnTo>
                      <a:pt x="2108" y="1804"/>
                    </a:lnTo>
                    <a:lnTo>
                      <a:pt x="0" y="1356"/>
                    </a:lnTo>
                    <a:close/>
                  </a:path>
                </a:pathLst>
              </a:custGeom>
              <a:solidFill>
                <a:srgbClr val="FF7E00"/>
              </a:solidFill>
              <a:ln w="3175" cmpd="sng">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3" name="Freeform 11"/>
              <p:cNvSpPr>
                <a:spLocks/>
              </p:cNvSpPr>
              <p:nvPr/>
            </p:nvSpPr>
            <p:spPr bwMode="auto">
              <a:xfrm>
                <a:off x="8575213" y="2780971"/>
                <a:ext cx="922101" cy="1186345"/>
              </a:xfrm>
              <a:custGeom>
                <a:avLst/>
                <a:gdLst/>
                <a:ahLst/>
                <a:cxnLst>
                  <a:cxn ang="0">
                    <a:pos x="0" y="2155"/>
                  </a:cxn>
                  <a:cxn ang="0">
                    <a:pos x="0" y="0"/>
                  </a:cxn>
                  <a:cxn ang="0">
                    <a:pos x="0" y="0"/>
                  </a:cxn>
                  <a:cxn ang="0">
                    <a:pos x="65" y="2"/>
                  </a:cxn>
                  <a:cxn ang="0">
                    <a:pos x="127" y="4"/>
                  </a:cxn>
                  <a:cxn ang="0">
                    <a:pos x="188" y="8"/>
                  </a:cxn>
                  <a:cxn ang="0">
                    <a:pos x="251" y="13"/>
                  </a:cxn>
                  <a:cxn ang="0">
                    <a:pos x="311" y="21"/>
                  </a:cxn>
                  <a:cxn ang="0">
                    <a:pos x="370" y="28"/>
                  </a:cxn>
                  <a:cxn ang="0">
                    <a:pos x="429" y="40"/>
                  </a:cxn>
                  <a:cxn ang="0">
                    <a:pos x="488" y="51"/>
                  </a:cxn>
                  <a:cxn ang="0">
                    <a:pos x="547" y="65"/>
                  </a:cxn>
                  <a:cxn ang="0">
                    <a:pos x="604" y="80"/>
                  </a:cxn>
                  <a:cxn ang="0">
                    <a:pos x="661" y="95"/>
                  </a:cxn>
                  <a:cxn ang="0">
                    <a:pos x="716" y="114"/>
                  </a:cxn>
                  <a:cxn ang="0">
                    <a:pos x="771" y="133"/>
                  </a:cxn>
                  <a:cxn ang="0">
                    <a:pos x="826" y="154"/>
                  </a:cxn>
                  <a:cxn ang="0">
                    <a:pos x="879" y="177"/>
                  </a:cxn>
                  <a:cxn ang="0">
                    <a:pos x="932" y="201"/>
                  </a:cxn>
                  <a:cxn ang="0">
                    <a:pos x="984" y="228"/>
                  </a:cxn>
                  <a:cxn ang="0">
                    <a:pos x="1035" y="254"/>
                  </a:cxn>
                  <a:cxn ang="0">
                    <a:pos x="1086" y="283"/>
                  </a:cxn>
                  <a:cxn ang="0">
                    <a:pos x="1136" y="313"/>
                  </a:cxn>
                  <a:cxn ang="0">
                    <a:pos x="1185" y="346"/>
                  </a:cxn>
                  <a:cxn ang="0">
                    <a:pos x="1234" y="380"/>
                  </a:cxn>
                  <a:cxn ang="0">
                    <a:pos x="1282" y="414"/>
                  </a:cxn>
                  <a:cxn ang="0">
                    <a:pos x="1329" y="452"/>
                  </a:cxn>
                  <a:cxn ang="0">
                    <a:pos x="1375" y="490"/>
                  </a:cxn>
                  <a:cxn ang="0">
                    <a:pos x="1420" y="530"/>
                  </a:cxn>
                  <a:cxn ang="0">
                    <a:pos x="1464" y="570"/>
                  </a:cxn>
                  <a:cxn ang="0">
                    <a:pos x="1508" y="613"/>
                  </a:cxn>
                  <a:cxn ang="0">
                    <a:pos x="1551" y="657"/>
                  </a:cxn>
                  <a:cxn ang="0">
                    <a:pos x="1593" y="703"/>
                  </a:cxn>
                  <a:cxn ang="0">
                    <a:pos x="1635" y="750"/>
                  </a:cxn>
                  <a:cxn ang="0">
                    <a:pos x="1675" y="799"/>
                  </a:cxn>
                  <a:cxn ang="0">
                    <a:pos x="0" y="2155"/>
                  </a:cxn>
                </a:cxnLst>
                <a:rect l="0" t="0" r="r" b="b"/>
                <a:pathLst>
                  <a:path w="1675" h="2155">
                    <a:moveTo>
                      <a:pt x="0" y="2155"/>
                    </a:moveTo>
                    <a:lnTo>
                      <a:pt x="0" y="0"/>
                    </a:lnTo>
                    <a:lnTo>
                      <a:pt x="0" y="0"/>
                    </a:lnTo>
                    <a:lnTo>
                      <a:pt x="65" y="2"/>
                    </a:lnTo>
                    <a:lnTo>
                      <a:pt x="127" y="4"/>
                    </a:lnTo>
                    <a:lnTo>
                      <a:pt x="188" y="8"/>
                    </a:lnTo>
                    <a:lnTo>
                      <a:pt x="251" y="13"/>
                    </a:lnTo>
                    <a:lnTo>
                      <a:pt x="311" y="21"/>
                    </a:lnTo>
                    <a:lnTo>
                      <a:pt x="370" y="28"/>
                    </a:lnTo>
                    <a:lnTo>
                      <a:pt x="429" y="40"/>
                    </a:lnTo>
                    <a:lnTo>
                      <a:pt x="488" y="51"/>
                    </a:lnTo>
                    <a:lnTo>
                      <a:pt x="547" y="65"/>
                    </a:lnTo>
                    <a:lnTo>
                      <a:pt x="604" y="80"/>
                    </a:lnTo>
                    <a:lnTo>
                      <a:pt x="661" y="95"/>
                    </a:lnTo>
                    <a:lnTo>
                      <a:pt x="716" y="114"/>
                    </a:lnTo>
                    <a:lnTo>
                      <a:pt x="771" y="133"/>
                    </a:lnTo>
                    <a:lnTo>
                      <a:pt x="826" y="154"/>
                    </a:lnTo>
                    <a:lnTo>
                      <a:pt x="879" y="177"/>
                    </a:lnTo>
                    <a:lnTo>
                      <a:pt x="932" y="201"/>
                    </a:lnTo>
                    <a:lnTo>
                      <a:pt x="984" y="228"/>
                    </a:lnTo>
                    <a:lnTo>
                      <a:pt x="1035" y="254"/>
                    </a:lnTo>
                    <a:lnTo>
                      <a:pt x="1086" y="283"/>
                    </a:lnTo>
                    <a:lnTo>
                      <a:pt x="1136" y="313"/>
                    </a:lnTo>
                    <a:lnTo>
                      <a:pt x="1185" y="346"/>
                    </a:lnTo>
                    <a:lnTo>
                      <a:pt x="1234" y="380"/>
                    </a:lnTo>
                    <a:lnTo>
                      <a:pt x="1282" y="414"/>
                    </a:lnTo>
                    <a:lnTo>
                      <a:pt x="1329" y="452"/>
                    </a:lnTo>
                    <a:lnTo>
                      <a:pt x="1375" y="490"/>
                    </a:lnTo>
                    <a:lnTo>
                      <a:pt x="1420" y="530"/>
                    </a:lnTo>
                    <a:lnTo>
                      <a:pt x="1464" y="570"/>
                    </a:lnTo>
                    <a:lnTo>
                      <a:pt x="1508" y="613"/>
                    </a:lnTo>
                    <a:lnTo>
                      <a:pt x="1551" y="657"/>
                    </a:lnTo>
                    <a:lnTo>
                      <a:pt x="1593" y="703"/>
                    </a:lnTo>
                    <a:lnTo>
                      <a:pt x="1635" y="750"/>
                    </a:lnTo>
                    <a:lnTo>
                      <a:pt x="1675" y="799"/>
                    </a:lnTo>
                    <a:lnTo>
                      <a:pt x="0" y="2155"/>
                    </a:lnTo>
                    <a:close/>
                  </a:path>
                </a:pathLst>
              </a:custGeom>
              <a:solidFill>
                <a:srgbClr val="EF2D00"/>
              </a:solidFill>
              <a:ln w="3175" cmpd="sng">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grpSp>
          <p:nvGrpSpPr>
            <p:cNvPr id="90" name="Group 29">
              <a:extLst>
                <a:ext uri="{C183D7F6-B498-43B3-948B-1728B52AA6E4}">
                  <adec:decorative xmlns:adec="http://schemas.microsoft.com/office/drawing/2017/decorative" val="1"/>
                </a:ext>
              </a:extLst>
            </p:cNvPr>
            <p:cNvGrpSpPr/>
            <p:nvPr/>
          </p:nvGrpSpPr>
          <p:grpSpPr>
            <a:xfrm>
              <a:off x="6593935" y="2001577"/>
              <a:ext cx="3956080" cy="3956080"/>
              <a:chOff x="2466978" y="1296990"/>
              <a:chExt cx="4242816" cy="4242816"/>
            </a:xfrm>
            <a:noFill/>
          </p:grpSpPr>
          <p:sp>
            <p:nvSpPr>
              <p:cNvPr id="98" name="Freeform 5"/>
              <p:cNvSpPr>
                <a:spLocks/>
              </p:cNvSpPr>
              <p:nvPr/>
            </p:nvSpPr>
            <p:spPr bwMode="auto">
              <a:xfrm>
                <a:off x="2919742" y="1296990"/>
                <a:ext cx="1667662" cy="2116497"/>
              </a:xfrm>
              <a:custGeom>
                <a:avLst/>
                <a:gdLst/>
                <a:ahLst/>
                <a:cxnLst>
                  <a:cxn ang="0">
                    <a:pos x="1698" y="2155"/>
                  </a:cxn>
                  <a:cxn ang="0">
                    <a:pos x="0" y="828"/>
                  </a:cxn>
                  <a:cxn ang="0">
                    <a:pos x="0" y="828"/>
                  </a:cxn>
                  <a:cxn ang="0">
                    <a:pos x="40" y="779"/>
                  </a:cxn>
                  <a:cxn ang="0">
                    <a:pos x="80" y="731"/>
                  </a:cxn>
                  <a:cxn ang="0">
                    <a:pos x="122" y="684"/>
                  </a:cxn>
                  <a:cxn ang="0">
                    <a:pos x="166" y="640"/>
                  </a:cxn>
                  <a:cxn ang="0">
                    <a:pos x="209" y="596"/>
                  </a:cxn>
                  <a:cxn ang="0">
                    <a:pos x="255" y="553"/>
                  </a:cxn>
                  <a:cxn ang="0">
                    <a:pos x="300" y="513"/>
                  </a:cxn>
                  <a:cxn ang="0">
                    <a:pos x="346" y="473"/>
                  </a:cxn>
                  <a:cxn ang="0">
                    <a:pos x="393" y="435"/>
                  </a:cxn>
                  <a:cxn ang="0">
                    <a:pos x="443" y="399"/>
                  </a:cxn>
                  <a:cxn ang="0">
                    <a:pos x="492" y="365"/>
                  </a:cxn>
                  <a:cxn ang="0">
                    <a:pos x="542" y="330"/>
                  </a:cxn>
                  <a:cxn ang="0">
                    <a:pos x="593" y="300"/>
                  </a:cxn>
                  <a:cxn ang="0">
                    <a:pos x="646" y="270"/>
                  </a:cxn>
                  <a:cxn ang="0">
                    <a:pos x="697" y="241"/>
                  </a:cxn>
                  <a:cxn ang="0">
                    <a:pos x="750" y="213"/>
                  </a:cxn>
                  <a:cxn ang="0">
                    <a:pos x="805" y="188"/>
                  </a:cxn>
                  <a:cxn ang="0">
                    <a:pos x="861" y="163"/>
                  </a:cxn>
                  <a:cxn ang="0">
                    <a:pos x="916" y="142"/>
                  </a:cxn>
                  <a:cxn ang="0">
                    <a:pos x="973" y="122"/>
                  </a:cxn>
                  <a:cxn ang="0">
                    <a:pos x="1030" y="103"/>
                  </a:cxn>
                  <a:cxn ang="0">
                    <a:pos x="1088" y="84"/>
                  </a:cxn>
                  <a:cxn ang="0">
                    <a:pos x="1145" y="68"/>
                  </a:cxn>
                  <a:cxn ang="0">
                    <a:pos x="1204" y="55"/>
                  </a:cxn>
                  <a:cxn ang="0">
                    <a:pos x="1265" y="42"/>
                  </a:cxn>
                  <a:cxn ang="0">
                    <a:pos x="1326" y="30"/>
                  </a:cxn>
                  <a:cxn ang="0">
                    <a:pos x="1387" y="21"/>
                  </a:cxn>
                  <a:cxn ang="0">
                    <a:pos x="1447" y="13"/>
                  </a:cxn>
                  <a:cxn ang="0">
                    <a:pos x="1510" y="8"/>
                  </a:cxn>
                  <a:cxn ang="0">
                    <a:pos x="1573" y="4"/>
                  </a:cxn>
                  <a:cxn ang="0">
                    <a:pos x="1635" y="2"/>
                  </a:cxn>
                  <a:cxn ang="0">
                    <a:pos x="1698" y="0"/>
                  </a:cxn>
                  <a:cxn ang="0">
                    <a:pos x="1698" y="2155"/>
                  </a:cxn>
                </a:cxnLst>
                <a:rect l="0" t="0" r="r" b="b"/>
                <a:pathLst>
                  <a:path w="1698" h="2155">
                    <a:moveTo>
                      <a:pt x="1698" y="2155"/>
                    </a:moveTo>
                    <a:lnTo>
                      <a:pt x="0" y="828"/>
                    </a:lnTo>
                    <a:lnTo>
                      <a:pt x="0" y="828"/>
                    </a:lnTo>
                    <a:lnTo>
                      <a:pt x="40" y="779"/>
                    </a:lnTo>
                    <a:lnTo>
                      <a:pt x="80" y="731"/>
                    </a:lnTo>
                    <a:lnTo>
                      <a:pt x="122" y="684"/>
                    </a:lnTo>
                    <a:lnTo>
                      <a:pt x="166" y="640"/>
                    </a:lnTo>
                    <a:lnTo>
                      <a:pt x="209" y="596"/>
                    </a:lnTo>
                    <a:lnTo>
                      <a:pt x="255" y="553"/>
                    </a:lnTo>
                    <a:lnTo>
                      <a:pt x="300" y="513"/>
                    </a:lnTo>
                    <a:lnTo>
                      <a:pt x="346" y="473"/>
                    </a:lnTo>
                    <a:lnTo>
                      <a:pt x="393" y="435"/>
                    </a:lnTo>
                    <a:lnTo>
                      <a:pt x="443" y="399"/>
                    </a:lnTo>
                    <a:lnTo>
                      <a:pt x="492" y="365"/>
                    </a:lnTo>
                    <a:lnTo>
                      <a:pt x="542" y="330"/>
                    </a:lnTo>
                    <a:lnTo>
                      <a:pt x="593" y="300"/>
                    </a:lnTo>
                    <a:lnTo>
                      <a:pt x="646" y="270"/>
                    </a:lnTo>
                    <a:lnTo>
                      <a:pt x="697" y="241"/>
                    </a:lnTo>
                    <a:lnTo>
                      <a:pt x="750" y="213"/>
                    </a:lnTo>
                    <a:lnTo>
                      <a:pt x="805" y="188"/>
                    </a:lnTo>
                    <a:lnTo>
                      <a:pt x="861" y="163"/>
                    </a:lnTo>
                    <a:lnTo>
                      <a:pt x="916" y="142"/>
                    </a:lnTo>
                    <a:lnTo>
                      <a:pt x="973" y="122"/>
                    </a:lnTo>
                    <a:lnTo>
                      <a:pt x="1030" y="103"/>
                    </a:lnTo>
                    <a:lnTo>
                      <a:pt x="1088" y="84"/>
                    </a:lnTo>
                    <a:lnTo>
                      <a:pt x="1145" y="68"/>
                    </a:lnTo>
                    <a:lnTo>
                      <a:pt x="1204" y="55"/>
                    </a:lnTo>
                    <a:lnTo>
                      <a:pt x="1265" y="42"/>
                    </a:lnTo>
                    <a:lnTo>
                      <a:pt x="1326" y="30"/>
                    </a:lnTo>
                    <a:lnTo>
                      <a:pt x="1387" y="21"/>
                    </a:lnTo>
                    <a:lnTo>
                      <a:pt x="1447" y="13"/>
                    </a:lnTo>
                    <a:lnTo>
                      <a:pt x="1510" y="8"/>
                    </a:lnTo>
                    <a:lnTo>
                      <a:pt x="1573" y="4"/>
                    </a:lnTo>
                    <a:lnTo>
                      <a:pt x="1635" y="2"/>
                    </a:lnTo>
                    <a:lnTo>
                      <a:pt x="1698" y="0"/>
                    </a:lnTo>
                    <a:lnTo>
                      <a:pt x="1698" y="2155"/>
                    </a:lnTo>
                    <a:close/>
                  </a:path>
                </a:pathLst>
              </a:custGeom>
              <a:grpFill/>
              <a:ln w="19050" cmpd="sng">
                <a:solidFill>
                  <a:schemeClr val="tx1"/>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9" name="Freeform 6"/>
              <p:cNvSpPr>
                <a:spLocks/>
              </p:cNvSpPr>
              <p:nvPr/>
            </p:nvSpPr>
            <p:spPr bwMode="auto">
              <a:xfrm>
                <a:off x="2466978" y="2110196"/>
                <a:ext cx="2120426" cy="1778644"/>
              </a:xfrm>
              <a:custGeom>
                <a:avLst/>
                <a:gdLst/>
                <a:ahLst/>
                <a:cxnLst>
                  <a:cxn ang="0">
                    <a:pos x="2159" y="1327"/>
                  </a:cxn>
                  <a:cxn ang="0">
                    <a:pos x="59" y="1811"/>
                  </a:cxn>
                  <a:cxn ang="0">
                    <a:pos x="59" y="1811"/>
                  </a:cxn>
                  <a:cxn ang="0">
                    <a:pos x="45" y="1751"/>
                  </a:cxn>
                  <a:cxn ang="0">
                    <a:pos x="34" y="1688"/>
                  </a:cxn>
                  <a:cxn ang="0">
                    <a:pos x="25" y="1627"/>
                  </a:cxn>
                  <a:cxn ang="0">
                    <a:pos x="15" y="1567"/>
                  </a:cxn>
                  <a:cxn ang="0">
                    <a:pos x="9" y="1506"/>
                  </a:cxn>
                  <a:cxn ang="0">
                    <a:pos x="4" y="1445"/>
                  </a:cxn>
                  <a:cxn ang="0">
                    <a:pos x="0" y="1384"/>
                  </a:cxn>
                  <a:cxn ang="0">
                    <a:pos x="0" y="1325"/>
                  </a:cxn>
                  <a:cxn ang="0">
                    <a:pos x="0" y="1265"/>
                  </a:cxn>
                  <a:cxn ang="0">
                    <a:pos x="0" y="1206"/>
                  </a:cxn>
                  <a:cxn ang="0">
                    <a:pos x="4" y="1147"/>
                  </a:cxn>
                  <a:cxn ang="0">
                    <a:pos x="9" y="1088"/>
                  </a:cxn>
                  <a:cxn ang="0">
                    <a:pos x="15" y="1031"/>
                  </a:cxn>
                  <a:cxn ang="0">
                    <a:pos x="25" y="972"/>
                  </a:cxn>
                  <a:cxn ang="0">
                    <a:pos x="34" y="915"/>
                  </a:cxn>
                  <a:cxn ang="0">
                    <a:pos x="45" y="858"/>
                  </a:cxn>
                  <a:cxn ang="0">
                    <a:pos x="59" y="801"/>
                  </a:cxn>
                  <a:cxn ang="0">
                    <a:pos x="74" y="746"/>
                  </a:cxn>
                  <a:cxn ang="0">
                    <a:pos x="91" y="689"/>
                  </a:cxn>
                  <a:cxn ang="0">
                    <a:pos x="110" y="634"/>
                  </a:cxn>
                  <a:cxn ang="0">
                    <a:pos x="131" y="579"/>
                  </a:cxn>
                  <a:cxn ang="0">
                    <a:pos x="152" y="524"/>
                  </a:cxn>
                  <a:cxn ang="0">
                    <a:pos x="175" y="471"/>
                  </a:cxn>
                  <a:cxn ang="0">
                    <a:pos x="201" y="416"/>
                  </a:cxn>
                  <a:cxn ang="0">
                    <a:pos x="228" y="363"/>
                  </a:cxn>
                  <a:cxn ang="0">
                    <a:pos x="256" y="309"/>
                  </a:cxn>
                  <a:cxn ang="0">
                    <a:pos x="287" y="256"/>
                  </a:cxn>
                  <a:cxn ang="0">
                    <a:pos x="317" y="205"/>
                  </a:cxn>
                  <a:cxn ang="0">
                    <a:pos x="351" y="154"/>
                  </a:cxn>
                  <a:cxn ang="0">
                    <a:pos x="385" y="102"/>
                  </a:cxn>
                  <a:cxn ang="0">
                    <a:pos x="423" y="51"/>
                  </a:cxn>
                  <a:cxn ang="0">
                    <a:pos x="461" y="0"/>
                  </a:cxn>
                  <a:cxn ang="0">
                    <a:pos x="2159" y="1327"/>
                  </a:cxn>
                </a:cxnLst>
                <a:rect l="0" t="0" r="r" b="b"/>
                <a:pathLst>
                  <a:path w="2159" h="1811">
                    <a:moveTo>
                      <a:pt x="2159" y="1327"/>
                    </a:moveTo>
                    <a:lnTo>
                      <a:pt x="59" y="1811"/>
                    </a:lnTo>
                    <a:lnTo>
                      <a:pt x="59" y="1811"/>
                    </a:lnTo>
                    <a:lnTo>
                      <a:pt x="45" y="1751"/>
                    </a:lnTo>
                    <a:lnTo>
                      <a:pt x="34" y="1688"/>
                    </a:lnTo>
                    <a:lnTo>
                      <a:pt x="25" y="1627"/>
                    </a:lnTo>
                    <a:lnTo>
                      <a:pt x="15" y="1567"/>
                    </a:lnTo>
                    <a:lnTo>
                      <a:pt x="9" y="1506"/>
                    </a:lnTo>
                    <a:lnTo>
                      <a:pt x="4" y="1445"/>
                    </a:lnTo>
                    <a:lnTo>
                      <a:pt x="0" y="1384"/>
                    </a:lnTo>
                    <a:lnTo>
                      <a:pt x="0" y="1325"/>
                    </a:lnTo>
                    <a:lnTo>
                      <a:pt x="0" y="1265"/>
                    </a:lnTo>
                    <a:lnTo>
                      <a:pt x="0" y="1206"/>
                    </a:lnTo>
                    <a:lnTo>
                      <a:pt x="4" y="1147"/>
                    </a:lnTo>
                    <a:lnTo>
                      <a:pt x="9" y="1088"/>
                    </a:lnTo>
                    <a:lnTo>
                      <a:pt x="15" y="1031"/>
                    </a:lnTo>
                    <a:lnTo>
                      <a:pt x="25" y="972"/>
                    </a:lnTo>
                    <a:lnTo>
                      <a:pt x="34" y="915"/>
                    </a:lnTo>
                    <a:lnTo>
                      <a:pt x="45" y="858"/>
                    </a:lnTo>
                    <a:lnTo>
                      <a:pt x="59" y="801"/>
                    </a:lnTo>
                    <a:lnTo>
                      <a:pt x="74" y="746"/>
                    </a:lnTo>
                    <a:lnTo>
                      <a:pt x="91" y="689"/>
                    </a:lnTo>
                    <a:lnTo>
                      <a:pt x="110" y="634"/>
                    </a:lnTo>
                    <a:lnTo>
                      <a:pt x="131" y="579"/>
                    </a:lnTo>
                    <a:lnTo>
                      <a:pt x="152" y="524"/>
                    </a:lnTo>
                    <a:lnTo>
                      <a:pt x="175" y="471"/>
                    </a:lnTo>
                    <a:lnTo>
                      <a:pt x="201" y="416"/>
                    </a:lnTo>
                    <a:lnTo>
                      <a:pt x="228" y="363"/>
                    </a:lnTo>
                    <a:lnTo>
                      <a:pt x="256" y="309"/>
                    </a:lnTo>
                    <a:lnTo>
                      <a:pt x="287" y="256"/>
                    </a:lnTo>
                    <a:lnTo>
                      <a:pt x="317" y="205"/>
                    </a:lnTo>
                    <a:lnTo>
                      <a:pt x="351" y="154"/>
                    </a:lnTo>
                    <a:lnTo>
                      <a:pt x="385" y="102"/>
                    </a:lnTo>
                    <a:lnTo>
                      <a:pt x="423" y="51"/>
                    </a:lnTo>
                    <a:lnTo>
                      <a:pt x="461" y="0"/>
                    </a:lnTo>
                    <a:lnTo>
                      <a:pt x="2159" y="1327"/>
                    </a:lnTo>
                    <a:close/>
                  </a:path>
                </a:pathLst>
              </a:custGeom>
              <a:grpFill/>
              <a:ln w="19050" cmpd="sng">
                <a:solidFill>
                  <a:schemeClr val="tx1"/>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0" name="Freeform 7"/>
              <p:cNvSpPr>
                <a:spLocks/>
              </p:cNvSpPr>
              <p:nvPr/>
            </p:nvSpPr>
            <p:spPr bwMode="auto">
              <a:xfrm>
                <a:off x="2524924" y="3413487"/>
                <a:ext cx="2062480" cy="1917124"/>
              </a:xfrm>
              <a:custGeom>
                <a:avLst/>
                <a:gdLst/>
                <a:ahLst/>
                <a:cxnLst>
                  <a:cxn ang="0">
                    <a:pos x="2100" y="0"/>
                  </a:cxn>
                  <a:cxn ang="0">
                    <a:pos x="1190" y="1952"/>
                  </a:cxn>
                  <a:cxn ang="0">
                    <a:pos x="1190" y="1952"/>
                  </a:cxn>
                  <a:cxn ang="0">
                    <a:pos x="1132" y="1926"/>
                  </a:cxn>
                  <a:cxn ang="0">
                    <a:pos x="1076" y="1897"/>
                  </a:cxn>
                  <a:cxn ang="0">
                    <a:pos x="1021" y="1867"/>
                  </a:cxn>
                  <a:cxn ang="0">
                    <a:pos x="968" y="1835"/>
                  </a:cxn>
                  <a:cxn ang="0">
                    <a:pos x="915" y="1802"/>
                  </a:cxn>
                  <a:cxn ang="0">
                    <a:pos x="864" y="1768"/>
                  </a:cxn>
                  <a:cxn ang="0">
                    <a:pos x="814" y="1732"/>
                  </a:cxn>
                  <a:cxn ang="0">
                    <a:pos x="765" y="1696"/>
                  </a:cxn>
                  <a:cxn ang="0">
                    <a:pos x="718" y="1658"/>
                  </a:cxn>
                  <a:cxn ang="0">
                    <a:pos x="672" y="1618"/>
                  </a:cxn>
                  <a:cxn ang="0">
                    <a:pos x="626" y="1578"/>
                  </a:cxn>
                  <a:cxn ang="0">
                    <a:pos x="583" y="1536"/>
                  </a:cxn>
                  <a:cxn ang="0">
                    <a:pos x="541" y="1495"/>
                  </a:cxn>
                  <a:cxn ang="0">
                    <a:pos x="499" y="1451"/>
                  </a:cxn>
                  <a:cxn ang="0">
                    <a:pos x="459" y="1405"/>
                  </a:cxn>
                  <a:cxn ang="0">
                    <a:pos x="421" y="1360"/>
                  </a:cxn>
                  <a:cxn ang="0">
                    <a:pos x="385" y="1312"/>
                  </a:cxn>
                  <a:cxn ang="0">
                    <a:pos x="349" y="1265"/>
                  </a:cxn>
                  <a:cxn ang="0">
                    <a:pos x="315" y="1216"/>
                  </a:cxn>
                  <a:cxn ang="0">
                    <a:pos x="281" y="1164"/>
                  </a:cxn>
                  <a:cxn ang="0">
                    <a:pos x="250" y="1113"/>
                  </a:cxn>
                  <a:cxn ang="0">
                    <a:pos x="220" y="1062"/>
                  </a:cxn>
                  <a:cxn ang="0">
                    <a:pos x="192" y="1007"/>
                  </a:cxn>
                  <a:cxn ang="0">
                    <a:pos x="165" y="954"/>
                  </a:cxn>
                  <a:cxn ang="0">
                    <a:pos x="138" y="898"/>
                  </a:cxn>
                  <a:cxn ang="0">
                    <a:pos x="114" y="841"/>
                  </a:cxn>
                  <a:cxn ang="0">
                    <a:pos x="91" y="784"/>
                  </a:cxn>
                  <a:cxn ang="0">
                    <a:pos x="70" y="726"/>
                  </a:cxn>
                  <a:cxn ang="0">
                    <a:pos x="51" y="667"/>
                  </a:cxn>
                  <a:cxn ang="0">
                    <a:pos x="32" y="608"/>
                  </a:cxn>
                  <a:cxn ang="0">
                    <a:pos x="15" y="547"/>
                  </a:cxn>
                  <a:cxn ang="0">
                    <a:pos x="0" y="484"/>
                  </a:cxn>
                  <a:cxn ang="0">
                    <a:pos x="2100" y="0"/>
                  </a:cxn>
                </a:cxnLst>
                <a:rect l="0" t="0" r="r" b="b"/>
                <a:pathLst>
                  <a:path w="2100" h="1952">
                    <a:moveTo>
                      <a:pt x="2100" y="0"/>
                    </a:moveTo>
                    <a:lnTo>
                      <a:pt x="1190" y="1952"/>
                    </a:lnTo>
                    <a:lnTo>
                      <a:pt x="1190" y="1952"/>
                    </a:lnTo>
                    <a:lnTo>
                      <a:pt x="1132" y="1926"/>
                    </a:lnTo>
                    <a:lnTo>
                      <a:pt x="1076" y="1897"/>
                    </a:lnTo>
                    <a:lnTo>
                      <a:pt x="1021" y="1867"/>
                    </a:lnTo>
                    <a:lnTo>
                      <a:pt x="968" y="1835"/>
                    </a:lnTo>
                    <a:lnTo>
                      <a:pt x="915" y="1802"/>
                    </a:lnTo>
                    <a:lnTo>
                      <a:pt x="864" y="1768"/>
                    </a:lnTo>
                    <a:lnTo>
                      <a:pt x="814" y="1732"/>
                    </a:lnTo>
                    <a:lnTo>
                      <a:pt x="765" y="1696"/>
                    </a:lnTo>
                    <a:lnTo>
                      <a:pt x="718" y="1658"/>
                    </a:lnTo>
                    <a:lnTo>
                      <a:pt x="672" y="1618"/>
                    </a:lnTo>
                    <a:lnTo>
                      <a:pt x="626" y="1578"/>
                    </a:lnTo>
                    <a:lnTo>
                      <a:pt x="583" y="1536"/>
                    </a:lnTo>
                    <a:lnTo>
                      <a:pt x="541" y="1495"/>
                    </a:lnTo>
                    <a:lnTo>
                      <a:pt x="499" y="1451"/>
                    </a:lnTo>
                    <a:lnTo>
                      <a:pt x="459" y="1405"/>
                    </a:lnTo>
                    <a:lnTo>
                      <a:pt x="421" y="1360"/>
                    </a:lnTo>
                    <a:lnTo>
                      <a:pt x="385" y="1312"/>
                    </a:lnTo>
                    <a:lnTo>
                      <a:pt x="349" y="1265"/>
                    </a:lnTo>
                    <a:lnTo>
                      <a:pt x="315" y="1216"/>
                    </a:lnTo>
                    <a:lnTo>
                      <a:pt x="281" y="1164"/>
                    </a:lnTo>
                    <a:lnTo>
                      <a:pt x="250" y="1113"/>
                    </a:lnTo>
                    <a:lnTo>
                      <a:pt x="220" y="1062"/>
                    </a:lnTo>
                    <a:lnTo>
                      <a:pt x="192" y="1007"/>
                    </a:lnTo>
                    <a:lnTo>
                      <a:pt x="165" y="954"/>
                    </a:lnTo>
                    <a:lnTo>
                      <a:pt x="138" y="898"/>
                    </a:lnTo>
                    <a:lnTo>
                      <a:pt x="114" y="841"/>
                    </a:lnTo>
                    <a:lnTo>
                      <a:pt x="91" y="784"/>
                    </a:lnTo>
                    <a:lnTo>
                      <a:pt x="70" y="726"/>
                    </a:lnTo>
                    <a:lnTo>
                      <a:pt x="51" y="667"/>
                    </a:lnTo>
                    <a:lnTo>
                      <a:pt x="32" y="608"/>
                    </a:lnTo>
                    <a:lnTo>
                      <a:pt x="15" y="547"/>
                    </a:lnTo>
                    <a:lnTo>
                      <a:pt x="0" y="484"/>
                    </a:lnTo>
                    <a:lnTo>
                      <a:pt x="2100" y="0"/>
                    </a:lnTo>
                    <a:close/>
                  </a:path>
                </a:pathLst>
              </a:custGeom>
              <a:grpFill/>
              <a:ln w="19050" cmpd="sng">
                <a:solidFill>
                  <a:schemeClr val="tx1"/>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1" name="Freeform 8"/>
              <p:cNvSpPr>
                <a:spLocks/>
              </p:cNvSpPr>
              <p:nvPr/>
            </p:nvSpPr>
            <p:spPr bwMode="auto">
              <a:xfrm>
                <a:off x="3693663" y="3413487"/>
                <a:ext cx="1822839" cy="2126319"/>
              </a:xfrm>
              <a:custGeom>
                <a:avLst/>
                <a:gdLst/>
                <a:ahLst/>
                <a:cxnLst>
                  <a:cxn ang="0">
                    <a:pos x="910" y="0"/>
                  </a:cxn>
                  <a:cxn ang="0">
                    <a:pos x="1856" y="1937"/>
                  </a:cxn>
                  <a:cxn ang="0">
                    <a:pos x="1856" y="1937"/>
                  </a:cxn>
                  <a:cxn ang="0">
                    <a:pos x="1797" y="1964"/>
                  </a:cxn>
                  <a:cxn ang="0">
                    <a:pos x="1740" y="1988"/>
                  </a:cxn>
                  <a:cxn ang="0">
                    <a:pos x="1683" y="2013"/>
                  </a:cxn>
                  <a:cxn ang="0">
                    <a:pos x="1626" y="2034"/>
                  </a:cxn>
                  <a:cxn ang="0">
                    <a:pos x="1567" y="2055"/>
                  </a:cxn>
                  <a:cxn ang="0">
                    <a:pos x="1510" y="2074"/>
                  </a:cxn>
                  <a:cxn ang="0">
                    <a:pos x="1451" y="2091"/>
                  </a:cxn>
                  <a:cxn ang="0">
                    <a:pos x="1394" y="2106"/>
                  </a:cxn>
                  <a:cxn ang="0">
                    <a:pos x="1335" y="2119"/>
                  </a:cxn>
                  <a:cxn ang="0">
                    <a:pos x="1278" y="2131"/>
                  </a:cxn>
                  <a:cxn ang="0">
                    <a:pos x="1220" y="2140"/>
                  </a:cxn>
                  <a:cxn ang="0">
                    <a:pos x="1163" y="2148"/>
                  </a:cxn>
                  <a:cxn ang="0">
                    <a:pos x="1104" y="2156"/>
                  </a:cxn>
                  <a:cxn ang="0">
                    <a:pos x="1045" y="2159"/>
                  </a:cxn>
                  <a:cxn ang="0">
                    <a:pos x="988" y="2163"/>
                  </a:cxn>
                  <a:cxn ang="0">
                    <a:pos x="929" y="2165"/>
                  </a:cxn>
                  <a:cxn ang="0">
                    <a:pos x="870" y="2163"/>
                  </a:cxn>
                  <a:cxn ang="0">
                    <a:pos x="813" y="2161"/>
                  </a:cxn>
                  <a:cxn ang="0">
                    <a:pos x="754" y="2157"/>
                  </a:cxn>
                  <a:cxn ang="0">
                    <a:pos x="695" y="2152"/>
                  </a:cxn>
                  <a:cxn ang="0">
                    <a:pos x="638" y="2146"/>
                  </a:cxn>
                  <a:cxn ang="0">
                    <a:pos x="580" y="2137"/>
                  </a:cxn>
                  <a:cxn ang="0">
                    <a:pos x="521" y="2125"/>
                  </a:cxn>
                  <a:cxn ang="0">
                    <a:pos x="464" y="2114"/>
                  </a:cxn>
                  <a:cxn ang="0">
                    <a:pos x="405" y="2099"/>
                  </a:cxn>
                  <a:cxn ang="0">
                    <a:pos x="348" y="2083"/>
                  </a:cxn>
                  <a:cxn ang="0">
                    <a:pos x="289" y="2066"/>
                  </a:cxn>
                  <a:cxn ang="0">
                    <a:pos x="230" y="2047"/>
                  </a:cxn>
                  <a:cxn ang="0">
                    <a:pos x="173" y="2026"/>
                  </a:cxn>
                  <a:cxn ang="0">
                    <a:pos x="114" y="2004"/>
                  </a:cxn>
                  <a:cxn ang="0">
                    <a:pos x="57" y="1979"/>
                  </a:cxn>
                  <a:cxn ang="0">
                    <a:pos x="0" y="1952"/>
                  </a:cxn>
                  <a:cxn ang="0">
                    <a:pos x="910" y="0"/>
                  </a:cxn>
                </a:cxnLst>
                <a:rect l="0" t="0" r="r" b="b"/>
                <a:pathLst>
                  <a:path w="1856" h="2165">
                    <a:moveTo>
                      <a:pt x="910" y="0"/>
                    </a:moveTo>
                    <a:lnTo>
                      <a:pt x="1856" y="1937"/>
                    </a:lnTo>
                    <a:lnTo>
                      <a:pt x="1856" y="1937"/>
                    </a:lnTo>
                    <a:lnTo>
                      <a:pt x="1797" y="1964"/>
                    </a:lnTo>
                    <a:lnTo>
                      <a:pt x="1740" y="1988"/>
                    </a:lnTo>
                    <a:lnTo>
                      <a:pt x="1683" y="2013"/>
                    </a:lnTo>
                    <a:lnTo>
                      <a:pt x="1626" y="2034"/>
                    </a:lnTo>
                    <a:lnTo>
                      <a:pt x="1567" y="2055"/>
                    </a:lnTo>
                    <a:lnTo>
                      <a:pt x="1510" y="2074"/>
                    </a:lnTo>
                    <a:lnTo>
                      <a:pt x="1451" y="2091"/>
                    </a:lnTo>
                    <a:lnTo>
                      <a:pt x="1394" y="2106"/>
                    </a:lnTo>
                    <a:lnTo>
                      <a:pt x="1335" y="2119"/>
                    </a:lnTo>
                    <a:lnTo>
                      <a:pt x="1278" y="2131"/>
                    </a:lnTo>
                    <a:lnTo>
                      <a:pt x="1220" y="2140"/>
                    </a:lnTo>
                    <a:lnTo>
                      <a:pt x="1163" y="2148"/>
                    </a:lnTo>
                    <a:lnTo>
                      <a:pt x="1104" y="2156"/>
                    </a:lnTo>
                    <a:lnTo>
                      <a:pt x="1045" y="2159"/>
                    </a:lnTo>
                    <a:lnTo>
                      <a:pt x="988" y="2163"/>
                    </a:lnTo>
                    <a:lnTo>
                      <a:pt x="929" y="2165"/>
                    </a:lnTo>
                    <a:lnTo>
                      <a:pt x="870" y="2163"/>
                    </a:lnTo>
                    <a:lnTo>
                      <a:pt x="813" y="2161"/>
                    </a:lnTo>
                    <a:lnTo>
                      <a:pt x="754" y="2157"/>
                    </a:lnTo>
                    <a:lnTo>
                      <a:pt x="695" y="2152"/>
                    </a:lnTo>
                    <a:lnTo>
                      <a:pt x="638" y="2146"/>
                    </a:lnTo>
                    <a:lnTo>
                      <a:pt x="580" y="2137"/>
                    </a:lnTo>
                    <a:lnTo>
                      <a:pt x="521" y="2125"/>
                    </a:lnTo>
                    <a:lnTo>
                      <a:pt x="464" y="2114"/>
                    </a:lnTo>
                    <a:lnTo>
                      <a:pt x="405" y="2099"/>
                    </a:lnTo>
                    <a:lnTo>
                      <a:pt x="348" y="2083"/>
                    </a:lnTo>
                    <a:lnTo>
                      <a:pt x="289" y="2066"/>
                    </a:lnTo>
                    <a:lnTo>
                      <a:pt x="230" y="2047"/>
                    </a:lnTo>
                    <a:lnTo>
                      <a:pt x="173" y="2026"/>
                    </a:lnTo>
                    <a:lnTo>
                      <a:pt x="114" y="2004"/>
                    </a:lnTo>
                    <a:lnTo>
                      <a:pt x="57" y="1979"/>
                    </a:lnTo>
                    <a:lnTo>
                      <a:pt x="0" y="1952"/>
                    </a:lnTo>
                    <a:lnTo>
                      <a:pt x="910" y="0"/>
                    </a:lnTo>
                    <a:close/>
                  </a:path>
                </a:pathLst>
              </a:custGeom>
              <a:grpFill/>
              <a:ln w="19050" cmpd="sng">
                <a:solidFill>
                  <a:schemeClr val="tx1"/>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2" name="Freeform 9"/>
              <p:cNvSpPr>
                <a:spLocks/>
              </p:cNvSpPr>
              <p:nvPr/>
            </p:nvSpPr>
            <p:spPr bwMode="auto">
              <a:xfrm>
                <a:off x="4587404" y="3413487"/>
                <a:ext cx="2070337" cy="1902392"/>
              </a:xfrm>
              <a:custGeom>
                <a:avLst/>
                <a:gdLst/>
                <a:ahLst/>
                <a:cxnLst>
                  <a:cxn ang="0">
                    <a:pos x="0" y="0"/>
                  </a:cxn>
                  <a:cxn ang="0">
                    <a:pos x="2108" y="448"/>
                  </a:cxn>
                  <a:cxn ang="0">
                    <a:pos x="2108" y="448"/>
                  </a:cxn>
                  <a:cxn ang="0">
                    <a:pos x="2095" y="509"/>
                  </a:cxn>
                  <a:cxn ang="0">
                    <a:pos x="2079" y="572"/>
                  </a:cxn>
                  <a:cxn ang="0">
                    <a:pos x="2060" y="631"/>
                  </a:cxn>
                  <a:cxn ang="0">
                    <a:pos x="2043" y="691"/>
                  </a:cxn>
                  <a:cxn ang="0">
                    <a:pos x="2022" y="748"/>
                  </a:cxn>
                  <a:cxn ang="0">
                    <a:pos x="2001" y="807"/>
                  </a:cxn>
                  <a:cxn ang="0">
                    <a:pos x="1977" y="864"/>
                  </a:cxn>
                  <a:cxn ang="0">
                    <a:pos x="1952" y="919"/>
                  </a:cxn>
                  <a:cxn ang="0">
                    <a:pos x="1926" y="974"/>
                  </a:cxn>
                  <a:cxn ang="0">
                    <a:pos x="1899" y="1028"/>
                  </a:cxn>
                  <a:cxn ang="0">
                    <a:pos x="1870" y="1081"/>
                  </a:cxn>
                  <a:cxn ang="0">
                    <a:pos x="1838" y="1132"/>
                  </a:cxn>
                  <a:cxn ang="0">
                    <a:pos x="1808" y="1183"/>
                  </a:cxn>
                  <a:cxn ang="0">
                    <a:pos x="1774" y="1233"/>
                  </a:cxn>
                  <a:cxn ang="0">
                    <a:pos x="1739" y="1282"/>
                  </a:cxn>
                  <a:cxn ang="0">
                    <a:pos x="1703" y="1329"/>
                  </a:cxn>
                  <a:cxn ang="0">
                    <a:pos x="1665" y="1377"/>
                  </a:cxn>
                  <a:cxn ang="0">
                    <a:pos x="1625" y="1423"/>
                  </a:cxn>
                  <a:cxn ang="0">
                    <a:pos x="1586" y="1466"/>
                  </a:cxn>
                  <a:cxn ang="0">
                    <a:pos x="1544" y="1510"/>
                  </a:cxn>
                  <a:cxn ang="0">
                    <a:pos x="1502" y="1552"/>
                  </a:cxn>
                  <a:cxn ang="0">
                    <a:pos x="1456" y="1593"/>
                  </a:cxn>
                  <a:cxn ang="0">
                    <a:pos x="1411" y="1633"/>
                  </a:cxn>
                  <a:cxn ang="0">
                    <a:pos x="1365" y="1671"/>
                  </a:cxn>
                  <a:cxn ang="0">
                    <a:pos x="1316" y="1709"/>
                  </a:cxn>
                  <a:cxn ang="0">
                    <a:pos x="1267" y="1745"/>
                  </a:cxn>
                  <a:cxn ang="0">
                    <a:pos x="1217" y="1781"/>
                  </a:cxn>
                  <a:cxn ang="0">
                    <a:pos x="1164" y="1814"/>
                  </a:cxn>
                  <a:cxn ang="0">
                    <a:pos x="1111" y="1848"/>
                  </a:cxn>
                  <a:cxn ang="0">
                    <a:pos x="1058" y="1878"/>
                  </a:cxn>
                  <a:cxn ang="0">
                    <a:pos x="1001" y="1909"/>
                  </a:cxn>
                  <a:cxn ang="0">
                    <a:pos x="946" y="1937"/>
                  </a:cxn>
                  <a:cxn ang="0">
                    <a:pos x="0" y="0"/>
                  </a:cxn>
                </a:cxnLst>
                <a:rect l="0" t="0" r="r" b="b"/>
                <a:pathLst>
                  <a:path w="2108" h="1937">
                    <a:moveTo>
                      <a:pt x="0" y="0"/>
                    </a:moveTo>
                    <a:lnTo>
                      <a:pt x="2108" y="448"/>
                    </a:lnTo>
                    <a:lnTo>
                      <a:pt x="2108" y="448"/>
                    </a:lnTo>
                    <a:lnTo>
                      <a:pt x="2095" y="509"/>
                    </a:lnTo>
                    <a:lnTo>
                      <a:pt x="2079" y="572"/>
                    </a:lnTo>
                    <a:lnTo>
                      <a:pt x="2060" y="631"/>
                    </a:lnTo>
                    <a:lnTo>
                      <a:pt x="2043" y="691"/>
                    </a:lnTo>
                    <a:lnTo>
                      <a:pt x="2022" y="748"/>
                    </a:lnTo>
                    <a:lnTo>
                      <a:pt x="2001" y="807"/>
                    </a:lnTo>
                    <a:lnTo>
                      <a:pt x="1977" y="864"/>
                    </a:lnTo>
                    <a:lnTo>
                      <a:pt x="1952" y="919"/>
                    </a:lnTo>
                    <a:lnTo>
                      <a:pt x="1926" y="974"/>
                    </a:lnTo>
                    <a:lnTo>
                      <a:pt x="1899" y="1028"/>
                    </a:lnTo>
                    <a:lnTo>
                      <a:pt x="1870" y="1081"/>
                    </a:lnTo>
                    <a:lnTo>
                      <a:pt x="1838" y="1132"/>
                    </a:lnTo>
                    <a:lnTo>
                      <a:pt x="1808" y="1183"/>
                    </a:lnTo>
                    <a:lnTo>
                      <a:pt x="1774" y="1233"/>
                    </a:lnTo>
                    <a:lnTo>
                      <a:pt x="1739" y="1282"/>
                    </a:lnTo>
                    <a:lnTo>
                      <a:pt x="1703" y="1329"/>
                    </a:lnTo>
                    <a:lnTo>
                      <a:pt x="1665" y="1377"/>
                    </a:lnTo>
                    <a:lnTo>
                      <a:pt x="1625" y="1423"/>
                    </a:lnTo>
                    <a:lnTo>
                      <a:pt x="1586" y="1466"/>
                    </a:lnTo>
                    <a:lnTo>
                      <a:pt x="1544" y="1510"/>
                    </a:lnTo>
                    <a:lnTo>
                      <a:pt x="1502" y="1552"/>
                    </a:lnTo>
                    <a:lnTo>
                      <a:pt x="1456" y="1593"/>
                    </a:lnTo>
                    <a:lnTo>
                      <a:pt x="1411" y="1633"/>
                    </a:lnTo>
                    <a:lnTo>
                      <a:pt x="1365" y="1671"/>
                    </a:lnTo>
                    <a:lnTo>
                      <a:pt x="1316" y="1709"/>
                    </a:lnTo>
                    <a:lnTo>
                      <a:pt x="1267" y="1745"/>
                    </a:lnTo>
                    <a:lnTo>
                      <a:pt x="1217" y="1781"/>
                    </a:lnTo>
                    <a:lnTo>
                      <a:pt x="1164" y="1814"/>
                    </a:lnTo>
                    <a:lnTo>
                      <a:pt x="1111" y="1848"/>
                    </a:lnTo>
                    <a:lnTo>
                      <a:pt x="1058" y="1878"/>
                    </a:lnTo>
                    <a:lnTo>
                      <a:pt x="1001" y="1909"/>
                    </a:lnTo>
                    <a:lnTo>
                      <a:pt x="946" y="1937"/>
                    </a:lnTo>
                    <a:lnTo>
                      <a:pt x="0" y="0"/>
                    </a:lnTo>
                    <a:close/>
                  </a:path>
                </a:pathLst>
              </a:custGeom>
              <a:grpFill/>
              <a:ln w="19050" cmpd="sng">
                <a:solidFill>
                  <a:schemeClr val="tx1"/>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3" name="Freeform 10"/>
              <p:cNvSpPr>
                <a:spLocks/>
              </p:cNvSpPr>
              <p:nvPr/>
            </p:nvSpPr>
            <p:spPr bwMode="auto">
              <a:xfrm>
                <a:off x="4587404" y="2081715"/>
                <a:ext cx="2122390" cy="1771768"/>
              </a:xfrm>
              <a:custGeom>
                <a:avLst/>
                <a:gdLst/>
                <a:ahLst/>
                <a:cxnLst>
                  <a:cxn ang="0">
                    <a:pos x="0" y="1356"/>
                  </a:cxn>
                  <a:cxn ang="0">
                    <a:pos x="1675" y="0"/>
                  </a:cxn>
                  <a:cxn ang="0">
                    <a:pos x="1675" y="0"/>
                  </a:cxn>
                  <a:cxn ang="0">
                    <a:pos x="1715" y="50"/>
                  </a:cxn>
                  <a:cxn ang="0">
                    <a:pos x="1753" y="99"/>
                  </a:cxn>
                  <a:cxn ang="0">
                    <a:pos x="1787" y="150"/>
                  </a:cxn>
                  <a:cxn ang="0">
                    <a:pos x="1823" y="202"/>
                  </a:cxn>
                  <a:cxn ang="0">
                    <a:pos x="1855" y="253"/>
                  </a:cxn>
                  <a:cxn ang="0">
                    <a:pos x="1886" y="306"/>
                  </a:cxn>
                  <a:cxn ang="0">
                    <a:pos x="1916" y="357"/>
                  </a:cxn>
                  <a:cxn ang="0">
                    <a:pos x="1943" y="411"/>
                  </a:cxn>
                  <a:cxn ang="0">
                    <a:pos x="1969" y="464"/>
                  </a:cxn>
                  <a:cxn ang="0">
                    <a:pos x="1994" y="519"/>
                  </a:cxn>
                  <a:cxn ang="0">
                    <a:pos x="2017" y="572"/>
                  </a:cxn>
                  <a:cxn ang="0">
                    <a:pos x="2038" y="627"/>
                  </a:cxn>
                  <a:cxn ang="0">
                    <a:pos x="2057" y="682"/>
                  </a:cxn>
                  <a:cxn ang="0">
                    <a:pos x="2074" y="739"/>
                  </a:cxn>
                  <a:cxn ang="0">
                    <a:pos x="2091" y="794"/>
                  </a:cxn>
                  <a:cxn ang="0">
                    <a:pos x="2104" y="851"/>
                  </a:cxn>
                  <a:cxn ang="0">
                    <a:pos x="2117" y="908"/>
                  </a:cxn>
                  <a:cxn ang="0">
                    <a:pos x="2129" y="965"/>
                  </a:cxn>
                  <a:cxn ang="0">
                    <a:pos x="2138" y="1022"/>
                  </a:cxn>
                  <a:cxn ang="0">
                    <a:pos x="2146" y="1081"/>
                  </a:cxn>
                  <a:cxn ang="0">
                    <a:pos x="2152" y="1138"/>
                  </a:cxn>
                  <a:cxn ang="0">
                    <a:pos x="2157" y="1197"/>
                  </a:cxn>
                  <a:cxn ang="0">
                    <a:pos x="2159" y="1258"/>
                  </a:cxn>
                  <a:cxn ang="0">
                    <a:pos x="2161" y="1316"/>
                  </a:cxn>
                  <a:cxn ang="0">
                    <a:pos x="2159" y="1375"/>
                  </a:cxn>
                  <a:cxn ang="0">
                    <a:pos x="2157" y="1436"/>
                  </a:cxn>
                  <a:cxn ang="0">
                    <a:pos x="2153" y="1497"/>
                  </a:cxn>
                  <a:cxn ang="0">
                    <a:pos x="2148" y="1558"/>
                  </a:cxn>
                  <a:cxn ang="0">
                    <a:pos x="2140" y="1618"/>
                  </a:cxn>
                  <a:cxn ang="0">
                    <a:pos x="2131" y="1681"/>
                  </a:cxn>
                  <a:cxn ang="0">
                    <a:pos x="2121" y="1742"/>
                  </a:cxn>
                  <a:cxn ang="0">
                    <a:pos x="2108" y="1804"/>
                  </a:cxn>
                  <a:cxn ang="0">
                    <a:pos x="0" y="1356"/>
                  </a:cxn>
                </a:cxnLst>
                <a:rect l="0" t="0" r="r" b="b"/>
                <a:pathLst>
                  <a:path w="2161" h="1804">
                    <a:moveTo>
                      <a:pt x="0" y="1356"/>
                    </a:moveTo>
                    <a:lnTo>
                      <a:pt x="1675" y="0"/>
                    </a:lnTo>
                    <a:lnTo>
                      <a:pt x="1675" y="0"/>
                    </a:lnTo>
                    <a:lnTo>
                      <a:pt x="1715" y="50"/>
                    </a:lnTo>
                    <a:lnTo>
                      <a:pt x="1753" y="99"/>
                    </a:lnTo>
                    <a:lnTo>
                      <a:pt x="1787" y="150"/>
                    </a:lnTo>
                    <a:lnTo>
                      <a:pt x="1823" y="202"/>
                    </a:lnTo>
                    <a:lnTo>
                      <a:pt x="1855" y="253"/>
                    </a:lnTo>
                    <a:lnTo>
                      <a:pt x="1886" y="306"/>
                    </a:lnTo>
                    <a:lnTo>
                      <a:pt x="1916" y="357"/>
                    </a:lnTo>
                    <a:lnTo>
                      <a:pt x="1943" y="411"/>
                    </a:lnTo>
                    <a:lnTo>
                      <a:pt x="1969" y="464"/>
                    </a:lnTo>
                    <a:lnTo>
                      <a:pt x="1994" y="519"/>
                    </a:lnTo>
                    <a:lnTo>
                      <a:pt x="2017" y="572"/>
                    </a:lnTo>
                    <a:lnTo>
                      <a:pt x="2038" y="627"/>
                    </a:lnTo>
                    <a:lnTo>
                      <a:pt x="2057" y="682"/>
                    </a:lnTo>
                    <a:lnTo>
                      <a:pt x="2074" y="739"/>
                    </a:lnTo>
                    <a:lnTo>
                      <a:pt x="2091" y="794"/>
                    </a:lnTo>
                    <a:lnTo>
                      <a:pt x="2104" y="851"/>
                    </a:lnTo>
                    <a:lnTo>
                      <a:pt x="2117" y="908"/>
                    </a:lnTo>
                    <a:lnTo>
                      <a:pt x="2129" y="965"/>
                    </a:lnTo>
                    <a:lnTo>
                      <a:pt x="2138" y="1022"/>
                    </a:lnTo>
                    <a:lnTo>
                      <a:pt x="2146" y="1081"/>
                    </a:lnTo>
                    <a:lnTo>
                      <a:pt x="2152" y="1138"/>
                    </a:lnTo>
                    <a:lnTo>
                      <a:pt x="2157" y="1197"/>
                    </a:lnTo>
                    <a:lnTo>
                      <a:pt x="2159" y="1258"/>
                    </a:lnTo>
                    <a:lnTo>
                      <a:pt x="2161" y="1316"/>
                    </a:lnTo>
                    <a:lnTo>
                      <a:pt x="2159" y="1375"/>
                    </a:lnTo>
                    <a:lnTo>
                      <a:pt x="2157" y="1436"/>
                    </a:lnTo>
                    <a:lnTo>
                      <a:pt x="2153" y="1497"/>
                    </a:lnTo>
                    <a:lnTo>
                      <a:pt x="2148" y="1558"/>
                    </a:lnTo>
                    <a:lnTo>
                      <a:pt x="2140" y="1618"/>
                    </a:lnTo>
                    <a:lnTo>
                      <a:pt x="2131" y="1681"/>
                    </a:lnTo>
                    <a:lnTo>
                      <a:pt x="2121" y="1742"/>
                    </a:lnTo>
                    <a:lnTo>
                      <a:pt x="2108" y="1804"/>
                    </a:lnTo>
                    <a:lnTo>
                      <a:pt x="0" y="1356"/>
                    </a:lnTo>
                    <a:close/>
                  </a:path>
                </a:pathLst>
              </a:custGeom>
              <a:grpFill/>
              <a:ln w="19050" cmpd="sng">
                <a:solidFill>
                  <a:schemeClr val="tx1"/>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4" name="Freeform 11"/>
              <p:cNvSpPr>
                <a:spLocks/>
              </p:cNvSpPr>
              <p:nvPr/>
            </p:nvSpPr>
            <p:spPr bwMode="auto">
              <a:xfrm>
                <a:off x="4587404" y="1296990"/>
                <a:ext cx="1645073" cy="2116497"/>
              </a:xfrm>
              <a:custGeom>
                <a:avLst/>
                <a:gdLst/>
                <a:ahLst/>
                <a:cxnLst>
                  <a:cxn ang="0">
                    <a:pos x="0" y="2155"/>
                  </a:cxn>
                  <a:cxn ang="0">
                    <a:pos x="0" y="0"/>
                  </a:cxn>
                  <a:cxn ang="0">
                    <a:pos x="0" y="0"/>
                  </a:cxn>
                  <a:cxn ang="0">
                    <a:pos x="65" y="2"/>
                  </a:cxn>
                  <a:cxn ang="0">
                    <a:pos x="127" y="4"/>
                  </a:cxn>
                  <a:cxn ang="0">
                    <a:pos x="188" y="8"/>
                  </a:cxn>
                  <a:cxn ang="0">
                    <a:pos x="251" y="13"/>
                  </a:cxn>
                  <a:cxn ang="0">
                    <a:pos x="311" y="21"/>
                  </a:cxn>
                  <a:cxn ang="0">
                    <a:pos x="370" y="28"/>
                  </a:cxn>
                  <a:cxn ang="0">
                    <a:pos x="429" y="40"/>
                  </a:cxn>
                  <a:cxn ang="0">
                    <a:pos x="488" y="51"/>
                  </a:cxn>
                  <a:cxn ang="0">
                    <a:pos x="547" y="65"/>
                  </a:cxn>
                  <a:cxn ang="0">
                    <a:pos x="604" y="80"/>
                  </a:cxn>
                  <a:cxn ang="0">
                    <a:pos x="661" y="95"/>
                  </a:cxn>
                  <a:cxn ang="0">
                    <a:pos x="716" y="114"/>
                  </a:cxn>
                  <a:cxn ang="0">
                    <a:pos x="771" y="133"/>
                  </a:cxn>
                  <a:cxn ang="0">
                    <a:pos x="826" y="154"/>
                  </a:cxn>
                  <a:cxn ang="0">
                    <a:pos x="879" y="177"/>
                  </a:cxn>
                  <a:cxn ang="0">
                    <a:pos x="932" y="201"/>
                  </a:cxn>
                  <a:cxn ang="0">
                    <a:pos x="984" y="228"/>
                  </a:cxn>
                  <a:cxn ang="0">
                    <a:pos x="1035" y="254"/>
                  </a:cxn>
                  <a:cxn ang="0">
                    <a:pos x="1086" y="283"/>
                  </a:cxn>
                  <a:cxn ang="0">
                    <a:pos x="1136" y="313"/>
                  </a:cxn>
                  <a:cxn ang="0">
                    <a:pos x="1185" y="346"/>
                  </a:cxn>
                  <a:cxn ang="0">
                    <a:pos x="1234" y="380"/>
                  </a:cxn>
                  <a:cxn ang="0">
                    <a:pos x="1282" y="414"/>
                  </a:cxn>
                  <a:cxn ang="0">
                    <a:pos x="1329" y="452"/>
                  </a:cxn>
                  <a:cxn ang="0">
                    <a:pos x="1375" y="490"/>
                  </a:cxn>
                  <a:cxn ang="0">
                    <a:pos x="1420" y="530"/>
                  </a:cxn>
                  <a:cxn ang="0">
                    <a:pos x="1464" y="570"/>
                  </a:cxn>
                  <a:cxn ang="0">
                    <a:pos x="1508" y="613"/>
                  </a:cxn>
                  <a:cxn ang="0">
                    <a:pos x="1551" y="657"/>
                  </a:cxn>
                  <a:cxn ang="0">
                    <a:pos x="1593" y="703"/>
                  </a:cxn>
                  <a:cxn ang="0">
                    <a:pos x="1635" y="750"/>
                  </a:cxn>
                  <a:cxn ang="0">
                    <a:pos x="1675" y="799"/>
                  </a:cxn>
                  <a:cxn ang="0">
                    <a:pos x="0" y="2155"/>
                  </a:cxn>
                </a:cxnLst>
                <a:rect l="0" t="0" r="r" b="b"/>
                <a:pathLst>
                  <a:path w="1675" h="2155">
                    <a:moveTo>
                      <a:pt x="0" y="2155"/>
                    </a:moveTo>
                    <a:lnTo>
                      <a:pt x="0" y="0"/>
                    </a:lnTo>
                    <a:lnTo>
                      <a:pt x="0" y="0"/>
                    </a:lnTo>
                    <a:lnTo>
                      <a:pt x="65" y="2"/>
                    </a:lnTo>
                    <a:lnTo>
                      <a:pt x="127" y="4"/>
                    </a:lnTo>
                    <a:lnTo>
                      <a:pt x="188" y="8"/>
                    </a:lnTo>
                    <a:lnTo>
                      <a:pt x="251" y="13"/>
                    </a:lnTo>
                    <a:lnTo>
                      <a:pt x="311" y="21"/>
                    </a:lnTo>
                    <a:lnTo>
                      <a:pt x="370" y="28"/>
                    </a:lnTo>
                    <a:lnTo>
                      <a:pt x="429" y="40"/>
                    </a:lnTo>
                    <a:lnTo>
                      <a:pt x="488" y="51"/>
                    </a:lnTo>
                    <a:lnTo>
                      <a:pt x="547" y="65"/>
                    </a:lnTo>
                    <a:lnTo>
                      <a:pt x="604" y="80"/>
                    </a:lnTo>
                    <a:lnTo>
                      <a:pt x="661" y="95"/>
                    </a:lnTo>
                    <a:lnTo>
                      <a:pt x="716" y="114"/>
                    </a:lnTo>
                    <a:lnTo>
                      <a:pt x="771" y="133"/>
                    </a:lnTo>
                    <a:lnTo>
                      <a:pt x="826" y="154"/>
                    </a:lnTo>
                    <a:lnTo>
                      <a:pt x="879" y="177"/>
                    </a:lnTo>
                    <a:lnTo>
                      <a:pt x="932" y="201"/>
                    </a:lnTo>
                    <a:lnTo>
                      <a:pt x="984" y="228"/>
                    </a:lnTo>
                    <a:lnTo>
                      <a:pt x="1035" y="254"/>
                    </a:lnTo>
                    <a:lnTo>
                      <a:pt x="1086" y="283"/>
                    </a:lnTo>
                    <a:lnTo>
                      <a:pt x="1136" y="313"/>
                    </a:lnTo>
                    <a:lnTo>
                      <a:pt x="1185" y="346"/>
                    </a:lnTo>
                    <a:lnTo>
                      <a:pt x="1234" y="380"/>
                    </a:lnTo>
                    <a:lnTo>
                      <a:pt x="1282" y="414"/>
                    </a:lnTo>
                    <a:lnTo>
                      <a:pt x="1329" y="452"/>
                    </a:lnTo>
                    <a:lnTo>
                      <a:pt x="1375" y="490"/>
                    </a:lnTo>
                    <a:lnTo>
                      <a:pt x="1420" y="530"/>
                    </a:lnTo>
                    <a:lnTo>
                      <a:pt x="1464" y="570"/>
                    </a:lnTo>
                    <a:lnTo>
                      <a:pt x="1508" y="613"/>
                    </a:lnTo>
                    <a:lnTo>
                      <a:pt x="1551" y="657"/>
                    </a:lnTo>
                    <a:lnTo>
                      <a:pt x="1593" y="703"/>
                    </a:lnTo>
                    <a:lnTo>
                      <a:pt x="1635" y="750"/>
                    </a:lnTo>
                    <a:lnTo>
                      <a:pt x="1675" y="799"/>
                    </a:lnTo>
                    <a:lnTo>
                      <a:pt x="0" y="2155"/>
                    </a:lnTo>
                    <a:close/>
                  </a:path>
                </a:pathLst>
              </a:custGeom>
              <a:grpFill/>
              <a:ln w="19050" cmpd="sng">
                <a:solidFill>
                  <a:schemeClr val="tx1"/>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grpSp>
          <p:nvGrpSpPr>
            <p:cNvPr id="114" name="Group 113">
              <a:extLst>
                <a:ext uri="{C183D7F6-B498-43B3-948B-1728B52AA6E4}">
                  <adec:decorative xmlns:adec="http://schemas.microsoft.com/office/drawing/2017/decorative" val="1"/>
                </a:ext>
              </a:extLst>
            </p:cNvPr>
            <p:cNvGrpSpPr/>
            <p:nvPr/>
          </p:nvGrpSpPr>
          <p:grpSpPr>
            <a:xfrm>
              <a:off x="6878029" y="2279751"/>
              <a:ext cx="3390576" cy="3390574"/>
              <a:chOff x="2147444" y="1017144"/>
              <a:chExt cx="4849112" cy="4849112"/>
            </a:xfrm>
          </p:grpSpPr>
          <p:sp>
            <p:nvSpPr>
              <p:cNvPr id="115" name="Freeform 44"/>
              <p:cNvSpPr>
                <a:spLocks/>
              </p:cNvSpPr>
              <p:nvPr/>
            </p:nvSpPr>
            <p:spPr bwMode="auto">
              <a:xfrm>
                <a:off x="4328422" y="3198122"/>
                <a:ext cx="487156" cy="487156"/>
              </a:xfrm>
              <a:custGeom>
                <a:avLst/>
                <a:gdLst>
                  <a:gd name="T0" fmla="*/ 866 w 866"/>
                  <a:gd name="T1" fmla="*/ 456 h 866"/>
                  <a:gd name="T2" fmla="*/ 856 w 866"/>
                  <a:gd name="T3" fmla="*/ 520 h 866"/>
                  <a:gd name="T4" fmla="*/ 840 w 866"/>
                  <a:gd name="T5" fmla="*/ 581 h 866"/>
                  <a:gd name="T6" fmla="*/ 813 w 866"/>
                  <a:gd name="T7" fmla="*/ 639 h 866"/>
                  <a:gd name="T8" fmla="*/ 779 w 866"/>
                  <a:gd name="T9" fmla="*/ 692 h 866"/>
                  <a:gd name="T10" fmla="*/ 739 w 866"/>
                  <a:gd name="T11" fmla="*/ 739 h 866"/>
                  <a:gd name="T12" fmla="*/ 692 w 866"/>
                  <a:gd name="T13" fmla="*/ 779 h 866"/>
                  <a:gd name="T14" fmla="*/ 639 w 866"/>
                  <a:gd name="T15" fmla="*/ 813 h 866"/>
                  <a:gd name="T16" fmla="*/ 581 w 866"/>
                  <a:gd name="T17" fmla="*/ 840 h 866"/>
                  <a:gd name="T18" fmla="*/ 520 w 866"/>
                  <a:gd name="T19" fmla="*/ 856 h 866"/>
                  <a:gd name="T20" fmla="*/ 456 w 866"/>
                  <a:gd name="T21" fmla="*/ 866 h 866"/>
                  <a:gd name="T22" fmla="*/ 410 w 866"/>
                  <a:gd name="T23" fmla="*/ 866 h 866"/>
                  <a:gd name="T24" fmla="*/ 346 w 866"/>
                  <a:gd name="T25" fmla="*/ 856 h 866"/>
                  <a:gd name="T26" fmla="*/ 285 w 866"/>
                  <a:gd name="T27" fmla="*/ 840 h 866"/>
                  <a:gd name="T28" fmla="*/ 227 w 866"/>
                  <a:gd name="T29" fmla="*/ 813 h 866"/>
                  <a:gd name="T30" fmla="*/ 174 w 866"/>
                  <a:gd name="T31" fmla="*/ 779 h 866"/>
                  <a:gd name="T32" fmla="*/ 127 w 866"/>
                  <a:gd name="T33" fmla="*/ 739 h 866"/>
                  <a:gd name="T34" fmla="*/ 87 w 866"/>
                  <a:gd name="T35" fmla="*/ 692 h 866"/>
                  <a:gd name="T36" fmla="*/ 53 w 866"/>
                  <a:gd name="T37" fmla="*/ 639 h 866"/>
                  <a:gd name="T38" fmla="*/ 26 w 866"/>
                  <a:gd name="T39" fmla="*/ 581 h 866"/>
                  <a:gd name="T40" fmla="*/ 10 w 866"/>
                  <a:gd name="T41" fmla="*/ 520 h 866"/>
                  <a:gd name="T42" fmla="*/ 0 w 866"/>
                  <a:gd name="T43" fmla="*/ 456 h 866"/>
                  <a:gd name="T44" fmla="*/ 0 w 866"/>
                  <a:gd name="T45" fmla="*/ 410 h 866"/>
                  <a:gd name="T46" fmla="*/ 10 w 866"/>
                  <a:gd name="T47" fmla="*/ 346 h 866"/>
                  <a:gd name="T48" fmla="*/ 26 w 866"/>
                  <a:gd name="T49" fmla="*/ 285 h 866"/>
                  <a:gd name="T50" fmla="*/ 53 w 866"/>
                  <a:gd name="T51" fmla="*/ 227 h 866"/>
                  <a:gd name="T52" fmla="*/ 87 w 866"/>
                  <a:gd name="T53" fmla="*/ 174 h 866"/>
                  <a:gd name="T54" fmla="*/ 127 w 866"/>
                  <a:gd name="T55" fmla="*/ 127 h 866"/>
                  <a:gd name="T56" fmla="*/ 174 w 866"/>
                  <a:gd name="T57" fmla="*/ 87 h 866"/>
                  <a:gd name="T58" fmla="*/ 227 w 866"/>
                  <a:gd name="T59" fmla="*/ 53 h 866"/>
                  <a:gd name="T60" fmla="*/ 285 w 866"/>
                  <a:gd name="T61" fmla="*/ 26 h 866"/>
                  <a:gd name="T62" fmla="*/ 346 w 866"/>
                  <a:gd name="T63" fmla="*/ 10 h 866"/>
                  <a:gd name="T64" fmla="*/ 410 w 866"/>
                  <a:gd name="T65" fmla="*/ 0 h 866"/>
                  <a:gd name="T66" fmla="*/ 456 w 866"/>
                  <a:gd name="T67" fmla="*/ 0 h 866"/>
                  <a:gd name="T68" fmla="*/ 520 w 866"/>
                  <a:gd name="T69" fmla="*/ 10 h 866"/>
                  <a:gd name="T70" fmla="*/ 581 w 866"/>
                  <a:gd name="T71" fmla="*/ 26 h 866"/>
                  <a:gd name="T72" fmla="*/ 639 w 866"/>
                  <a:gd name="T73" fmla="*/ 53 h 866"/>
                  <a:gd name="T74" fmla="*/ 692 w 866"/>
                  <a:gd name="T75" fmla="*/ 87 h 866"/>
                  <a:gd name="T76" fmla="*/ 739 w 866"/>
                  <a:gd name="T77" fmla="*/ 127 h 866"/>
                  <a:gd name="T78" fmla="*/ 779 w 866"/>
                  <a:gd name="T79" fmla="*/ 174 h 866"/>
                  <a:gd name="T80" fmla="*/ 813 w 866"/>
                  <a:gd name="T81" fmla="*/ 227 h 866"/>
                  <a:gd name="T82" fmla="*/ 840 w 866"/>
                  <a:gd name="T83" fmla="*/ 285 h 866"/>
                  <a:gd name="T84" fmla="*/ 856 w 866"/>
                  <a:gd name="T85" fmla="*/ 346 h 866"/>
                  <a:gd name="T86" fmla="*/ 866 w 866"/>
                  <a:gd name="T87" fmla="*/ 410 h 8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66" h="866">
                    <a:moveTo>
                      <a:pt x="866" y="433"/>
                    </a:moveTo>
                    <a:lnTo>
                      <a:pt x="866" y="433"/>
                    </a:lnTo>
                    <a:lnTo>
                      <a:pt x="866" y="456"/>
                    </a:lnTo>
                    <a:lnTo>
                      <a:pt x="865" y="476"/>
                    </a:lnTo>
                    <a:lnTo>
                      <a:pt x="861" y="499"/>
                    </a:lnTo>
                    <a:lnTo>
                      <a:pt x="856" y="520"/>
                    </a:lnTo>
                    <a:lnTo>
                      <a:pt x="852" y="541"/>
                    </a:lnTo>
                    <a:lnTo>
                      <a:pt x="847" y="562"/>
                    </a:lnTo>
                    <a:lnTo>
                      <a:pt x="840" y="581"/>
                    </a:lnTo>
                    <a:lnTo>
                      <a:pt x="832" y="602"/>
                    </a:lnTo>
                    <a:lnTo>
                      <a:pt x="823" y="621"/>
                    </a:lnTo>
                    <a:lnTo>
                      <a:pt x="813" y="639"/>
                    </a:lnTo>
                    <a:lnTo>
                      <a:pt x="803" y="657"/>
                    </a:lnTo>
                    <a:lnTo>
                      <a:pt x="792" y="675"/>
                    </a:lnTo>
                    <a:lnTo>
                      <a:pt x="779" y="692"/>
                    </a:lnTo>
                    <a:lnTo>
                      <a:pt x="766" y="708"/>
                    </a:lnTo>
                    <a:lnTo>
                      <a:pt x="753" y="724"/>
                    </a:lnTo>
                    <a:lnTo>
                      <a:pt x="739" y="739"/>
                    </a:lnTo>
                    <a:lnTo>
                      <a:pt x="724" y="753"/>
                    </a:lnTo>
                    <a:lnTo>
                      <a:pt x="708" y="766"/>
                    </a:lnTo>
                    <a:lnTo>
                      <a:pt x="692" y="779"/>
                    </a:lnTo>
                    <a:lnTo>
                      <a:pt x="675" y="792"/>
                    </a:lnTo>
                    <a:lnTo>
                      <a:pt x="657" y="803"/>
                    </a:lnTo>
                    <a:lnTo>
                      <a:pt x="639" y="813"/>
                    </a:lnTo>
                    <a:lnTo>
                      <a:pt x="621" y="823"/>
                    </a:lnTo>
                    <a:lnTo>
                      <a:pt x="602" y="832"/>
                    </a:lnTo>
                    <a:lnTo>
                      <a:pt x="581" y="840"/>
                    </a:lnTo>
                    <a:lnTo>
                      <a:pt x="562" y="847"/>
                    </a:lnTo>
                    <a:lnTo>
                      <a:pt x="541" y="852"/>
                    </a:lnTo>
                    <a:lnTo>
                      <a:pt x="520" y="856"/>
                    </a:lnTo>
                    <a:lnTo>
                      <a:pt x="499" y="861"/>
                    </a:lnTo>
                    <a:lnTo>
                      <a:pt x="476" y="865"/>
                    </a:lnTo>
                    <a:lnTo>
                      <a:pt x="456" y="866"/>
                    </a:lnTo>
                    <a:lnTo>
                      <a:pt x="433" y="866"/>
                    </a:lnTo>
                    <a:lnTo>
                      <a:pt x="433" y="866"/>
                    </a:lnTo>
                    <a:lnTo>
                      <a:pt x="410" y="866"/>
                    </a:lnTo>
                    <a:lnTo>
                      <a:pt x="390" y="865"/>
                    </a:lnTo>
                    <a:lnTo>
                      <a:pt x="367" y="861"/>
                    </a:lnTo>
                    <a:lnTo>
                      <a:pt x="346" y="856"/>
                    </a:lnTo>
                    <a:lnTo>
                      <a:pt x="325" y="852"/>
                    </a:lnTo>
                    <a:lnTo>
                      <a:pt x="304" y="847"/>
                    </a:lnTo>
                    <a:lnTo>
                      <a:pt x="285" y="840"/>
                    </a:lnTo>
                    <a:lnTo>
                      <a:pt x="264" y="832"/>
                    </a:lnTo>
                    <a:lnTo>
                      <a:pt x="245" y="823"/>
                    </a:lnTo>
                    <a:lnTo>
                      <a:pt x="227" y="813"/>
                    </a:lnTo>
                    <a:lnTo>
                      <a:pt x="209" y="803"/>
                    </a:lnTo>
                    <a:lnTo>
                      <a:pt x="191" y="792"/>
                    </a:lnTo>
                    <a:lnTo>
                      <a:pt x="174" y="779"/>
                    </a:lnTo>
                    <a:lnTo>
                      <a:pt x="158" y="766"/>
                    </a:lnTo>
                    <a:lnTo>
                      <a:pt x="142" y="753"/>
                    </a:lnTo>
                    <a:lnTo>
                      <a:pt x="127" y="739"/>
                    </a:lnTo>
                    <a:lnTo>
                      <a:pt x="113" y="724"/>
                    </a:lnTo>
                    <a:lnTo>
                      <a:pt x="100" y="708"/>
                    </a:lnTo>
                    <a:lnTo>
                      <a:pt x="87" y="692"/>
                    </a:lnTo>
                    <a:lnTo>
                      <a:pt x="74" y="675"/>
                    </a:lnTo>
                    <a:lnTo>
                      <a:pt x="63" y="657"/>
                    </a:lnTo>
                    <a:lnTo>
                      <a:pt x="53" y="639"/>
                    </a:lnTo>
                    <a:lnTo>
                      <a:pt x="43" y="621"/>
                    </a:lnTo>
                    <a:lnTo>
                      <a:pt x="34" y="602"/>
                    </a:lnTo>
                    <a:lnTo>
                      <a:pt x="26" y="581"/>
                    </a:lnTo>
                    <a:lnTo>
                      <a:pt x="19" y="562"/>
                    </a:lnTo>
                    <a:lnTo>
                      <a:pt x="14" y="541"/>
                    </a:lnTo>
                    <a:lnTo>
                      <a:pt x="10" y="520"/>
                    </a:lnTo>
                    <a:lnTo>
                      <a:pt x="5" y="499"/>
                    </a:lnTo>
                    <a:lnTo>
                      <a:pt x="1" y="476"/>
                    </a:lnTo>
                    <a:lnTo>
                      <a:pt x="0" y="456"/>
                    </a:lnTo>
                    <a:lnTo>
                      <a:pt x="0" y="433"/>
                    </a:lnTo>
                    <a:lnTo>
                      <a:pt x="0" y="433"/>
                    </a:lnTo>
                    <a:lnTo>
                      <a:pt x="0" y="410"/>
                    </a:lnTo>
                    <a:lnTo>
                      <a:pt x="1" y="390"/>
                    </a:lnTo>
                    <a:lnTo>
                      <a:pt x="5" y="367"/>
                    </a:lnTo>
                    <a:lnTo>
                      <a:pt x="10" y="346"/>
                    </a:lnTo>
                    <a:lnTo>
                      <a:pt x="14" y="325"/>
                    </a:lnTo>
                    <a:lnTo>
                      <a:pt x="19" y="304"/>
                    </a:lnTo>
                    <a:lnTo>
                      <a:pt x="26" y="285"/>
                    </a:lnTo>
                    <a:lnTo>
                      <a:pt x="34" y="264"/>
                    </a:lnTo>
                    <a:lnTo>
                      <a:pt x="43" y="245"/>
                    </a:lnTo>
                    <a:lnTo>
                      <a:pt x="53" y="227"/>
                    </a:lnTo>
                    <a:lnTo>
                      <a:pt x="63" y="209"/>
                    </a:lnTo>
                    <a:lnTo>
                      <a:pt x="74" y="191"/>
                    </a:lnTo>
                    <a:lnTo>
                      <a:pt x="87" y="174"/>
                    </a:lnTo>
                    <a:lnTo>
                      <a:pt x="100" y="158"/>
                    </a:lnTo>
                    <a:lnTo>
                      <a:pt x="113" y="142"/>
                    </a:lnTo>
                    <a:lnTo>
                      <a:pt x="127" y="127"/>
                    </a:lnTo>
                    <a:lnTo>
                      <a:pt x="142" y="113"/>
                    </a:lnTo>
                    <a:lnTo>
                      <a:pt x="158" y="100"/>
                    </a:lnTo>
                    <a:lnTo>
                      <a:pt x="174" y="87"/>
                    </a:lnTo>
                    <a:lnTo>
                      <a:pt x="191" y="74"/>
                    </a:lnTo>
                    <a:lnTo>
                      <a:pt x="209" y="63"/>
                    </a:lnTo>
                    <a:lnTo>
                      <a:pt x="227" y="53"/>
                    </a:lnTo>
                    <a:lnTo>
                      <a:pt x="245" y="43"/>
                    </a:lnTo>
                    <a:lnTo>
                      <a:pt x="264" y="34"/>
                    </a:lnTo>
                    <a:lnTo>
                      <a:pt x="285" y="26"/>
                    </a:lnTo>
                    <a:lnTo>
                      <a:pt x="304" y="19"/>
                    </a:lnTo>
                    <a:lnTo>
                      <a:pt x="325" y="14"/>
                    </a:lnTo>
                    <a:lnTo>
                      <a:pt x="346" y="10"/>
                    </a:lnTo>
                    <a:lnTo>
                      <a:pt x="367" y="5"/>
                    </a:lnTo>
                    <a:lnTo>
                      <a:pt x="390" y="1"/>
                    </a:lnTo>
                    <a:lnTo>
                      <a:pt x="410" y="0"/>
                    </a:lnTo>
                    <a:lnTo>
                      <a:pt x="433" y="0"/>
                    </a:lnTo>
                    <a:lnTo>
                      <a:pt x="433" y="0"/>
                    </a:lnTo>
                    <a:lnTo>
                      <a:pt x="456" y="0"/>
                    </a:lnTo>
                    <a:lnTo>
                      <a:pt x="476" y="1"/>
                    </a:lnTo>
                    <a:lnTo>
                      <a:pt x="499" y="5"/>
                    </a:lnTo>
                    <a:lnTo>
                      <a:pt x="520" y="10"/>
                    </a:lnTo>
                    <a:lnTo>
                      <a:pt x="541" y="14"/>
                    </a:lnTo>
                    <a:lnTo>
                      <a:pt x="562" y="19"/>
                    </a:lnTo>
                    <a:lnTo>
                      <a:pt x="581" y="26"/>
                    </a:lnTo>
                    <a:lnTo>
                      <a:pt x="602" y="34"/>
                    </a:lnTo>
                    <a:lnTo>
                      <a:pt x="621" y="43"/>
                    </a:lnTo>
                    <a:lnTo>
                      <a:pt x="639" y="53"/>
                    </a:lnTo>
                    <a:lnTo>
                      <a:pt x="657" y="63"/>
                    </a:lnTo>
                    <a:lnTo>
                      <a:pt x="675" y="74"/>
                    </a:lnTo>
                    <a:lnTo>
                      <a:pt x="692" y="87"/>
                    </a:lnTo>
                    <a:lnTo>
                      <a:pt x="708" y="100"/>
                    </a:lnTo>
                    <a:lnTo>
                      <a:pt x="724" y="113"/>
                    </a:lnTo>
                    <a:lnTo>
                      <a:pt x="739" y="127"/>
                    </a:lnTo>
                    <a:lnTo>
                      <a:pt x="753" y="142"/>
                    </a:lnTo>
                    <a:lnTo>
                      <a:pt x="766" y="158"/>
                    </a:lnTo>
                    <a:lnTo>
                      <a:pt x="779" y="174"/>
                    </a:lnTo>
                    <a:lnTo>
                      <a:pt x="792" y="191"/>
                    </a:lnTo>
                    <a:lnTo>
                      <a:pt x="803" y="209"/>
                    </a:lnTo>
                    <a:lnTo>
                      <a:pt x="813" y="227"/>
                    </a:lnTo>
                    <a:lnTo>
                      <a:pt x="823" y="245"/>
                    </a:lnTo>
                    <a:lnTo>
                      <a:pt x="832" y="264"/>
                    </a:lnTo>
                    <a:lnTo>
                      <a:pt x="840" y="285"/>
                    </a:lnTo>
                    <a:lnTo>
                      <a:pt x="847" y="304"/>
                    </a:lnTo>
                    <a:lnTo>
                      <a:pt x="852" y="325"/>
                    </a:lnTo>
                    <a:lnTo>
                      <a:pt x="856" y="346"/>
                    </a:lnTo>
                    <a:lnTo>
                      <a:pt x="861" y="367"/>
                    </a:lnTo>
                    <a:lnTo>
                      <a:pt x="865" y="390"/>
                    </a:lnTo>
                    <a:lnTo>
                      <a:pt x="866" y="410"/>
                    </a:lnTo>
                    <a:lnTo>
                      <a:pt x="866" y="433"/>
                    </a:lnTo>
                    <a:lnTo>
                      <a:pt x="866" y="433"/>
                    </a:lnTo>
                    <a:close/>
                  </a:path>
                </a:pathLst>
              </a:custGeom>
              <a:noFill/>
              <a:ln w="6350" cmpd="sng">
                <a:solidFill>
                  <a:schemeClr val="tx1"/>
                </a:solidFill>
                <a:prstDash val="sysDot"/>
                <a:round/>
                <a:headEnd/>
                <a:tailEnd/>
              </a:ln>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16" name="Freeform 45"/>
              <p:cNvSpPr>
                <a:spLocks/>
              </p:cNvSpPr>
              <p:nvPr/>
            </p:nvSpPr>
            <p:spPr bwMode="auto">
              <a:xfrm>
                <a:off x="4088212" y="2957912"/>
                <a:ext cx="967577" cy="967577"/>
              </a:xfrm>
              <a:custGeom>
                <a:avLst/>
                <a:gdLst>
                  <a:gd name="T0" fmla="*/ 1721 w 1722"/>
                  <a:gd name="T1" fmla="*/ 906 h 1722"/>
                  <a:gd name="T2" fmla="*/ 1705 w 1722"/>
                  <a:gd name="T3" fmla="*/ 1035 h 1722"/>
                  <a:gd name="T4" fmla="*/ 1669 w 1722"/>
                  <a:gd name="T5" fmla="*/ 1157 h 1722"/>
                  <a:gd name="T6" fmla="*/ 1618 w 1722"/>
                  <a:gd name="T7" fmla="*/ 1272 h 1722"/>
                  <a:gd name="T8" fmla="*/ 1550 w 1722"/>
                  <a:gd name="T9" fmla="*/ 1376 h 1722"/>
                  <a:gd name="T10" fmla="*/ 1470 w 1722"/>
                  <a:gd name="T11" fmla="*/ 1470 h 1722"/>
                  <a:gd name="T12" fmla="*/ 1376 w 1722"/>
                  <a:gd name="T13" fmla="*/ 1550 h 1722"/>
                  <a:gd name="T14" fmla="*/ 1272 w 1722"/>
                  <a:gd name="T15" fmla="*/ 1618 h 1722"/>
                  <a:gd name="T16" fmla="*/ 1157 w 1722"/>
                  <a:gd name="T17" fmla="*/ 1669 h 1722"/>
                  <a:gd name="T18" fmla="*/ 1035 w 1722"/>
                  <a:gd name="T19" fmla="*/ 1705 h 1722"/>
                  <a:gd name="T20" fmla="*/ 906 w 1722"/>
                  <a:gd name="T21" fmla="*/ 1721 h 1722"/>
                  <a:gd name="T22" fmla="*/ 816 w 1722"/>
                  <a:gd name="T23" fmla="*/ 1721 h 1722"/>
                  <a:gd name="T24" fmla="*/ 687 w 1722"/>
                  <a:gd name="T25" fmla="*/ 1705 h 1722"/>
                  <a:gd name="T26" fmla="*/ 565 w 1722"/>
                  <a:gd name="T27" fmla="*/ 1669 h 1722"/>
                  <a:gd name="T28" fmla="*/ 450 w 1722"/>
                  <a:gd name="T29" fmla="*/ 1618 h 1722"/>
                  <a:gd name="T30" fmla="*/ 346 w 1722"/>
                  <a:gd name="T31" fmla="*/ 1550 h 1722"/>
                  <a:gd name="T32" fmla="*/ 252 w 1722"/>
                  <a:gd name="T33" fmla="*/ 1470 h 1722"/>
                  <a:gd name="T34" fmla="*/ 172 w 1722"/>
                  <a:gd name="T35" fmla="*/ 1376 h 1722"/>
                  <a:gd name="T36" fmla="*/ 104 w 1722"/>
                  <a:gd name="T37" fmla="*/ 1272 h 1722"/>
                  <a:gd name="T38" fmla="*/ 53 w 1722"/>
                  <a:gd name="T39" fmla="*/ 1157 h 1722"/>
                  <a:gd name="T40" fmla="*/ 17 w 1722"/>
                  <a:gd name="T41" fmla="*/ 1035 h 1722"/>
                  <a:gd name="T42" fmla="*/ 1 w 1722"/>
                  <a:gd name="T43" fmla="*/ 906 h 1722"/>
                  <a:gd name="T44" fmla="*/ 1 w 1722"/>
                  <a:gd name="T45" fmla="*/ 816 h 1722"/>
                  <a:gd name="T46" fmla="*/ 17 w 1722"/>
                  <a:gd name="T47" fmla="*/ 687 h 1722"/>
                  <a:gd name="T48" fmla="*/ 53 w 1722"/>
                  <a:gd name="T49" fmla="*/ 565 h 1722"/>
                  <a:gd name="T50" fmla="*/ 104 w 1722"/>
                  <a:gd name="T51" fmla="*/ 450 h 1722"/>
                  <a:gd name="T52" fmla="*/ 172 w 1722"/>
                  <a:gd name="T53" fmla="*/ 346 h 1722"/>
                  <a:gd name="T54" fmla="*/ 252 w 1722"/>
                  <a:gd name="T55" fmla="*/ 252 h 1722"/>
                  <a:gd name="T56" fmla="*/ 346 w 1722"/>
                  <a:gd name="T57" fmla="*/ 172 h 1722"/>
                  <a:gd name="T58" fmla="*/ 450 w 1722"/>
                  <a:gd name="T59" fmla="*/ 104 h 1722"/>
                  <a:gd name="T60" fmla="*/ 565 w 1722"/>
                  <a:gd name="T61" fmla="*/ 53 h 1722"/>
                  <a:gd name="T62" fmla="*/ 687 w 1722"/>
                  <a:gd name="T63" fmla="*/ 17 h 1722"/>
                  <a:gd name="T64" fmla="*/ 816 w 1722"/>
                  <a:gd name="T65" fmla="*/ 1 h 1722"/>
                  <a:gd name="T66" fmla="*/ 906 w 1722"/>
                  <a:gd name="T67" fmla="*/ 1 h 1722"/>
                  <a:gd name="T68" fmla="*/ 1035 w 1722"/>
                  <a:gd name="T69" fmla="*/ 17 h 1722"/>
                  <a:gd name="T70" fmla="*/ 1157 w 1722"/>
                  <a:gd name="T71" fmla="*/ 53 h 1722"/>
                  <a:gd name="T72" fmla="*/ 1272 w 1722"/>
                  <a:gd name="T73" fmla="*/ 104 h 1722"/>
                  <a:gd name="T74" fmla="*/ 1376 w 1722"/>
                  <a:gd name="T75" fmla="*/ 172 h 1722"/>
                  <a:gd name="T76" fmla="*/ 1470 w 1722"/>
                  <a:gd name="T77" fmla="*/ 252 h 1722"/>
                  <a:gd name="T78" fmla="*/ 1550 w 1722"/>
                  <a:gd name="T79" fmla="*/ 346 h 1722"/>
                  <a:gd name="T80" fmla="*/ 1618 w 1722"/>
                  <a:gd name="T81" fmla="*/ 450 h 1722"/>
                  <a:gd name="T82" fmla="*/ 1669 w 1722"/>
                  <a:gd name="T83" fmla="*/ 565 h 1722"/>
                  <a:gd name="T84" fmla="*/ 1705 w 1722"/>
                  <a:gd name="T85" fmla="*/ 687 h 1722"/>
                  <a:gd name="T86" fmla="*/ 1721 w 1722"/>
                  <a:gd name="T87" fmla="*/ 816 h 17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722" h="1722">
                    <a:moveTo>
                      <a:pt x="1722" y="861"/>
                    </a:moveTo>
                    <a:lnTo>
                      <a:pt x="1722" y="861"/>
                    </a:lnTo>
                    <a:lnTo>
                      <a:pt x="1721" y="906"/>
                    </a:lnTo>
                    <a:lnTo>
                      <a:pt x="1718" y="950"/>
                    </a:lnTo>
                    <a:lnTo>
                      <a:pt x="1711" y="991"/>
                    </a:lnTo>
                    <a:lnTo>
                      <a:pt x="1705" y="1035"/>
                    </a:lnTo>
                    <a:lnTo>
                      <a:pt x="1695" y="1077"/>
                    </a:lnTo>
                    <a:lnTo>
                      <a:pt x="1684" y="1117"/>
                    </a:lnTo>
                    <a:lnTo>
                      <a:pt x="1669" y="1157"/>
                    </a:lnTo>
                    <a:lnTo>
                      <a:pt x="1655" y="1196"/>
                    </a:lnTo>
                    <a:lnTo>
                      <a:pt x="1637" y="1235"/>
                    </a:lnTo>
                    <a:lnTo>
                      <a:pt x="1618" y="1272"/>
                    </a:lnTo>
                    <a:lnTo>
                      <a:pt x="1597" y="1307"/>
                    </a:lnTo>
                    <a:lnTo>
                      <a:pt x="1574" y="1342"/>
                    </a:lnTo>
                    <a:lnTo>
                      <a:pt x="1550" y="1376"/>
                    </a:lnTo>
                    <a:lnTo>
                      <a:pt x="1526" y="1408"/>
                    </a:lnTo>
                    <a:lnTo>
                      <a:pt x="1499" y="1439"/>
                    </a:lnTo>
                    <a:lnTo>
                      <a:pt x="1470" y="1470"/>
                    </a:lnTo>
                    <a:lnTo>
                      <a:pt x="1439" y="1499"/>
                    </a:lnTo>
                    <a:lnTo>
                      <a:pt x="1408" y="1526"/>
                    </a:lnTo>
                    <a:lnTo>
                      <a:pt x="1376" y="1550"/>
                    </a:lnTo>
                    <a:lnTo>
                      <a:pt x="1342" y="1574"/>
                    </a:lnTo>
                    <a:lnTo>
                      <a:pt x="1307" y="1597"/>
                    </a:lnTo>
                    <a:lnTo>
                      <a:pt x="1272" y="1618"/>
                    </a:lnTo>
                    <a:lnTo>
                      <a:pt x="1235" y="1637"/>
                    </a:lnTo>
                    <a:lnTo>
                      <a:pt x="1196" y="1655"/>
                    </a:lnTo>
                    <a:lnTo>
                      <a:pt x="1157" y="1669"/>
                    </a:lnTo>
                    <a:lnTo>
                      <a:pt x="1117" y="1684"/>
                    </a:lnTo>
                    <a:lnTo>
                      <a:pt x="1077" y="1695"/>
                    </a:lnTo>
                    <a:lnTo>
                      <a:pt x="1035" y="1705"/>
                    </a:lnTo>
                    <a:lnTo>
                      <a:pt x="991" y="1711"/>
                    </a:lnTo>
                    <a:lnTo>
                      <a:pt x="950" y="1718"/>
                    </a:lnTo>
                    <a:lnTo>
                      <a:pt x="906" y="1721"/>
                    </a:lnTo>
                    <a:lnTo>
                      <a:pt x="861" y="1722"/>
                    </a:lnTo>
                    <a:lnTo>
                      <a:pt x="861" y="1722"/>
                    </a:lnTo>
                    <a:lnTo>
                      <a:pt x="816" y="1721"/>
                    </a:lnTo>
                    <a:lnTo>
                      <a:pt x="772" y="1718"/>
                    </a:lnTo>
                    <a:lnTo>
                      <a:pt x="731" y="1711"/>
                    </a:lnTo>
                    <a:lnTo>
                      <a:pt x="687" y="1705"/>
                    </a:lnTo>
                    <a:lnTo>
                      <a:pt x="645" y="1695"/>
                    </a:lnTo>
                    <a:lnTo>
                      <a:pt x="605" y="1684"/>
                    </a:lnTo>
                    <a:lnTo>
                      <a:pt x="565" y="1669"/>
                    </a:lnTo>
                    <a:lnTo>
                      <a:pt x="526" y="1655"/>
                    </a:lnTo>
                    <a:lnTo>
                      <a:pt x="487" y="1637"/>
                    </a:lnTo>
                    <a:lnTo>
                      <a:pt x="450" y="1618"/>
                    </a:lnTo>
                    <a:lnTo>
                      <a:pt x="415" y="1597"/>
                    </a:lnTo>
                    <a:lnTo>
                      <a:pt x="380" y="1574"/>
                    </a:lnTo>
                    <a:lnTo>
                      <a:pt x="346" y="1550"/>
                    </a:lnTo>
                    <a:lnTo>
                      <a:pt x="314" y="1526"/>
                    </a:lnTo>
                    <a:lnTo>
                      <a:pt x="283" y="1499"/>
                    </a:lnTo>
                    <a:lnTo>
                      <a:pt x="252" y="1470"/>
                    </a:lnTo>
                    <a:lnTo>
                      <a:pt x="223" y="1439"/>
                    </a:lnTo>
                    <a:lnTo>
                      <a:pt x="196" y="1408"/>
                    </a:lnTo>
                    <a:lnTo>
                      <a:pt x="172" y="1376"/>
                    </a:lnTo>
                    <a:lnTo>
                      <a:pt x="148" y="1342"/>
                    </a:lnTo>
                    <a:lnTo>
                      <a:pt x="125" y="1307"/>
                    </a:lnTo>
                    <a:lnTo>
                      <a:pt x="104" y="1272"/>
                    </a:lnTo>
                    <a:lnTo>
                      <a:pt x="85" y="1235"/>
                    </a:lnTo>
                    <a:lnTo>
                      <a:pt x="67" y="1196"/>
                    </a:lnTo>
                    <a:lnTo>
                      <a:pt x="53" y="1157"/>
                    </a:lnTo>
                    <a:lnTo>
                      <a:pt x="38" y="1117"/>
                    </a:lnTo>
                    <a:lnTo>
                      <a:pt x="27" y="1077"/>
                    </a:lnTo>
                    <a:lnTo>
                      <a:pt x="17" y="1035"/>
                    </a:lnTo>
                    <a:lnTo>
                      <a:pt x="11" y="991"/>
                    </a:lnTo>
                    <a:lnTo>
                      <a:pt x="4" y="950"/>
                    </a:lnTo>
                    <a:lnTo>
                      <a:pt x="1" y="906"/>
                    </a:lnTo>
                    <a:lnTo>
                      <a:pt x="0" y="861"/>
                    </a:lnTo>
                    <a:lnTo>
                      <a:pt x="0" y="861"/>
                    </a:lnTo>
                    <a:lnTo>
                      <a:pt x="1" y="816"/>
                    </a:lnTo>
                    <a:lnTo>
                      <a:pt x="4" y="772"/>
                    </a:lnTo>
                    <a:lnTo>
                      <a:pt x="11" y="731"/>
                    </a:lnTo>
                    <a:lnTo>
                      <a:pt x="17" y="687"/>
                    </a:lnTo>
                    <a:lnTo>
                      <a:pt x="27" y="645"/>
                    </a:lnTo>
                    <a:lnTo>
                      <a:pt x="38" y="605"/>
                    </a:lnTo>
                    <a:lnTo>
                      <a:pt x="53" y="565"/>
                    </a:lnTo>
                    <a:lnTo>
                      <a:pt x="67" y="526"/>
                    </a:lnTo>
                    <a:lnTo>
                      <a:pt x="85" y="487"/>
                    </a:lnTo>
                    <a:lnTo>
                      <a:pt x="104" y="450"/>
                    </a:lnTo>
                    <a:lnTo>
                      <a:pt x="125" y="415"/>
                    </a:lnTo>
                    <a:lnTo>
                      <a:pt x="148" y="380"/>
                    </a:lnTo>
                    <a:lnTo>
                      <a:pt x="172" y="346"/>
                    </a:lnTo>
                    <a:lnTo>
                      <a:pt x="196" y="314"/>
                    </a:lnTo>
                    <a:lnTo>
                      <a:pt x="223" y="283"/>
                    </a:lnTo>
                    <a:lnTo>
                      <a:pt x="252" y="252"/>
                    </a:lnTo>
                    <a:lnTo>
                      <a:pt x="283" y="223"/>
                    </a:lnTo>
                    <a:lnTo>
                      <a:pt x="314" y="196"/>
                    </a:lnTo>
                    <a:lnTo>
                      <a:pt x="346" y="172"/>
                    </a:lnTo>
                    <a:lnTo>
                      <a:pt x="380" y="148"/>
                    </a:lnTo>
                    <a:lnTo>
                      <a:pt x="415" y="125"/>
                    </a:lnTo>
                    <a:lnTo>
                      <a:pt x="450" y="104"/>
                    </a:lnTo>
                    <a:lnTo>
                      <a:pt x="487" y="85"/>
                    </a:lnTo>
                    <a:lnTo>
                      <a:pt x="526" y="67"/>
                    </a:lnTo>
                    <a:lnTo>
                      <a:pt x="565" y="53"/>
                    </a:lnTo>
                    <a:lnTo>
                      <a:pt x="605" y="38"/>
                    </a:lnTo>
                    <a:lnTo>
                      <a:pt x="645" y="27"/>
                    </a:lnTo>
                    <a:lnTo>
                      <a:pt x="687" y="17"/>
                    </a:lnTo>
                    <a:lnTo>
                      <a:pt x="731" y="11"/>
                    </a:lnTo>
                    <a:lnTo>
                      <a:pt x="772" y="4"/>
                    </a:lnTo>
                    <a:lnTo>
                      <a:pt x="816" y="1"/>
                    </a:lnTo>
                    <a:lnTo>
                      <a:pt x="861" y="0"/>
                    </a:lnTo>
                    <a:lnTo>
                      <a:pt x="861" y="0"/>
                    </a:lnTo>
                    <a:lnTo>
                      <a:pt x="906" y="1"/>
                    </a:lnTo>
                    <a:lnTo>
                      <a:pt x="950" y="4"/>
                    </a:lnTo>
                    <a:lnTo>
                      <a:pt x="991" y="11"/>
                    </a:lnTo>
                    <a:lnTo>
                      <a:pt x="1035" y="17"/>
                    </a:lnTo>
                    <a:lnTo>
                      <a:pt x="1077" y="27"/>
                    </a:lnTo>
                    <a:lnTo>
                      <a:pt x="1117" y="38"/>
                    </a:lnTo>
                    <a:lnTo>
                      <a:pt x="1157" y="53"/>
                    </a:lnTo>
                    <a:lnTo>
                      <a:pt x="1196" y="67"/>
                    </a:lnTo>
                    <a:lnTo>
                      <a:pt x="1235" y="85"/>
                    </a:lnTo>
                    <a:lnTo>
                      <a:pt x="1272" y="104"/>
                    </a:lnTo>
                    <a:lnTo>
                      <a:pt x="1307" y="125"/>
                    </a:lnTo>
                    <a:lnTo>
                      <a:pt x="1342" y="148"/>
                    </a:lnTo>
                    <a:lnTo>
                      <a:pt x="1376" y="172"/>
                    </a:lnTo>
                    <a:lnTo>
                      <a:pt x="1408" y="196"/>
                    </a:lnTo>
                    <a:lnTo>
                      <a:pt x="1439" y="223"/>
                    </a:lnTo>
                    <a:lnTo>
                      <a:pt x="1470" y="252"/>
                    </a:lnTo>
                    <a:lnTo>
                      <a:pt x="1499" y="283"/>
                    </a:lnTo>
                    <a:lnTo>
                      <a:pt x="1526" y="314"/>
                    </a:lnTo>
                    <a:lnTo>
                      <a:pt x="1550" y="346"/>
                    </a:lnTo>
                    <a:lnTo>
                      <a:pt x="1574" y="380"/>
                    </a:lnTo>
                    <a:lnTo>
                      <a:pt x="1597" y="415"/>
                    </a:lnTo>
                    <a:lnTo>
                      <a:pt x="1618" y="450"/>
                    </a:lnTo>
                    <a:lnTo>
                      <a:pt x="1637" y="487"/>
                    </a:lnTo>
                    <a:lnTo>
                      <a:pt x="1655" y="526"/>
                    </a:lnTo>
                    <a:lnTo>
                      <a:pt x="1669" y="565"/>
                    </a:lnTo>
                    <a:lnTo>
                      <a:pt x="1684" y="605"/>
                    </a:lnTo>
                    <a:lnTo>
                      <a:pt x="1695" y="645"/>
                    </a:lnTo>
                    <a:lnTo>
                      <a:pt x="1705" y="687"/>
                    </a:lnTo>
                    <a:lnTo>
                      <a:pt x="1711" y="731"/>
                    </a:lnTo>
                    <a:lnTo>
                      <a:pt x="1718" y="772"/>
                    </a:lnTo>
                    <a:lnTo>
                      <a:pt x="1721" y="816"/>
                    </a:lnTo>
                    <a:lnTo>
                      <a:pt x="1722" y="861"/>
                    </a:lnTo>
                    <a:lnTo>
                      <a:pt x="1722" y="861"/>
                    </a:lnTo>
                    <a:close/>
                  </a:path>
                </a:pathLst>
              </a:custGeom>
              <a:noFill/>
              <a:ln w="6350" cmpd="sng">
                <a:solidFill>
                  <a:schemeClr val="tx1"/>
                </a:solidFill>
                <a:prstDash val="sysDot"/>
                <a:round/>
                <a:headEnd/>
                <a:tailEnd/>
              </a:ln>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17" name="Freeform 46"/>
              <p:cNvSpPr>
                <a:spLocks/>
              </p:cNvSpPr>
              <p:nvPr/>
            </p:nvSpPr>
            <p:spPr bwMode="auto">
              <a:xfrm>
                <a:off x="3846878" y="2716578"/>
                <a:ext cx="1450244" cy="1450244"/>
              </a:xfrm>
              <a:custGeom>
                <a:avLst/>
                <a:gdLst>
                  <a:gd name="T0" fmla="*/ 2584 w 2586"/>
                  <a:gd name="T1" fmla="*/ 1359 h 2586"/>
                  <a:gd name="T2" fmla="*/ 2559 w 2586"/>
                  <a:gd name="T3" fmla="*/ 1554 h 2586"/>
                  <a:gd name="T4" fmla="*/ 2507 w 2586"/>
                  <a:gd name="T5" fmla="*/ 1737 h 2586"/>
                  <a:gd name="T6" fmla="*/ 2430 w 2586"/>
                  <a:gd name="T7" fmla="*/ 1910 h 2586"/>
                  <a:gd name="T8" fmla="*/ 2328 w 2586"/>
                  <a:gd name="T9" fmla="*/ 2066 h 2586"/>
                  <a:gd name="T10" fmla="*/ 2208 w 2586"/>
                  <a:gd name="T11" fmla="*/ 2208 h 2586"/>
                  <a:gd name="T12" fmla="*/ 2066 w 2586"/>
                  <a:gd name="T13" fmla="*/ 2328 h 2586"/>
                  <a:gd name="T14" fmla="*/ 1910 w 2586"/>
                  <a:gd name="T15" fmla="*/ 2430 h 2586"/>
                  <a:gd name="T16" fmla="*/ 1737 w 2586"/>
                  <a:gd name="T17" fmla="*/ 2507 h 2586"/>
                  <a:gd name="T18" fmla="*/ 1554 w 2586"/>
                  <a:gd name="T19" fmla="*/ 2559 h 2586"/>
                  <a:gd name="T20" fmla="*/ 1359 w 2586"/>
                  <a:gd name="T21" fmla="*/ 2584 h 2586"/>
                  <a:gd name="T22" fmla="*/ 1227 w 2586"/>
                  <a:gd name="T23" fmla="*/ 2584 h 2586"/>
                  <a:gd name="T24" fmla="*/ 1032 w 2586"/>
                  <a:gd name="T25" fmla="*/ 2559 h 2586"/>
                  <a:gd name="T26" fmla="*/ 849 w 2586"/>
                  <a:gd name="T27" fmla="*/ 2507 h 2586"/>
                  <a:gd name="T28" fmla="*/ 676 w 2586"/>
                  <a:gd name="T29" fmla="*/ 2430 h 2586"/>
                  <a:gd name="T30" fmla="*/ 520 w 2586"/>
                  <a:gd name="T31" fmla="*/ 2328 h 2586"/>
                  <a:gd name="T32" fmla="*/ 378 w 2586"/>
                  <a:gd name="T33" fmla="*/ 2208 h 2586"/>
                  <a:gd name="T34" fmla="*/ 258 w 2586"/>
                  <a:gd name="T35" fmla="*/ 2066 h 2586"/>
                  <a:gd name="T36" fmla="*/ 156 w 2586"/>
                  <a:gd name="T37" fmla="*/ 1910 h 2586"/>
                  <a:gd name="T38" fmla="*/ 79 w 2586"/>
                  <a:gd name="T39" fmla="*/ 1737 h 2586"/>
                  <a:gd name="T40" fmla="*/ 27 w 2586"/>
                  <a:gd name="T41" fmla="*/ 1554 h 2586"/>
                  <a:gd name="T42" fmla="*/ 2 w 2586"/>
                  <a:gd name="T43" fmla="*/ 1359 h 2586"/>
                  <a:gd name="T44" fmla="*/ 2 w 2586"/>
                  <a:gd name="T45" fmla="*/ 1227 h 2586"/>
                  <a:gd name="T46" fmla="*/ 27 w 2586"/>
                  <a:gd name="T47" fmla="*/ 1032 h 2586"/>
                  <a:gd name="T48" fmla="*/ 79 w 2586"/>
                  <a:gd name="T49" fmla="*/ 849 h 2586"/>
                  <a:gd name="T50" fmla="*/ 156 w 2586"/>
                  <a:gd name="T51" fmla="*/ 676 h 2586"/>
                  <a:gd name="T52" fmla="*/ 258 w 2586"/>
                  <a:gd name="T53" fmla="*/ 520 h 2586"/>
                  <a:gd name="T54" fmla="*/ 378 w 2586"/>
                  <a:gd name="T55" fmla="*/ 378 h 2586"/>
                  <a:gd name="T56" fmla="*/ 520 w 2586"/>
                  <a:gd name="T57" fmla="*/ 258 h 2586"/>
                  <a:gd name="T58" fmla="*/ 676 w 2586"/>
                  <a:gd name="T59" fmla="*/ 156 h 2586"/>
                  <a:gd name="T60" fmla="*/ 849 w 2586"/>
                  <a:gd name="T61" fmla="*/ 79 h 2586"/>
                  <a:gd name="T62" fmla="*/ 1032 w 2586"/>
                  <a:gd name="T63" fmla="*/ 27 h 2586"/>
                  <a:gd name="T64" fmla="*/ 1227 w 2586"/>
                  <a:gd name="T65" fmla="*/ 2 h 2586"/>
                  <a:gd name="T66" fmla="*/ 1359 w 2586"/>
                  <a:gd name="T67" fmla="*/ 2 h 2586"/>
                  <a:gd name="T68" fmla="*/ 1554 w 2586"/>
                  <a:gd name="T69" fmla="*/ 27 h 2586"/>
                  <a:gd name="T70" fmla="*/ 1737 w 2586"/>
                  <a:gd name="T71" fmla="*/ 79 h 2586"/>
                  <a:gd name="T72" fmla="*/ 1910 w 2586"/>
                  <a:gd name="T73" fmla="*/ 156 h 2586"/>
                  <a:gd name="T74" fmla="*/ 2066 w 2586"/>
                  <a:gd name="T75" fmla="*/ 258 h 2586"/>
                  <a:gd name="T76" fmla="*/ 2208 w 2586"/>
                  <a:gd name="T77" fmla="*/ 378 h 2586"/>
                  <a:gd name="T78" fmla="*/ 2328 w 2586"/>
                  <a:gd name="T79" fmla="*/ 520 h 2586"/>
                  <a:gd name="T80" fmla="*/ 2430 w 2586"/>
                  <a:gd name="T81" fmla="*/ 676 h 2586"/>
                  <a:gd name="T82" fmla="*/ 2507 w 2586"/>
                  <a:gd name="T83" fmla="*/ 849 h 2586"/>
                  <a:gd name="T84" fmla="*/ 2559 w 2586"/>
                  <a:gd name="T85" fmla="*/ 1032 h 2586"/>
                  <a:gd name="T86" fmla="*/ 2584 w 2586"/>
                  <a:gd name="T87" fmla="*/ 1227 h 2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586" h="2586">
                    <a:moveTo>
                      <a:pt x="2586" y="1293"/>
                    </a:moveTo>
                    <a:lnTo>
                      <a:pt x="2586" y="1293"/>
                    </a:lnTo>
                    <a:lnTo>
                      <a:pt x="2584" y="1359"/>
                    </a:lnTo>
                    <a:lnTo>
                      <a:pt x="2580" y="1425"/>
                    </a:lnTo>
                    <a:lnTo>
                      <a:pt x="2571" y="1489"/>
                    </a:lnTo>
                    <a:lnTo>
                      <a:pt x="2559" y="1554"/>
                    </a:lnTo>
                    <a:lnTo>
                      <a:pt x="2546" y="1617"/>
                    </a:lnTo>
                    <a:lnTo>
                      <a:pt x="2528" y="1678"/>
                    </a:lnTo>
                    <a:lnTo>
                      <a:pt x="2507" y="1737"/>
                    </a:lnTo>
                    <a:lnTo>
                      <a:pt x="2485" y="1795"/>
                    </a:lnTo>
                    <a:lnTo>
                      <a:pt x="2459" y="1853"/>
                    </a:lnTo>
                    <a:lnTo>
                      <a:pt x="2430" y="1910"/>
                    </a:lnTo>
                    <a:lnTo>
                      <a:pt x="2399" y="1963"/>
                    </a:lnTo>
                    <a:lnTo>
                      <a:pt x="2365" y="2016"/>
                    </a:lnTo>
                    <a:lnTo>
                      <a:pt x="2328" y="2066"/>
                    </a:lnTo>
                    <a:lnTo>
                      <a:pt x="2290" y="2116"/>
                    </a:lnTo>
                    <a:lnTo>
                      <a:pt x="2249" y="2162"/>
                    </a:lnTo>
                    <a:lnTo>
                      <a:pt x="2208" y="2208"/>
                    </a:lnTo>
                    <a:lnTo>
                      <a:pt x="2162" y="2249"/>
                    </a:lnTo>
                    <a:lnTo>
                      <a:pt x="2116" y="2290"/>
                    </a:lnTo>
                    <a:lnTo>
                      <a:pt x="2066" y="2328"/>
                    </a:lnTo>
                    <a:lnTo>
                      <a:pt x="2016" y="2365"/>
                    </a:lnTo>
                    <a:lnTo>
                      <a:pt x="1963" y="2399"/>
                    </a:lnTo>
                    <a:lnTo>
                      <a:pt x="1910" y="2430"/>
                    </a:lnTo>
                    <a:lnTo>
                      <a:pt x="1853" y="2459"/>
                    </a:lnTo>
                    <a:lnTo>
                      <a:pt x="1795" y="2485"/>
                    </a:lnTo>
                    <a:lnTo>
                      <a:pt x="1737" y="2507"/>
                    </a:lnTo>
                    <a:lnTo>
                      <a:pt x="1678" y="2528"/>
                    </a:lnTo>
                    <a:lnTo>
                      <a:pt x="1617" y="2546"/>
                    </a:lnTo>
                    <a:lnTo>
                      <a:pt x="1554" y="2559"/>
                    </a:lnTo>
                    <a:lnTo>
                      <a:pt x="1489" y="2571"/>
                    </a:lnTo>
                    <a:lnTo>
                      <a:pt x="1425" y="2580"/>
                    </a:lnTo>
                    <a:lnTo>
                      <a:pt x="1359" y="2584"/>
                    </a:lnTo>
                    <a:lnTo>
                      <a:pt x="1293" y="2586"/>
                    </a:lnTo>
                    <a:lnTo>
                      <a:pt x="1293" y="2586"/>
                    </a:lnTo>
                    <a:lnTo>
                      <a:pt x="1227" y="2584"/>
                    </a:lnTo>
                    <a:lnTo>
                      <a:pt x="1161" y="2580"/>
                    </a:lnTo>
                    <a:lnTo>
                      <a:pt x="1097" y="2571"/>
                    </a:lnTo>
                    <a:lnTo>
                      <a:pt x="1032" y="2559"/>
                    </a:lnTo>
                    <a:lnTo>
                      <a:pt x="969" y="2546"/>
                    </a:lnTo>
                    <a:lnTo>
                      <a:pt x="908" y="2528"/>
                    </a:lnTo>
                    <a:lnTo>
                      <a:pt x="849" y="2507"/>
                    </a:lnTo>
                    <a:lnTo>
                      <a:pt x="791" y="2485"/>
                    </a:lnTo>
                    <a:lnTo>
                      <a:pt x="733" y="2459"/>
                    </a:lnTo>
                    <a:lnTo>
                      <a:pt x="676" y="2430"/>
                    </a:lnTo>
                    <a:lnTo>
                      <a:pt x="623" y="2399"/>
                    </a:lnTo>
                    <a:lnTo>
                      <a:pt x="570" y="2365"/>
                    </a:lnTo>
                    <a:lnTo>
                      <a:pt x="520" y="2328"/>
                    </a:lnTo>
                    <a:lnTo>
                      <a:pt x="470" y="2290"/>
                    </a:lnTo>
                    <a:lnTo>
                      <a:pt x="424" y="2249"/>
                    </a:lnTo>
                    <a:lnTo>
                      <a:pt x="378" y="2208"/>
                    </a:lnTo>
                    <a:lnTo>
                      <a:pt x="337" y="2162"/>
                    </a:lnTo>
                    <a:lnTo>
                      <a:pt x="296" y="2116"/>
                    </a:lnTo>
                    <a:lnTo>
                      <a:pt x="258" y="2066"/>
                    </a:lnTo>
                    <a:lnTo>
                      <a:pt x="221" y="2016"/>
                    </a:lnTo>
                    <a:lnTo>
                      <a:pt x="187" y="1963"/>
                    </a:lnTo>
                    <a:lnTo>
                      <a:pt x="156" y="1910"/>
                    </a:lnTo>
                    <a:lnTo>
                      <a:pt x="127" y="1853"/>
                    </a:lnTo>
                    <a:lnTo>
                      <a:pt x="101" y="1795"/>
                    </a:lnTo>
                    <a:lnTo>
                      <a:pt x="79" y="1737"/>
                    </a:lnTo>
                    <a:lnTo>
                      <a:pt x="58" y="1678"/>
                    </a:lnTo>
                    <a:lnTo>
                      <a:pt x="40" y="1617"/>
                    </a:lnTo>
                    <a:lnTo>
                      <a:pt x="27" y="1554"/>
                    </a:lnTo>
                    <a:lnTo>
                      <a:pt x="15" y="1489"/>
                    </a:lnTo>
                    <a:lnTo>
                      <a:pt x="6" y="1425"/>
                    </a:lnTo>
                    <a:lnTo>
                      <a:pt x="2" y="1359"/>
                    </a:lnTo>
                    <a:lnTo>
                      <a:pt x="0" y="1293"/>
                    </a:lnTo>
                    <a:lnTo>
                      <a:pt x="0" y="1293"/>
                    </a:lnTo>
                    <a:lnTo>
                      <a:pt x="2" y="1227"/>
                    </a:lnTo>
                    <a:lnTo>
                      <a:pt x="6" y="1161"/>
                    </a:lnTo>
                    <a:lnTo>
                      <a:pt x="15" y="1097"/>
                    </a:lnTo>
                    <a:lnTo>
                      <a:pt x="27" y="1032"/>
                    </a:lnTo>
                    <a:lnTo>
                      <a:pt x="40" y="969"/>
                    </a:lnTo>
                    <a:lnTo>
                      <a:pt x="58" y="908"/>
                    </a:lnTo>
                    <a:lnTo>
                      <a:pt x="79" y="849"/>
                    </a:lnTo>
                    <a:lnTo>
                      <a:pt x="101" y="791"/>
                    </a:lnTo>
                    <a:lnTo>
                      <a:pt x="127" y="733"/>
                    </a:lnTo>
                    <a:lnTo>
                      <a:pt x="156" y="676"/>
                    </a:lnTo>
                    <a:lnTo>
                      <a:pt x="187" y="623"/>
                    </a:lnTo>
                    <a:lnTo>
                      <a:pt x="221" y="570"/>
                    </a:lnTo>
                    <a:lnTo>
                      <a:pt x="258" y="520"/>
                    </a:lnTo>
                    <a:lnTo>
                      <a:pt x="296" y="470"/>
                    </a:lnTo>
                    <a:lnTo>
                      <a:pt x="337" y="424"/>
                    </a:lnTo>
                    <a:lnTo>
                      <a:pt x="378" y="378"/>
                    </a:lnTo>
                    <a:lnTo>
                      <a:pt x="424" y="337"/>
                    </a:lnTo>
                    <a:lnTo>
                      <a:pt x="470" y="296"/>
                    </a:lnTo>
                    <a:lnTo>
                      <a:pt x="520" y="258"/>
                    </a:lnTo>
                    <a:lnTo>
                      <a:pt x="570" y="221"/>
                    </a:lnTo>
                    <a:lnTo>
                      <a:pt x="623" y="187"/>
                    </a:lnTo>
                    <a:lnTo>
                      <a:pt x="676" y="156"/>
                    </a:lnTo>
                    <a:lnTo>
                      <a:pt x="733" y="127"/>
                    </a:lnTo>
                    <a:lnTo>
                      <a:pt x="791" y="101"/>
                    </a:lnTo>
                    <a:lnTo>
                      <a:pt x="849" y="79"/>
                    </a:lnTo>
                    <a:lnTo>
                      <a:pt x="908" y="58"/>
                    </a:lnTo>
                    <a:lnTo>
                      <a:pt x="969" y="40"/>
                    </a:lnTo>
                    <a:lnTo>
                      <a:pt x="1032" y="27"/>
                    </a:lnTo>
                    <a:lnTo>
                      <a:pt x="1097" y="15"/>
                    </a:lnTo>
                    <a:lnTo>
                      <a:pt x="1161" y="6"/>
                    </a:lnTo>
                    <a:lnTo>
                      <a:pt x="1227" y="2"/>
                    </a:lnTo>
                    <a:lnTo>
                      <a:pt x="1293" y="0"/>
                    </a:lnTo>
                    <a:lnTo>
                      <a:pt x="1293" y="0"/>
                    </a:lnTo>
                    <a:lnTo>
                      <a:pt x="1359" y="2"/>
                    </a:lnTo>
                    <a:lnTo>
                      <a:pt x="1425" y="6"/>
                    </a:lnTo>
                    <a:lnTo>
                      <a:pt x="1489" y="15"/>
                    </a:lnTo>
                    <a:lnTo>
                      <a:pt x="1554" y="27"/>
                    </a:lnTo>
                    <a:lnTo>
                      <a:pt x="1617" y="40"/>
                    </a:lnTo>
                    <a:lnTo>
                      <a:pt x="1678" y="58"/>
                    </a:lnTo>
                    <a:lnTo>
                      <a:pt x="1737" y="79"/>
                    </a:lnTo>
                    <a:lnTo>
                      <a:pt x="1795" y="101"/>
                    </a:lnTo>
                    <a:lnTo>
                      <a:pt x="1853" y="127"/>
                    </a:lnTo>
                    <a:lnTo>
                      <a:pt x="1910" y="156"/>
                    </a:lnTo>
                    <a:lnTo>
                      <a:pt x="1963" y="187"/>
                    </a:lnTo>
                    <a:lnTo>
                      <a:pt x="2016" y="221"/>
                    </a:lnTo>
                    <a:lnTo>
                      <a:pt x="2066" y="258"/>
                    </a:lnTo>
                    <a:lnTo>
                      <a:pt x="2116" y="296"/>
                    </a:lnTo>
                    <a:lnTo>
                      <a:pt x="2162" y="337"/>
                    </a:lnTo>
                    <a:lnTo>
                      <a:pt x="2208" y="378"/>
                    </a:lnTo>
                    <a:lnTo>
                      <a:pt x="2249" y="424"/>
                    </a:lnTo>
                    <a:lnTo>
                      <a:pt x="2290" y="470"/>
                    </a:lnTo>
                    <a:lnTo>
                      <a:pt x="2328" y="520"/>
                    </a:lnTo>
                    <a:lnTo>
                      <a:pt x="2365" y="570"/>
                    </a:lnTo>
                    <a:lnTo>
                      <a:pt x="2399" y="623"/>
                    </a:lnTo>
                    <a:lnTo>
                      <a:pt x="2430" y="676"/>
                    </a:lnTo>
                    <a:lnTo>
                      <a:pt x="2459" y="733"/>
                    </a:lnTo>
                    <a:lnTo>
                      <a:pt x="2485" y="791"/>
                    </a:lnTo>
                    <a:lnTo>
                      <a:pt x="2507" y="849"/>
                    </a:lnTo>
                    <a:lnTo>
                      <a:pt x="2528" y="908"/>
                    </a:lnTo>
                    <a:lnTo>
                      <a:pt x="2546" y="969"/>
                    </a:lnTo>
                    <a:lnTo>
                      <a:pt x="2559" y="1032"/>
                    </a:lnTo>
                    <a:lnTo>
                      <a:pt x="2571" y="1097"/>
                    </a:lnTo>
                    <a:lnTo>
                      <a:pt x="2580" y="1161"/>
                    </a:lnTo>
                    <a:lnTo>
                      <a:pt x="2584" y="1227"/>
                    </a:lnTo>
                    <a:lnTo>
                      <a:pt x="2586" y="1293"/>
                    </a:lnTo>
                    <a:lnTo>
                      <a:pt x="2586" y="1293"/>
                    </a:lnTo>
                    <a:close/>
                  </a:path>
                </a:pathLst>
              </a:custGeom>
              <a:noFill/>
              <a:ln w="6350" cmpd="sng">
                <a:solidFill>
                  <a:schemeClr val="tx1"/>
                </a:solidFill>
                <a:prstDash val="sysDot"/>
                <a:round/>
                <a:headEnd/>
                <a:tailEnd/>
              </a:ln>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18" name="Freeform 47"/>
              <p:cNvSpPr>
                <a:spLocks/>
              </p:cNvSpPr>
              <p:nvPr/>
            </p:nvSpPr>
            <p:spPr bwMode="auto">
              <a:xfrm>
                <a:off x="3604423" y="2474123"/>
                <a:ext cx="1935155" cy="1935155"/>
              </a:xfrm>
              <a:custGeom>
                <a:avLst/>
                <a:gdLst>
                  <a:gd name="T0" fmla="*/ 3444 w 3448"/>
                  <a:gd name="T1" fmla="*/ 1856 h 3448"/>
                  <a:gd name="T2" fmla="*/ 3413 w 3448"/>
                  <a:gd name="T3" fmla="*/ 2072 h 3448"/>
                  <a:gd name="T4" fmla="*/ 3358 w 3448"/>
                  <a:gd name="T5" fmla="*/ 2276 h 3448"/>
                  <a:gd name="T6" fmla="*/ 3278 w 3448"/>
                  <a:gd name="T7" fmla="*/ 2471 h 3448"/>
                  <a:gd name="T8" fmla="*/ 3176 w 3448"/>
                  <a:gd name="T9" fmla="*/ 2653 h 3448"/>
                  <a:gd name="T10" fmla="*/ 3054 w 3448"/>
                  <a:gd name="T11" fmla="*/ 2821 h 3448"/>
                  <a:gd name="T12" fmla="*/ 2914 w 3448"/>
                  <a:gd name="T13" fmla="*/ 2972 h 3448"/>
                  <a:gd name="T14" fmla="*/ 2756 w 3448"/>
                  <a:gd name="T15" fmla="*/ 3105 h 3448"/>
                  <a:gd name="T16" fmla="*/ 2582 w 3448"/>
                  <a:gd name="T17" fmla="*/ 3220 h 3448"/>
                  <a:gd name="T18" fmla="*/ 2395 w 3448"/>
                  <a:gd name="T19" fmla="*/ 3313 h 3448"/>
                  <a:gd name="T20" fmla="*/ 2196 w 3448"/>
                  <a:gd name="T21" fmla="*/ 3382 h 3448"/>
                  <a:gd name="T22" fmla="*/ 1986 w 3448"/>
                  <a:gd name="T23" fmla="*/ 3429 h 3448"/>
                  <a:gd name="T24" fmla="*/ 1769 w 3448"/>
                  <a:gd name="T25" fmla="*/ 3448 h 3448"/>
                  <a:gd name="T26" fmla="*/ 1592 w 3448"/>
                  <a:gd name="T27" fmla="*/ 3444 h 3448"/>
                  <a:gd name="T28" fmla="*/ 1376 w 3448"/>
                  <a:gd name="T29" fmla="*/ 3413 h 3448"/>
                  <a:gd name="T30" fmla="*/ 1172 w 3448"/>
                  <a:gd name="T31" fmla="*/ 3358 h 3448"/>
                  <a:gd name="T32" fmla="*/ 977 w 3448"/>
                  <a:gd name="T33" fmla="*/ 3278 h 3448"/>
                  <a:gd name="T34" fmla="*/ 795 w 3448"/>
                  <a:gd name="T35" fmla="*/ 3176 h 3448"/>
                  <a:gd name="T36" fmla="*/ 627 w 3448"/>
                  <a:gd name="T37" fmla="*/ 3054 h 3448"/>
                  <a:gd name="T38" fmla="*/ 476 w 3448"/>
                  <a:gd name="T39" fmla="*/ 2914 h 3448"/>
                  <a:gd name="T40" fmla="*/ 343 w 3448"/>
                  <a:gd name="T41" fmla="*/ 2756 h 3448"/>
                  <a:gd name="T42" fmla="*/ 228 w 3448"/>
                  <a:gd name="T43" fmla="*/ 2582 h 3448"/>
                  <a:gd name="T44" fmla="*/ 135 w 3448"/>
                  <a:gd name="T45" fmla="*/ 2395 h 3448"/>
                  <a:gd name="T46" fmla="*/ 66 w 3448"/>
                  <a:gd name="T47" fmla="*/ 2196 h 3448"/>
                  <a:gd name="T48" fmla="*/ 19 w 3448"/>
                  <a:gd name="T49" fmla="*/ 1986 h 3448"/>
                  <a:gd name="T50" fmla="*/ 0 w 3448"/>
                  <a:gd name="T51" fmla="*/ 1769 h 3448"/>
                  <a:gd name="T52" fmla="*/ 4 w 3448"/>
                  <a:gd name="T53" fmla="*/ 1592 h 3448"/>
                  <a:gd name="T54" fmla="*/ 35 w 3448"/>
                  <a:gd name="T55" fmla="*/ 1376 h 3448"/>
                  <a:gd name="T56" fmla="*/ 90 w 3448"/>
                  <a:gd name="T57" fmla="*/ 1172 h 3448"/>
                  <a:gd name="T58" fmla="*/ 170 w 3448"/>
                  <a:gd name="T59" fmla="*/ 977 h 3448"/>
                  <a:gd name="T60" fmla="*/ 272 w 3448"/>
                  <a:gd name="T61" fmla="*/ 795 h 3448"/>
                  <a:gd name="T62" fmla="*/ 394 w 3448"/>
                  <a:gd name="T63" fmla="*/ 627 h 3448"/>
                  <a:gd name="T64" fmla="*/ 534 w 3448"/>
                  <a:gd name="T65" fmla="*/ 476 h 3448"/>
                  <a:gd name="T66" fmla="*/ 692 w 3448"/>
                  <a:gd name="T67" fmla="*/ 343 h 3448"/>
                  <a:gd name="T68" fmla="*/ 866 w 3448"/>
                  <a:gd name="T69" fmla="*/ 228 h 3448"/>
                  <a:gd name="T70" fmla="*/ 1053 w 3448"/>
                  <a:gd name="T71" fmla="*/ 135 h 3448"/>
                  <a:gd name="T72" fmla="*/ 1252 w 3448"/>
                  <a:gd name="T73" fmla="*/ 66 h 3448"/>
                  <a:gd name="T74" fmla="*/ 1462 w 3448"/>
                  <a:gd name="T75" fmla="*/ 19 h 3448"/>
                  <a:gd name="T76" fmla="*/ 1679 w 3448"/>
                  <a:gd name="T77" fmla="*/ 0 h 3448"/>
                  <a:gd name="T78" fmla="*/ 1856 w 3448"/>
                  <a:gd name="T79" fmla="*/ 4 h 3448"/>
                  <a:gd name="T80" fmla="*/ 2072 w 3448"/>
                  <a:gd name="T81" fmla="*/ 35 h 3448"/>
                  <a:gd name="T82" fmla="*/ 2276 w 3448"/>
                  <a:gd name="T83" fmla="*/ 90 h 3448"/>
                  <a:gd name="T84" fmla="*/ 2471 w 3448"/>
                  <a:gd name="T85" fmla="*/ 170 h 3448"/>
                  <a:gd name="T86" fmla="*/ 2653 w 3448"/>
                  <a:gd name="T87" fmla="*/ 272 h 3448"/>
                  <a:gd name="T88" fmla="*/ 2821 w 3448"/>
                  <a:gd name="T89" fmla="*/ 394 h 3448"/>
                  <a:gd name="T90" fmla="*/ 2972 w 3448"/>
                  <a:gd name="T91" fmla="*/ 534 h 3448"/>
                  <a:gd name="T92" fmla="*/ 3105 w 3448"/>
                  <a:gd name="T93" fmla="*/ 692 h 3448"/>
                  <a:gd name="T94" fmla="*/ 3220 w 3448"/>
                  <a:gd name="T95" fmla="*/ 866 h 3448"/>
                  <a:gd name="T96" fmla="*/ 3313 w 3448"/>
                  <a:gd name="T97" fmla="*/ 1053 h 3448"/>
                  <a:gd name="T98" fmla="*/ 3382 w 3448"/>
                  <a:gd name="T99" fmla="*/ 1252 h 3448"/>
                  <a:gd name="T100" fmla="*/ 3429 w 3448"/>
                  <a:gd name="T101" fmla="*/ 1462 h 3448"/>
                  <a:gd name="T102" fmla="*/ 3448 w 3448"/>
                  <a:gd name="T103" fmla="*/ 1679 h 34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448" h="3448">
                    <a:moveTo>
                      <a:pt x="3448" y="1724"/>
                    </a:moveTo>
                    <a:lnTo>
                      <a:pt x="3448" y="1724"/>
                    </a:lnTo>
                    <a:lnTo>
                      <a:pt x="3448" y="1769"/>
                    </a:lnTo>
                    <a:lnTo>
                      <a:pt x="3447" y="1813"/>
                    </a:lnTo>
                    <a:lnTo>
                      <a:pt x="3444" y="1856"/>
                    </a:lnTo>
                    <a:lnTo>
                      <a:pt x="3439" y="1900"/>
                    </a:lnTo>
                    <a:lnTo>
                      <a:pt x="3434" y="1943"/>
                    </a:lnTo>
                    <a:lnTo>
                      <a:pt x="3429" y="1986"/>
                    </a:lnTo>
                    <a:lnTo>
                      <a:pt x="3421" y="2030"/>
                    </a:lnTo>
                    <a:lnTo>
                      <a:pt x="3413" y="2072"/>
                    </a:lnTo>
                    <a:lnTo>
                      <a:pt x="3405" y="2114"/>
                    </a:lnTo>
                    <a:lnTo>
                      <a:pt x="3394" y="2156"/>
                    </a:lnTo>
                    <a:lnTo>
                      <a:pt x="3382" y="2196"/>
                    </a:lnTo>
                    <a:lnTo>
                      <a:pt x="3371" y="2236"/>
                    </a:lnTo>
                    <a:lnTo>
                      <a:pt x="3358" y="2276"/>
                    </a:lnTo>
                    <a:lnTo>
                      <a:pt x="3344" y="2317"/>
                    </a:lnTo>
                    <a:lnTo>
                      <a:pt x="3329" y="2357"/>
                    </a:lnTo>
                    <a:lnTo>
                      <a:pt x="3313" y="2395"/>
                    </a:lnTo>
                    <a:lnTo>
                      <a:pt x="3295" y="2434"/>
                    </a:lnTo>
                    <a:lnTo>
                      <a:pt x="3278" y="2471"/>
                    </a:lnTo>
                    <a:lnTo>
                      <a:pt x="3260" y="2510"/>
                    </a:lnTo>
                    <a:lnTo>
                      <a:pt x="3241" y="2545"/>
                    </a:lnTo>
                    <a:lnTo>
                      <a:pt x="3220" y="2582"/>
                    </a:lnTo>
                    <a:lnTo>
                      <a:pt x="3199" y="2618"/>
                    </a:lnTo>
                    <a:lnTo>
                      <a:pt x="3176" y="2653"/>
                    </a:lnTo>
                    <a:lnTo>
                      <a:pt x="3154" y="2688"/>
                    </a:lnTo>
                    <a:lnTo>
                      <a:pt x="3130" y="2722"/>
                    </a:lnTo>
                    <a:lnTo>
                      <a:pt x="3105" y="2756"/>
                    </a:lnTo>
                    <a:lnTo>
                      <a:pt x="3081" y="2788"/>
                    </a:lnTo>
                    <a:lnTo>
                      <a:pt x="3054" y="2821"/>
                    </a:lnTo>
                    <a:lnTo>
                      <a:pt x="3028" y="2853"/>
                    </a:lnTo>
                    <a:lnTo>
                      <a:pt x="3001" y="2883"/>
                    </a:lnTo>
                    <a:lnTo>
                      <a:pt x="2972" y="2914"/>
                    </a:lnTo>
                    <a:lnTo>
                      <a:pt x="2943" y="2943"/>
                    </a:lnTo>
                    <a:lnTo>
                      <a:pt x="2914" y="2972"/>
                    </a:lnTo>
                    <a:lnTo>
                      <a:pt x="2883" y="3001"/>
                    </a:lnTo>
                    <a:lnTo>
                      <a:pt x="2853" y="3028"/>
                    </a:lnTo>
                    <a:lnTo>
                      <a:pt x="2821" y="3054"/>
                    </a:lnTo>
                    <a:lnTo>
                      <a:pt x="2788" y="3081"/>
                    </a:lnTo>
                    <a:lnTo>
                      <a:pt x="2756" y="3105"/>
                    </a:lnTo>
                    <a:lnTo>
                      <a:pt x="2722" y="3130"/>
                    </a:lnTo>
                    <a:lnTo>
                      <a:pt x="2688" y="3154"/>
                    </a:lnTo>
                    <a:lnTo>
                      <a:pt x="2653" y="3176"/>
                    </a:lnTo>
                    <a:lnTo>
                      <a:pt x="2618" y="3199"/>
                    </a:lnTo>
                    <a:lnTo>
                      <a:pt x="2582" y="3220"/>
                    </a:lnTo>
                    <a:lnTo>
                      <a:pt x="2545" y="3241"/>
                    </a:lnTo>
                    <a:lnTo>
                      <a:pt x="2510" y="3260"/>
                    </a:lnTo>
                    <a:lnTo>
                      <a:pt x="2471" y="3278"/>
                    </a:lnTo>
                    <a:lnTo>
                      <a:pt x="2434" y="3295"/>
                    </a:lnTo>
                    <a:lnTo>
                      <a:pt x="2395" y="3313"/>
                    </a:lnTo>
                    <a:lnTo>
                      <a:pt x="2357" y="3329"/>
                    </a:lnTo>
                    <a:lnTo>
                      <a:pt x="2317" y="3344"/>
                    </a:lnTo>
                    <a:lnTo>
                      <a:pt x="2276" y="3358"/>
                    </a:lnTo>
                    <a:lnTo>
                      <a:pt x="2236" y="3371"/>
                    </a:lnTo>
                    <a:lnTo>
                      <a:pt x="2196" y="3382"/>
                    </a:lnTo>
                    <a:lnTo>
                      <a:pt x="2156" y="3394"/>
                    </a:lnTo>
                    <a:lnTo>
                      <a:pt x="2114" y="3405"/>
                    </a:lnTo>
                    <a:lnTo>
                      <a:pt x="2072" y="3413"/>
                    </a:lnTo>
                    <a:lnTo>
                      <a:pt x="2030" y="3421"/>
                    </a:lnTo>
                    <a:lnTo>
                      <a:pt x="1986" y="3429"/>
                    </a:lnTo>
                    <a:lnTo>
                      <a:pt x="1943" y="3434"/>
                    </a:lnTo>
                    <a:lnTo>
                      <a:pt x="1900" y="3439"/>
                    </a:lnTo>
                    <a:lnTo>
                      <a:pt x="1856" y="3444"/>
                    </a:lnTo>
                    <a:lnTo>
                      <a:pt x="1813" y="3447"/>
                    </a:lnTo>
                    <a:lnTo>
                      <a:pt x="1769" y="3448"/>
                    </a:lnTo>
                    <a:lnTo>
                      <a:pt x="1724" y="3448"/>
                    </a:lnTo>
                    <a:lnTo>
                      <a:pt x="1724" y="3448"/>
                    </a:lnTo>
                    <a:lnTo>
                      <a:pt x="1679" y="3448"/>
                    </a:lnTo>
                    <a:lnTo>
                      <a:pt x="1635" y="3447"/>
                    </a:lnTo>
                    <a:lnTo>
                      <a:pt x="1592" y="3444"/>
                    </a:lnTo>
                    <a:lnTo>
                      <a:pt x="1547" y="3439"/>
                    </a:lnTo>
                    <a:lnTo>
                      <a:pt x="1505" y="3434"/>
                    </a:lnTo>
                    <a:lnTo>
                      <a:pt x="1462" y="3429"/>
                    </a:lnTo>
                    <a:lnTo>
                      <a:pt x="1418" y="3421"/>
                    </a:lnTo>
                    <a:lnTo>
                      <a:pt x="1376" y="3413"/>
                    </a:lnTo>
                    <a:lnTo>
                      <a:pt x="1334" y="3405"/>
                    </a:lnTo>
                    <a:lnTo>
                      <a:pt x="1292" y="3394"/>
                    </a:lnTo>
                    <a:lnTo>
                      <a:pt x="1252" y="3382"/>
                    </a:lnTo>
                    <a:lnTo>
                      <a:pt x="1212" y="3371"/>
                    </a:lnTo>
                    <a:lnTo>
                      <a:pt x="1172" y="3358"/>
                    </a:lnTo>
                    <a:lnTo>
                      <a:pt x="1131" y="3344"/>
                    </a:lnTo>
                    <a:lnTo>
                      <a:pt x="1091" y="3329"/>
                    </a:lnTo>
                    <a:lnTo>
                      <a:pt x="1053" y="3313"/>
                    </a:lnTo>
                    <a:lnTo>
                      <a:pt x="1014" y="3295"/>
                    </a:lnTo>
                    <a:lnTo>
                      <a:pt x="977" y="3278"/>
                    </a:lnTo>
                    <a:lnTo>
                      <a:pt x="938" y="3260"/>
                    </a:lnTo>
                    <a:lnTo>
                      <a:pt x="903" y="3241"/>
                    </a:lnTo>
                    <a:lnTo>
                      <a:pt x="866" y="3220"/>
                    </a:lnTo>
                    <a:lnTo>
                      <a:pt x="830" y="3199"/>
                    </a:lnTo>
                    <a:lnTo>
                      <a:pt x="795" y="3176"/>
                    </a:lnTo>
                    <a:lnTo>
                      <a:pt x="760" y="3154"/>
                    </a:lnTo>
                    <a:lnTo>
                      <a:pt x="726" y="3130"/>
                    </a:lnTo>
                    <a:lnTo>
                      <a:pt x="692" y="3105"/>
                    </a:lnTo>
                    <a:lnTo>
                      <a:pt x="660" y="3081"/>
                    </a:lnTo>
                    <a:lnTo>
                      <a:pt x="627" y="3054"/>
                    </a:lnTo>
                    <a:lnTo>
                      <a:pt x="595" y="3028"/>
                    </a:lnTo>
                    <a:lnTo>
                      <a:pt x="565" y="3001"/>
                    </a:lnTo>
                    <a:lnTo>
                      <a:pt x="534" y="2972"/>
                    </a:lnTo>
                    <a:lnTo>
                      <a:pt x="505" y="2943"/>
                    </a:lnTo>
                    <a:lnTo>
                      <a:pt x="476" y="2914"/>
                    </a:lnTo>
                    <a:lnTo>
                      <a:pt x="447" y="2883"/>
                    </a:lnTo>
                    <a:lnTo>
                      <a:pt x="420" y="2853"/>
                    </a:lnTo>
                    <a:lnTo>
                      <a:pt x="394" y="2821"/>
                    </a:lnTo>
                    <a:lnTo>
                      <a:pt x="367" y="2788"/>
                    </a:lnTo>
                    <a:lnTo>
                      <a:pt x="343" y="2756"/>
                    </a:lnTo>
                    <a:lnTo>
                      <a:pt x="318" y="2722"/>
                    </a:lnTo>
                    <a:lnTo>
                      <a:pt x="294" y="2688"/>
                    </a:lnTo>
                    <a:lnTo>
                      <a:pt x="272" y="2653"/>
                    </a:lnTo>
                    <a:lnTo>
                      <a:pt x="249" y="2618"/>
                    </a:lnTo>
                    <a:lnTo>
                      <a:pt x="228" y="2582"/>
                    </a:lnTo>
                    <a:lnTo>
                      <a:pt x="207" y="2545"/>
                    </a:lnTo>
                    <a:lnTo>
                      <a:pt x="188" y="2510"/>
                    </a:lnTo>
                    <a:lnTo>
                      <a:pt x="170" y="2471"/>
                    </a:lnTo>
                    <a:lnTo>
                      <a:pt x="153" y="2434"/>
                    </a:lnTo>
                    <a:lnTo>
                      <a:pt x="135" y="2395"/>
                    </a:lnTo>
                    <a:lnTo>
                      <a:pt x="119" y="2357"/>
                    </a:lnTo>
                    <a:lnTo>
                      <a:pt x="104" y="2317"/>
                    </a:lnTo>
                    <a:lnTo>
                      <a:pt x="90" y="2276"/>
                    </a:lnTo>
                    <a:lnTo>
                      <a:pt x="77" y="2236"/>
                    </a:lnTo>
                    <a:lnTo>
                      <a:pt x="66" y="2196"/>
                    </a:lnTo>
                    <a:lnTo>
                      <a:pt x="54" y="2156"/>
                    </a:lnTo>
                    <a:lnTo>
                      <a:pt x="43" y="2114"/>
                    </a:lnTo>
                    <a:lnTo>
                      <a:pt x="35" y="2072"/>
                    </a:lnTo>
                    <a:lnTo>
                      <a:pt x="27" y="2030"/>
                    </a:lnTo>
                    <a:lnTo>
                      <a:pt x="19" y="1986"/>
                    </a:lnTo>
                    <a:lnTo>
                      <a:pt x="14" y="1943"/>
                    </a:lnTo>
                    <a:lnTo>
                      <a:pt x="9" y="1900"/>
                    </a:lnTo>
                    <a:lnTo>
                      <a:pt x="4" y="1856"/>
                    </a:lnTo>
                    <a:lnTo>
                      <a:pt x="1" y="1813"/>
                    </a:lnTo>
                    <a:lnTo>
                      <a:pt x="0" y="1769"/>
                    </a:lnTo>
                    <a:lnTo>
                      <a:pt x="0" y="1724"/>
                    </a:lnTo>
                    <a:lnTo>
                      <a:pt x="0" y="1724"/>
                    </a:lnTo>
                    <a:lnTo>
                      <a:pt x="0" y="1679"/>
                    </a:lnTo>
                    <a:lnTo>
                      <a:pt x="1" y="1635"/>
                    </a:lnTo>
                    <a:lnTo>
                      <a:pt x="4" y="1592"/>
                    </a:lnTo>
                    <a:lnTo>
                      <a:pt x="9" y="1547"/>
                    </a:lnTo>
                    <a:lnTo>
                      <a:pt x="14" y="1505"/>
                    </a:lnTo>
                    <a:lnTo>
                      <a:pt x="19" y="1462"/>
                    </a:lnTo>
                    <a:lnTo>
                      <a:pt x="27" y="1418"/>
                    </a:lnTo>
                    <a:lnTo>
                      <a:pt x="35" y="1376"/>
                    </a:lnTo>
                    <a:lnTo>
                      <a:pt x="43" y="1334"/>
                    </a:lnTo>
                    <a:lnTo>
                      <a:pt x="54" y="1292"/>
                    </a:lnTo>
                    <a:lnTo>
                      <a:pt x="66" y="1252"/>
                    </a:lnTo>
                    <a:lnTo>
                      <a:pt x="77" y="1212"/>
                    </a:lnTo>
                    <a:lnTo>
                      <a:pt x="90" y="1172"/>
                    </a:lnTo>
                    <a:lnTo>
                      <a:pt x="104" y="1131"/>
                    </a:lnTo>
                    <a:lnTo>
                      <a:pt x="119" y="1091"/>
                    </a:lnTo>
                    <a:lnTo>
                      <a:pt x="135" y="1053"/>
                    </a:lnTo>
                    <a:lnTo>
                      <a:pt x="153" y="1014"/>
                    </a:lnTo>
                    <a:lnTo>
                      <a:pt x="170" y="977"/>
                    </a:lnTo>
                    <a:lnTo>
                      <a:pt x="188" y="938"/>
                    </a:lnTo>
                    <a:lnTo>
                      <a:pt x="207" y="903"/>
                    </a:lnTo>
                    <a:lnTo>
                      <a:pt x="228" y="866"/>
                    </a:lnTo>
                    <a:lnTo>
                      <a:pt x="249" y="830"/>
                    </a:lnTo>
                    <a:lnTo>
                      <a:pt x="272" y="795"/>
                    </a:lnTo>
                    <a:lnTo>
                      <a:pt x="294" y="760"/>
                    </a:lnTo>
                    <a:lnTo>
                      <a:pt x="318" y="726"/>
                    </a:lnTo>
                    <a:lnTo>
                      <a:pt x="343" y="692"/>
                    </a:lnTo>
                    <a:lnTo>
                      <a:pt x="367" y="660"/>
                    </a:lnTo>
                    <a:lnTo>
                      <a:pt x="394" y="627"/>
                    </a:lnTo>
                    <a:lnTo>
                      <a:pt x="420" y="595"/>
                    </a:lnTo>
                    <a:lnTo>
                      <a:pt x="447" y="565"/>
                    </a:lnTo>
                    <a:lnTo>
                      <a:pt x="476" y="534"/>
                    </a:lnTo>
                    <a:lnTo>
                      <a:pt x="505" y="505"/>
                    </a:lnTo>
                    <a:lnTo>
                      <a:pt x="534" y="476"/>
                    </a:lnTo>
                    <a:lnTo>
                      <a:pt x="565" y="447"/>
                    </a:lnTo>
                    <a:lnTo>
                      <a:pt x="595" y="420"/>
                    </a:lnTo>
                    <a:lnTo>
                      <a:pt x="627" y="394"/>
                    </a:lnTo>
                    <a:lnTo>
                      <a:pt x="660" y="367"/>
                    </a:lnTo>
                    <a:lnTo>
                      <a:pt x="692" y="343"/>
                    </a:lnTo>
                    <a:lnTo>
                      <a:pt x="726" y="318"/>
                    </a:lnTo>
                    <a:lnTo>
                      <a:pt x="760" y="294"/>
                    </a:lnTo>
                    <a:lnTo>
                      <a:pt x="795" y="272"/>
                    </a:lnTo>
                    <a:lnTo>
                      <a:pt x="830" y="249"/>
                    </a:lnTo>
                    <a:lnTo>
                      <a:pt x="866" y="228"/>
                    </a:lnTo>
                    <a:lnTo>
                      <a:pt x="903" y="207"/>
                    </a:lnTo>
                    <a:lnTo>
                      <a:pt x="938" y="188"/>
                    </a:lnTo>
                    <a:lnTo>
                      <a:pt x="977" y="170"/>
                    </a:lnTo>
                    <a:lnTo>
                      <a:pt x="1014" y="153"/>
                    </a:lnTo>
                    <a:lnTo>
                      <a:pt x="1053" y="135"/>
                    </a:lnTo>
                    <a:lnTo>
                      <a:pt x="1091" y="119"/>
                    </a:lnTo>
                    <a:lnTo>
                      <a:pt x="1131" y="104"/>
                    </a:lnTo>
                    <a:lnTo>
                      <a:pt x="1172" y="90"/>
                    </a:lnTo>
                    <a:lnTo>
                      <a:pt x="1212" y="77"/>
                    </a:lnTo>
                    <a:lnTo>
                      <a:pt x="1252" y="66"/>
                    </a:lnTo>
                    <a:lnTo>
                      <a:pt x="1292" y="54"/>
                    </a:lnTo>
                    <a:lnTo>
                      <a:pt x="1334" y="43"/>
                    </a:lnTo>
                    <a:lnTo>
                      <a:pt x="1376" y="35"/>
                    </a:lnTo>
                    <a:lnTo>
                      <a:pt x="1418" y="27"/>
                    </a:lnTo>
                    <a:lnTo>
                      <a:pt x="1462" y="19"/>
                    </a:lnTo>
                    <a:lnTo>
                      <a:pt x="1505" y="14"/>
                    </a:lnTo>
                    <a:lnTo>
                      <a:pt x="1547" y="9"/>
                    </a:lnTo>
                    <a:lnTo>
                      <a:pt x="1592" y="4"/>
                    </a:lnTo>
                    <a:lnTo>
                      <a:pt x="1635" y="1"/>
                    </a:lnTo>
                    <a:lnTo>
                      <a:pt x="1679" y="0"/>
                    </a:lnTo>
                    <a:lnTo>
                      <a:pt x="1724" y="0"/>
                    </a:lnTo>
                    <a:lnTo>
                      <a:pt x="1724" y="0"/>
                    </a:lnTo>
                    <a:lnTo>
                      <a:pt x="1769" y="0"/>
                    </a:lnTo>
                    <a:lnTo>
                      <a:pt x="1813" y="1"/>
                    </a:lnTo>
                    <a:lnTo>
                      <a:pt x="1856" y="4"/>
                    </a:lnTo>
                    <a:lnTo>
                      <a:pt x="1900" y="9"/>
                    </a:lnTo>
                    <a:lnTo>
                      <a:pt x="1943" y="14"/>
                    </a:lnTo>
                    <a:lnTo>
                      <a:pt x="1986" y="19"/>
                    </a:lnTo>
                    <a:lnTo>
                      <a:pt x="2030" y="27"/>
                    </a:lnTo>
                    <a:lnTo>
                      <a:pt x="2072" y="35"/>
                    </a:lnTo>
                    <a:lnTo>
                      <a:pt x="2114" y="43"/>
                    </a:lnTo>
                    <a:lnTo>
                      <a:pt x="2156" y="54"/>
                    </a:lnTo>
                    <a:lnTo>
                      <a:pt x="2196" y="66"/>
                    </a:lnTo>
                    <a:lnTo>
                      <a:pt x="2236" y="77"/>
                    </a:lnTo>
                    <a:lnTo>
                      <a:pt x="2276" y="90"/>
                    </a:lnTo>
                    <a:lnTo>
                      <a:pt x="2317" y="104"/>
                    </a:lnTo>
                    <a:lnTo>
                      <a:pt x="2357" y="119"/>
                    </a:lnTo>
                    <a:lnTo>
                      <a:pt x="2395" y="135"/>
                    </a:lnTo>
                    <a:lnTo>
                      <a:pt x="2434" y="153"/>
                    </a:lnTo>
                    <a:lnTo>
                      <a:pt x="2471" y="170"/>
                    </a:lnTo>
                    <a:lnTo>
                      <a:pt x="2510" y="188"/>
                    </a:lnTo>
                    <a:lnTo>
                      <a:pt x="2545" y="207"/>
                    </a:lnTo>
                    <a:lnTo>
                      <a:pt x="2582" y="228"/>
                    </a:lnTo>
                    <a:lnTo>
                      <a:pt x="2618" y="249"/>
                    </a:lnTo>
                    <a:lnTo>
                      <a:pt x="2653" y="272"/>
                    </a:lnTo>
                    <a:lnTo>
                      <a:pt x="2688" y="294"/>
                    </a:lnTo>
                    <a:lnTo>
                      <a:pt x="2722" y="318"/>
                    </a:lnTo>
                    <a:lnTo>
                      <a:pt x="2756" y="343"/>
                    </a:lnTo>
                    <a:lnTo>
                      <a:pt x="2788" y="367"/>
                    </a:lnTo>
                    <a:lnTo>
                      <a:pt x="2821" y="394"/>
                    </a:lnTo>
                    <a:lnTo>
                      <a:pt x="2853" y="420"/>
                    </a:lnTo>
                    <a:lnTo>
                      <a:pt x="2883" y="447"/>
                    </a:lnTo>
                    <a:lnTo>
                      <a:pt x="2914" y="476"/>
                    </a:lnTo>
                    <a:lnTo>
                      <a:pt x="2943" y="505"/>
                    </a:lnTo>
                    <a:lnTo>
                      <a:pt x="2972" y="534"/>
                    </a:lnTo>
                    <a:lnTo>
                      <a:pt x="3001" y="565"/>
                    </a:lnTo>
                    <a:lnTo>
                      <a:pt x="3028" y="595"/>
                    </a:lnTo>
                    <a:lnTo>
                      <a:pt x="3054" y="627"/>
                    </a:lnTo>
                    <a:lnTo>
                      <a:pt x="3081" y="660"/>
                    </a:lnTo>
                    <a:lnTo>
                      <a:pt x="3105" y="692"/>
                    </a:lnTo>
                    <a:lnTo>
                      <a:pt x="3130" y="726"/>
                    </a:lnTo>
                    <a:lnTo>
                      <a:pt x="3154" y="760"/>
                    </a:lnTo>
                    <a:lnTo>
                      <a:pt x="3176" y="795"/>
                    </a:lnTo>
                    <a:lnTo>
                      <a:pt x="3199" y="830"/>
                    </a:lnTo>
                    <a:lnTo>
                      <a:pt x="3220" y="866"/>
                    </a:lnTo>
                    <a:lnTo>
                      <a:pt x="3241" y="903"/>
                    </a:lnTo>
                    <a:lnTo>
                      <a:pt x="3260" y="938"/>
                    </a:lnTo>
                    <a:lnTo>
                      <a:pt x="3278" y="977"/>
                    </a:lnTo>
                    <a:lnTo>
                      <a:pt x="3295" y="1014"/>
                    </a:lnTo>
                    <a:lnTo>
                      <a:pt x="3313" y="1053"/>
                    </a:lnTo>
                    <a:lnTo>
                      <a:pt x="3329" y="1091"/>
                    </a:lnTo>
                    <a:lnTo>
                      <a:pt x="3344" y="1131"/>
                    </a:lnTo>
                    <a:lnTo>
                      <a:pt x="3358" y="1172"/>
                    </a:lnTo>
                    <a:lnTo>
                      <a:pt x="3371" y="1212"/>
                    </a:lnTo>
                    <a:lnTo>
                      <a:pt x="3382" y="1252"/>
                    </a:lnTo>
                    <a:lnTo>
                      <a:pt x="3394" y="1292"/>
                    </a:lnTo>
                    <a:lnTo>
                      <a:pt x="3405" y="1334"/>
                    </a:lnTo>
                    <a:lnTo>
                      <a:pt x="3413" y="1376"/>
                    </a:lnTo>
                    <a:lnTo>
                      <a:pt x="3421" y="1418"/>
                    </a:lnTo>
                    <a:lnTo>
                      <a:pt x="3429" y="1462"/>
                    </a:lnTo>
                    <a:lnTo>
                      <a:pt x="3434" y="1505"/>
                    </a:lnTo>
                    <a:lnTo>
                      <a:pt x="3439" y="1547"/>
                    </a:lnTo>
                    <a:lnTo>
                      <a:pt x="3444" y="1592"/>
                    </a:lnTo>
                    <a:lnTo>
                      <a:pt x="3447" y="1635"/>
                    </a:lnTo>
                    <a:lnTo>
                      <a:pt x="3448" y="1679"/>
                    </a:lnTo>
                    <a:lnTo>
                      <a:pt x="3448" y="1724"/>
                    </a:lnTo>
                    <a:lnTo>
                      <a:pt x="3448" y="1724"/>
                    </a:lnTo>
                    <a:close/>
                  </a:path>
                </a:pathLst>
              </a:custGeom>
              <a:noFill/>
              <a:ln w="6350" cmpd="sng">
                <a:solidFill>
                  <a:schemeClr val="tx1"/>
                </a:solidFill>
                <a:prstDash val="sysDot"/>
                <a:round/>
                <a:headEnd/>
                <a:tailEnd/>
              </a:ln>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19" name="Freeform 48"/>
              <p:cNvSpPr>
                <a:spLocks/>
              </p:cNvSpPr>
              <p:nvPr/>
            </p:nvSpPr>
            <p:spPr bwMode="auto">
              <a:xfrm>
                <a:off x="3361967" y="2231667"/>
                <a:ext cx="2420066" cy="2420066"/>
              </a:xfrm>
              <a:custGeom>
                <a:avLst/>
                <a:gdLst>
                  <a:gd name="T0" fmla="*/ 4306 w 4312"/>
                  <a:gd name="T1" fmla="*/ 2322 h 4312"/>
                  <a:gd name="T2" fmla="*/ 4269 w 4312"/>
                  <a:gd name="T3" fmla="*/ 2591 h 4312"/>
                  <a:gd name="T4" fmla="*/ 4199 w 4312"/>
                  <a:gd name="T5" fmla="*/ 2848 h 4312"/>
                  <a:gd name="T6" fmla="*/ 4099 w 4312"/>
                  <a:gd name="T7" fmla="*/ 3091 h 4312"/>
                  <a:gd name="T8" fmla="*/ 3972 w 4312"/>
                  <a:gd name="T9" fmla="*/ 3319 h 4312"/>
                  <a:gd name="T10" fmla="*/ 3819 w 4312"/>
                  <a:gd name="T11" fmla="*/ 3528 h 4312"/>
                  <a:gd name="T12" fmla="*/ 3644 w 4312"/>
                  <a:gd name="T13" fmla="*/ 3716 h 4312"/>
                  <a:gd name="T14" fmla="*/ 3446 w 4312"/>
                  <a:gd name="T15" fmla="*/ 3884 h 4312"/>
                  <a:gd name="T16" fmla="*/ 3230 w 4312"/>
                  <a:gd name="T17" fmla="*/ 4027 h 4312"/>
                  <a:gd name="T18" fmla="*/ 2995 w 4312"/>
                  <a:gd name="T19" fmla="*/ 4143 h 4312"/>
                  <a:gd name="T20" fmla="*/ 2747 w 4312"/>
                  <a:gd name="T21" fmla="*/ 4230 h 4312"/>
                  <a:gd name="T22" fmla="*/ 2484 w 4312"/>
                  <a:gd name="T23" fmla="*/ 4288 h 4312"/>
                  <a:gd name="T24" fmla="*/ 2212 w 4312"/>
                  <a:gd name="T25" fmla="*/ 4312 h 4312"/>
                  <a:gd name="T26" fmla="*/ 1990 w 4312"/>
                  <a:gd name="T27" fmla="*/ 4306 h 4312"/>
                  <a:gd name="T28" fmla="*/ 1721 w 4312"/>
                  <a:gd name="T29" fmla="*/ 4269 h 4312"/>
                  <a:gd name="T30" fmla="*/ 1464 w 4312"/>
                  <a:gd name="T31" fmla="*/ 4199 h 4312"/>
                  <a:gd name="T32" fmla="*/ 1221 w 4312"/>
                  <a:gd name="T33" fmla="*/ 4099 h 4312"/>
                  <a:gd name="T34" fmla="*/ 993 w 4312"/>
                  <a:gd name="T35" fmla="*/ 3972 h 4312"/>
                  <a:gd name="T36" fmla="*/ 784 w 4312"/>
                  <a:gd name="T37" fmla="*/ 3819 h 4312"/>
                  <a:gd name="T38" fmla="*/ 596 w 4312"/>
                  <a:gd name="T39" fmla="*/ 3644 h 4312"/>
                  <a:gd name="T40" fmla="*/ 428 w 4312"/>
                  <a:gd name="T41" fmla="*/ 3446 h 4312"/>
                  <a:gd name="T42" fmla="*/ 285 w 4312"/>
                  <a:gd name="T43" fmla="*/ 3230 h 4312"/>
                  <a:gd name="T44" fmla="*/ 169 w 4312"/>
                  <a:gd name="T45" fmla="*/ 2995 h 4312"/>
                  <a:gd name="T46" fmla="*/ 82 w 4312"/>
                  <a:gd name="T47" fmla="*/ 2747 h 4312"/>
                  <a:gd name="T48" fmla="*/ 24 w 4312"/>
                  <a:gd name="T49" fmla="*/ 2484 h 4312"/>
                  <a:gd name="T50" fmla="*/ 0 w 4312"/>
                  <a:gd name="T51" fmla="*/ 2212 h 4312"/>
                  <a:gd name="T52" fmla="*/ 6 w 4312"/>
                  <a:gd name="T53" fmla="*/ 1990 h 4312"/>
                  <a:gd name="T54" fmla="*/ 43 w 4312"/>
                  <a:gd name="T55" fmla="*/ 1721 h 4312"/>
                  <a:gd name="T56" fmla="*/ 113 w 4312"/>
                  <a:gd name="T57" fmla="*/ 1464 h 4312"/>
                  <a:gd name="T58" fmla="*/ 213 w 4312"/>
                  <a:gd name="T59" fmla="*/ 1221 h 4312"/>
                  <a:gd name="T60" fmla="*/ 340 w 4312"/>
                  <a:gd name="T61" fmla="*/ 993 h 4312"/>
                  <a:gd name="T62" fmla="*/ 493 w 4312"/>
                  <a:gd name="T63" fmla="*/ 784 h 4312"/>
                  <a:gd name="T64" fmla="*/ 668 w 4312"/>
                  <a:gd name="T65" fmla="*/ 596 h 4312"/>
                  <a:gd name="T66" fmla="*/ 866 w 4312"/>
                  <a:gd name="T67" fmla="*/ 428 h 4312"/>
                  <a:gd name="T68" fmla="*/ 1082 w 4312"/>
                  <a:gd name="T69" fmla="*/ 285 h 4312"/>
                  <a:gd name="T70" fmla="*/ 1317 w 4312"/>
                  <a:gd name="T71" fmla="*/ 169 h 4312"/>
                  <a:gd name="T72" fmla="*/ 1565 w 4312"/>
                  <a:gd name="T73" fmla="*/ 82 h 4312"/>
                  <a:gd name="T74" fmla="*/ 1828 w 4312"/>
                  <a:gd name="T75" fmla="*/ 24 h 4312"/>
                  <a:gd name="T76" fmla="*/ 2100 w 4312"/>
                  <a:gd name="T77" fmla="*/ 0 h 4312"/>
                  <a:gd name="T78" fmla="*/ 2322 w 4312"/>
                  <a:gd name="T79" fmla="*/ 6 h 4312"/>
                  <a:gd name="T80" fmla="*/ 2591 w 4312"/>
                  <a:gd name="T81" fmla="*/ 43 h 4312"/>
                  <a:gd name="T82" fmla="*/ 2848 w 4312"/>
                  <a:gd name="T83" fmla="*/ 113 h 4312"/>
                  <a:gd name="T84" fmla="*/ 3091 w 4312"/>
                  <a:gd name="T85" fmla="*/ 213 h 4312"/>
                  <a:gd name="T86" fmla="*/ 3319 w 4312"/>
                  <a:gd name="T87" fmla="*/ 340 h 4312"/>
                  <a:gd name="T88" fmla="*/ 3528 w 4312"/>
                  <a:gd name="T89" fmla="*/ 493 h 4312"/>
                  <a:gd name="T90" fmla="*/ 3716 w 4312"/>
                  <a:gd name="T91" fmla="*/ 668 h 4312"/>
                  <a:gd name="T92" fmla="*/ 3884 w 4312"/>
                  <a:gd name="T93" fmla="*/ 866 h 4312"/>
                  <a:gd name="T94" fmla="*/ 4027 w 4312"/>
                  <a:gd name="T95" fmla="*/ 1082 h 4312"/>
                  <a:gd name="T96" fmla="*/ 4143 w 4312"/>
                  <a:gd name="T97" fmla="*/ 1317 h 4312"/>
                  <a:gd name="T98" fmla="*/ 4230 w 4312"/>
                  <a:gd name="T99" fmla="*/ 1565 h 4312"/>
                  <a:gd name="T100" fmla="*/ 4288 w 4312"/>
                  <a:gd name="T101" fmla="*/ 1828 h 4312"/>
                  <a:gd name="T102" fmla="*/ 4312 w 4312"/>
                  <a:gd name="T103" fmla="*/ 2100 h 4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312" h="4312">
                    <a:moveTo>
                      <a:pt x="4312" y="2156"/>
                    </a:moveTo>
                    <a:lnTo>
                      <a:pt x="4312" y="2156"/>
                    </a:lnTo>
                    <a:lnTo>
                      <a:pt x="4312" y="2212"/>
                    </a:lnTo>
                    <a:lnTo>
                      <a:pt x="4309" y="2267"/>
                    </a:lnTo>
                    <a:lnTo>
                      <a:pt x="4306" y="2322"/>
                    </a:lnTo>
                    <a:lnTo>
                      <a:pt x="4301" y="2377"/>
                    </a:lnTo>
                    <a:lnTo>
                      <a:pt x="4294" y="2431"/>
                    </a:lnTo>
                    <a:lnTo>
                      <a:pt x="4288" y="2484"/>
                    </a:lnTo>
                    <a:lnTo>
                      <a:pt x="4278" y="2538"/>
                    </a:lnTo>
                    <a:lnTo>
                      <a:pt x="4269" y="2591"/>
                    </a:lnTo>
                    <a:lnTo>
                      <a:pt x="4257" y="2642"/>
                    </a:lnTo>
                    <a:lnTo>
                      <a:pt x="4244" y="2695"/>
                    </a:lnTo>
                    <a:lnTo>
                      <a:pt x="4230" y="2747"/>
                    </a:lnTo>
                    <a:lnTo>
                      <a:pt x="4215" y="2797"/>
                    </a:lnTo>
                    <a:lnTo>
                      <a:pt x="4199" y="2848"/>
                    </a:lnTo>
                    <a:lnTo>
                      <a:pt x="4182" y="2897"/>
                    </a:lnTo>
                    <a:lnTo>
                      <a:pt x="4162" y="2947"/>
                    </a:lnTo>
                    <a:lnTo>
                      <a:pt x="4143" y="2995"/>
                    </a:lnTo>
                    <a:lnTo>
                      <a:pt x="4122" y="3043"/>
                    </a:lnTo>
                    <a:lnTo>
                      <a:pt x="4099" y="3091"/>
                    </a:lnTo>
                    <a:lnTo>
                      <a:pt x="4077" y="3138"/>
                    </a:lnTo>
                    <a:lnTo>
                      <a:pt x="4053" y="3183"/>
                    </a:lnTo>
                    <a:lnTo>
                      <a:pt x="4027" y="3230"/>
                    </a:lnTo>
                    <a:lnTo>
                      <a:pt x="4000" y="3273"/>
                    </a:lnTo>
                    <a:lnTo>
                      <a:pt x="3972" y="3319"/>
                    </a:lnTo>
                    <a:lnTo>
                      <a:pt x="3943" y="3362"/>
                    </a:lnTo>
                    <a:lnTo>
                      <a:pt x="3914" y="3404"/>
                    </a:lnTo>
                    <a:lnTo>
                      <a:pt x="3884" y="3446"/>
                    </a:lnTo>
                    <a:lnTo>
                      <a:pt x="3853" y="3488"/>
                    </a:lnTo>
                    <a:lnTo>
                      <a:pt x="3819" y="3528"/>
                    </a:lnTo>
                    <a:lnTo>
                      <a:pt x="3787" y="3566"/>
                    </a:lnTo>
                    <a:lnTo>
                      <a:pt x="3752" y="3605"/>
                    </a:lnTo>
                    <a:lnTo>
                      <a:pt x="3716" y="3644"/>
                    </a:lnTo>
                    <a:lnTo>
                      <a:pt x="3681" y="3681"/>
                    </a:lnTo>
                    <a:lnTo>
                      <a:pt x="3644" y="3716"/>
                    </a:lnTo>
                    <a:lnTo>
                      <a:pt x="3605" y="3752"/>
                    </a:lnTo>
                    <a:lnTo>
                      <a:pt x="3566" y="3787"/>
                    </a:lnTo>
                    <a:lnTo>
                      <a:pt x="3528" y="3819"/>
                    </a:lnTo>
                    <a:lnTo>
                      <a:pt x="3488" y="3853"/>
                    </a:lnTo>
                    <a:lnTo>
                      <a:pt x="3446" y="3884"/>
                    </a:lnTo>
                    <a:lnTo>
                      <a:pt x="3404" y="3914"/>
                    </a:lnTo>
                    <a:lnTo>
                      <a:pt x="3362" y="3943"/>
                    </a:lnTo>
                    <a:lnTo>
                      <a:pt x="3319" y="3972"/>
                    </a:lnTo>
                    <a:lnTo>
                      <a:pt x="3273" y="4000"/>
                    </a:lnTo>
                    <a:lnTo>
                      <a:pt x="3230" y="4027"/>
                    </a:lnTo>
                    <a:lnTo>
                      <a:pt x="3183" y="4053"/>
                    </a:lnTo>
                    <a:lnTo>
                      <a:pt x="3138" y="4077"/>
                    </a:lnTo>
                    <a:lnTo>
                      <a:pt x="3091" y="4099"/>
                    </a:lnTo>
                    <a:lnTo>
                      <a:pt x="3043" y="4122"/>
                    </a:lnTo>
                    <a:lnTo>
                      <a:pt x="2995" y="4143"/>
                    </a:lnTo>
                    <a:lnTo>
                      <a:pt x="2947" y="4162"/>
                    </a:lnTo>
                    <a:lnTo>
                      <a:pt x="2897" y="4182"/>
                    </a:lnTo>
                    <a:lnTo>
                      <a:pt x="2848" y="4199"/>
                    </a:lnTo>
                    <a:lnTo>
                      <a:pt x="2797" y="4215"/>
                    </a:lnTo>
                    <a:lnTo>
                      <a:pt x="2747" y="4230"/>
                    </a:lnTo>
                    <a:lnTo>
                      <a:pt x="2695" y="4244"/>
                    </a:lnTo>
                    <a:lnTo>
                      <a:pt x="2642" y="4257"/>
                    </a:lnTo>
                    <a:lnTo>
                      <a:pt x="2591" y="4269"/>
                    </a:lnTo>
                    <a:lnTo>
                      <a:pt x="2538" y="4278"/>
                    </a:lnTo>
                    <a:lnTo>
                      <a:pt x="2484" y="4288"/>
                    </a:lnTo>
                    <a:lnTo>
                      <a:pt x="2431" y="4294"/>
                    </a:lnTo>
                    <a:lnTo>
                      <a:pt x="2377" y="4301"/>
                    </a:lnTo>
                    <a:lnTo>
                      <a:pt x="2322" y="4306"/>
                    </a:lnTo>
                    <a:lnTo>
                      <a:pt x="2267" y="4309"/>
                    </a:lnTo>
                    <a:lnTo>
                      <a:pt x="2212" y="4312"/>
                    </a:lnTo>
                    <a:lnTo>
                      <a:pt x="2156" y="4312"/>
                    </a:lnTo>
                    <a:lnTo>
                      <a:pt x="2156" y="4312"/>
                    </a:lnTo>
                    <a:lnTo>
                      <a:pt x="2100" y="4312"/>
                    </a:lnTo>
                    <a:lnTo>
                      <a:pt x="2045" y="4309"/>
                    </a:lnTo>
                    <a:lnTo>
                      <a:pt x="1990" y="4306"/>
                    </a:lnTo>
                    <a:lnTo>
                      <a:pt x="1935" y="4301"/>
                    </a:lnTo>
                    <a:lnTo>
                      <a:pt x="1881" y="4294"/>
                    </a:lnTo>
                    <a:lnTo>
                      <a:pt x="1828" y="4288"/>
                    </a:lnTo>
                    <a:lnTo>
                      <a:pt x="1774" y="4278"/>
                    </a:lnTo>
                    <a:lnTo>
                      <a:pt x="1721" y="4269"/>
                    </a:lnTo>
                    <a:lnTo>
                      <a:pt x="1670" y="4257"/>
                    </a:lnTo>
                    <a:lnTo>
                      <a:pt x="1617" y="4244"/>
                    </a:lnTo>
                    <a:lnTo>
                      <a:pt x="1565" y="4230"/>
                    </a:lnTo>
                    <a:lnTo>
                      <a:pt x="1515" y="4215"/>
                    </a:lnTo>
                    <a:lnTo>
                      <a:pt x="1464" y="4199"/>
                    </a:lnTo>
                    <a:lnTo>
                      <a:pt x="1415" y="4182"/>
                    </a:lnTo>
                    <a:lnTo>
                      <a:pt x="1365" y="4162"/>
                    </a:lnTo>
                    <a:lnTo>
                      <a:pt x="1317" y="4143"/>
                    </a:lnTo>
                    <a:lnTo>
                      <a:pt x="1269" y="4122"/>
                    </a:lnTo>
                    <a:lnTo>
                      <a:pt x="1221" y="4099"/>
                    </a:lnTo>
                    <a:lnTo>
                      <a:pt x="1174" y="4077"/>
                    </a:lnTo>
                    <a:lnTo>
                      <a:pt x="1129" y="4053"/>
                    </a:lnTo>
                    <a:lnTo>
                      <a:pt x="1082" y="4027"/>
                    </a:lnTo>
                    <a:lnTo>
                      <a:pt x="1039" y="4000"/>
                    </a:lnTo>
                    <a:lnTo>
                      <a:pt x="993" y="3972"/>
                    </a:lnTo>
                    <a:lnTo>
                      <a:pt x="950" y="3943"/>
                    </a:lnTo>
                    <a:lnTo>
                      <a:pt x="908" y="3914"/>
                    </a:lnTo>
                    <a:lnTo>
                      <a:pt x="866" y="3884"/>
                    </a:lnTo>
                    <a:lnTo>
                      <a:pt x="824" y="3853"/>
                    </a:lnTo>
                    <a:lnTo>
                      <a:pt x="784" y="3819"/>
                    </a:lnTo>
                    <a:lnTo>
                      <a:pt x="746" y="3787"/>
                    </a:lnTo>
                    <a:lnTo>
                      <a:pt x="707" y="3752"/>
                    </a:lnTo>
                    <a:lnTo>
                      <a:pt x="668" y="3716"/>
                    </a:lnTo>
                    <a:lnTo>
                      <a:pt x="631" y="3681"/>
                    </a:lnTo>
                    <a:lnTo>
                      <a:pt x="596" y="3644"/>
                    </a:lnTo>
                    <a:lnTo>
                      <a:pt x="560" y="3605"/>
                    </a:lnTo>
                    <a:lnTo>
                      <a:pt x="525" y="3566"/>
                    </a:lnTo>
                    <a:lnTo>
                      <a:pt x="493" y="3528"/>
                    </a:lnTo>
                    <a:lnTo>
                      <a:pt x="459" y="3488"/>
                    </a:lnTo>
                    <a:lnTo>
                      <a:pt x="428" y="3446"/>
                    </a:lnTo>
                    <a:lnTo>
                      <a:pt x="398" y="3404"/>
                    </a:lnTo>
                    <a:lnTo>
                      <a:pt x="369" y="3362"/>
                    </a:lnTo>
                    <a:lnTo>
                      <a:pt x="340" y="3319"/>
                    </a:lnTo>
                    <a:lnTo>
                      <a:pt x="312" y="3273"/>
                    </a:lnTo>
                    <a:lnTo>
                      <a:pt x="285" y="3230"/>
                    </a:lnTo>
                    <a:lnTo>
                      <a:pt x="259" y="3183"/>
                    </a:lnTo>
                    <a:lnTo>
                      <a:pt x="235" y="3138"/>
                    </a:lnTo>
                    <a:lnTo>
                      <a:pt x="213" y="3091"/>
                    </a:lnTo>
                    <a:lnTo>
                      <a:pt x="190" y="3043"/>
                    </a:lnTo>
                    <a:lnTo>
                      <a:pt x="169" y="2995"/>
                    </a:lnTo>
                    <a:lnTo>
                      <a:pt x="150" y="2947"/>
                    </a:lnTo>
                    <a:lnTo>
                      <a:pt x="130" y="2897"/>
                    </a:lnTo>
                    <a:lnTo>
                      <a:pt x="113" y="2848"/>
                    </a:lnTo>
                    <a:lnTo>
                      <a:pt x="97" y="2797"/>
                    </a:lnTo>
                    <a:lnTo>
                      <a:pt x="82" y="2747"/>
                    </a:lnTo>
                    <a:lnTo>
                      <a:pt x="68" y="2695"/>
                    </a:lnTo>
                    <a:lnTo>
                      <a:pt x="55" y="2642"/>
                    </a:lnTo>
                    <a:lnTo>
                      <a:pt x="43" y="2591"/>
                    </a:lnTo>
                    <a:lnTo>
                      <a:pt x="34" y="2538"/>
                    </a:lnTo>
                    <a:lnTo>
                      <a:pt x="24" y="2484"/>
                    </a:lnTo>
                    <a:lnTo>
                      <a:pt x="18" y="2431"/>
                    </a:lnTo>
                    <a:lnTo>
                      <a:pt x="11" y="2377"/>
                    </a:lnTo>
                    <a:lnTo>
                      <a:pt x="6" y="2322"/>
                    </a:lnTo>
                    <a:lnTo>
                      <a:pt x="3" y="2267"/>
                    </a:lnTo>
                    <a:lnTo>
                      <a:pt x="0" y="2212"/>
                    </a:lnTo>
                    <a:lnTo>
                      <a:pt x="0" y="2156"/>
                    </a:lnTo>
                    <a:lnTo>
                      <a:pt x="0" y="2156"/>
                    </a:lnTo>
                    <a:lnTo>
                      <a:pt x="0" y="2100"/>
                    </a:lnTo>
                    <a:lnTo>
                      <a:pt x="3" y="2045"/>
                    </a:lnTo>
                    <a:lnTo>
                      <a:pt x="6" y="1990"/>
                    </a:lnTo>
                    <a:lnTo>
                      <a:pt x="11" y="1935"/>
                    </a:lnTo>
                    <a:lnTo>
                      <a:pt x="18" y="1881"/>
                    </a:lnTo>
                    <a:lnTo>
                      <a:pt x="24" y="1828"/>
                    </a:lnTo>
                    <a:lnTo>
                      <a:pt x="34" y="1774"/>
                    </a:lnTo>
                    <a:lnTo>
                      <a:pt x="43" y="1721"/>
                    </a:lnTo>
                    <a:lnTo>
                      <a:pt x="55" y="1670"/>
                    </a:lnTo>
                    <a:lnTo>
                      <a:pt x="68" y="1617"/>
                    </a:lnTo>
                    <a:lnTo>
                      <a:pt x="82" y="1565"/>
                    </a:lnTo>
                    <a:lnTo>
                      <a:pt x="97" y="1515"/>
                    </a:lnTo>
                    <a:lnTo>
                      <a:pt x="113" y="1464"/>
                    </a:lnTo>
                    <a:lnTo>
                      <a:pt x="130" y="1415"/>
                    </a:lnTo>
                    <a:lnTo>
                      <a:pt x="150" y="1365"/>
                    </a:lnTo>
                    <a:lnTo>
                      <a:pt x="169" y="1317"/>
                    </a:lnTo>
                    <a:lnTo>
                      <a:pt x="190" y="1269"/>
                    </a:lnTo>
                    <a:lnTo>
                      <a:pt x="213" y="1221"/>
                    </a:lnTo>
                    <a:lnTo>
                      <a:pt x="235" y="1174"/>
                    </a:lnTo>
                    <a:lnTo>
                      <a:pt x="259" y="1129"/>
                    </a:lnTo>
                    <a:lnTo>
                      <a:pt x="285" y="1082"/>
                    </a:lnTo>
                    <a:lnTo>
                      <a:pt x="312" y="1039"/>
                    </a:lnTo>
                    <a:lnTo>
                      <a:pt x="340" y="993"/>
                    </a:lnTo>
                    <a:lnTo>
                      <a:pt x="369" y="950"/>
                    </a:lnTo>
                    <a:lnTo>
                      <a:pt x="398" y="908"/>
                    </a:lnTo>
                    <a:lnTo>
                      <a:pt x="428" y="866"/>
                    </a:lnTo>
                    <a:lnTo>
                      <a:pt x="459" y="824"/>
                    </a:lnTo>
                    <a:lnTo>
                      <a:pt x="493" y="784"/>
                    </a:lnTo>
                    <a:lnTo>
                      <a:pt x="525" y="746"/>
                    </a:lnTo>
                    <a:lnTo>
                      <a:pt x="560" y="707"/>
                    </a:lnTo>
                    <a:lnTo>
                      <a:pt x="596" y="668"/>
                    </a:lnTo>
                    <a:lnTo>
                      <a:pt x="631" y="631"/>
                    </a:lnTo>
                    <a:lnTo>
                      <a:pt x="668" y="596"/>
                    </a:lnTo>
                    <a:lnTo>
                      <a:pt x="707" y="560"/>
                    </a:lnTo>
                    <a:lnTo>
                      <a:pt x="746" y="525"/>
                    </a:lnTo>
                    <a:lnTo>
                      <a:pt x="784" y="493"/>
                    </a:lnTo>
                    <a:lnTo>
                      <a:pt x="824" y="459"/>
                    </a:lnTo>
                    <a:lnTo>
                      <a:pt x="866" y="428"/>
                    </a:lnTo>
                    <a:lnTo>
                      <a:pt x="908" y="398"/>
                    </a:lnTo>
                    <a:lnTo>
                      <a:pt x="950" y="369"/>
                    </a:lnTo>
                    <a:lnTo>
                      <a:pt x="993" y="340"/>
                    </a:lnTo>
                    <a:lnTo>
                      <a:pt x="1039" y="312"/>
                    </a:lnTo>
                    <a:lnTo>
                      <a:pt x="1082" y="285"/>
                    </a:lnTo>
                    <a:lnTo>
                      <a:pt x="1129" y="259"/>
                    </a:lnTo>
                    <a:lnTo>
                      <a:pt x="1174" y="235"/>
                    </a:lnTo>
                    <a:lnTo>
                      <a:pt x="1221" y="213"/>
                    </a:lnTo>
                    <a:lnTo>
                      <a:pt x="1269" y="190"/>
                    </a:lnTo>
                    <a:lnTo>
                      <a:pt x="1317" y="169"/>
                    </a:lnTo>
                    <a:lnTo>
                      <a:pt x="1365" y="150"/>
                    </a:lnTo>
                    <a:lnTo>
                      <a:pt x="1415" y="130"/>
                    </a:lnTo>
                    <a:lnTo>
                      <a:pt x="1464" y="113"/>
                    </a:lnTo>
                    <a:lnTo>
                      <a:pt x="1515" y="97"/>
                    </a:lnTo>
                    <a:lnTo>
                      <a:pt x="1565" y="82"/>
                    </a:lnTo>
                    <a:lnTo>
                      <a:pt x="1617" y="68"/>
                    </a:lnTo>
                    <a:lnTo>
                      <a:pt x="1670" y="55"/>
                    </a:lnTo>
                    <a:lnTo>
                      <a:pt x="1721" y="43"/>
                    </a:lnTo>
                    <a:lnTo>
                      <a:pt x="1774" y="34"/>
                    </a:lnTo>
                    <a:lnTo>
                      <a:pt x="1828" y="24"/>
                    </a:lnTo>
                    <a:lnTo>
                      <a:pt x="1881" y="18"/>
                    </a:lnTo>
                    <a:lnTo>
                      <a:pt x="1935" y="11"/>
                    </a:lnTo>
                    <a:lnTo>
                      <a:pt x="1990" y="6"/>
                    </a:lnTo>
                    <a:lnTo>
                      <a:pt x="2045" y="3"/>
                    </a:lnTo>
                    <a:lnTo>
                      <a:pt x="2100" y="0"/>
                    </a:lnTo>
                    <a:lnTo>
                      <a:pt x="2156" y="0"/>
                    </a:lnTo>
                    <a:lnTo>
                      <a:pt x="2156" y="0"/>
                    </a:lnTo>
                    <a:lnTo>
                      <a:pt x="2212" y="0"/>
                    </a:lnTo>
                    <a:lnTo>
                      <a:pt x="2267" y="3"/>
                    </a:lnTo>
                    <a:lnTo>
                      <a:pt x="2322" y="6"/>
                    </a:lnTo>
                    <a:lnTo>
                      <a:pt x="2377" y="11"/>
                    </a:lnTo>
                    <a:lnTo>
                      <a:pt x="2431" y="18"/>
                    </a:lnTo>
                    <a:lnTo>
                      <a:pt x="2484" y="24"/>
                    </a:lnTo>
                    <a:lnTo>
                      <a:pt x="2538" y="34"/>
                    </a:lnTo>
                    <a:lnTo>
                      <a:pt x="2591" y="43"/>
                    </a:lnTo>
                    <a:lnTo>
                      <a:pt x="2642" y="55"/>
                    </a:lnTo>
                    <a:lnTo>
                      <a:pt x="2695" y="68"/>
                    </a:lnTo>
                    <a:lnTo>
                      <a:pt x="2747" y="82"/>
                    </a:lnTo>
                    <a:lnTo>
                      <a:pt x="2797" y="97"/>
                    </a:lnTo>
                    <a:lnTo>
                      <a:pt x="2848" y="113"/>
                    </a:lnTo>
                    <a:lnTo>
                      <a:pt x="2897" y="130"/>
                    </a:lnTo>
                    <a:lnTo>
                      <a:pt x="2947" y="150"/>
                    </a:lnTo>
                    <a:lnTo>
                      <a:pt x="2995" y="169"/>
                    </a:lnTo>
                    <a:lnTo>
                      <a:pt x="3043" y="190"/>
                    </a:lnTo>
                    <a:lnTo>
                      <a:pt x="3091" y="213"/>
                    </a:lnTo>
                    <a:lnTo>
                      <a:pt x="3138" y="235"/>
                    </a:lnTo>
                    <a:lnTo>
                      <a:pt x="3183" y="259"/>
                    </a:lnTo>
                    <a:lnTo>
                      <a:pt x="3230" y="285"/>
                    </a:lnTo>
                    <a:lnTo>
                      <a:pt x="3273" y="312"/>
                    </a:lnTo>
                    <a:lnTo>
                      <a:pt x="3319" y="340"/>
                    </a:lnTo>
                    <a:lnTo>
                      <a:pt x="3362" y="369"/>
                    </a:lnTo>
                    <a:lnTo>
                      <a:pt x="3404" y="398"/>
                    </a:lnTo>
                    <a:lnTo>
                      <a:pt x="3446" y="428"/>
                    </a:lnTo>
                    <a:lnTo>
                      <a:pt x="3488" y="459"/>
                    </a:lnTo>
                    <a:lnTo>
                      <a:pt x="3528" y="493"/>
                    </a:lnTo>
                    <a:lnTo>
                      <a:pt x="3566" y="525"/>
                    </a:lnTo>
                    <a:lnTo>
                      <a:pt x="3605" y="560"/>
                    </a:lnTo>
                    <a:lnTo>
                      <a:pt x="3644" y="596"/>
                    </a:lnTo>
                    <a:lnTo>
                      <a:pt x="3681" y="631"/>
                    </a:lnTo>
                    <a:lnTo>
                      <a:pt x="3716" y="668"/>
                    </a:lnTo>
                    <a:lnTo>
                      <a:pt x="3752" y="707"/>
                    </a:lnTo>
                    <a:lnTo>
                      <a:pt x="3787" y="746"/>
                    </a:lnTo>
                    <a:lnTo>
                      <a:pt x="3819" y="784"/>
                    </a:lnTo>
                    <a:lnTo>
                      <a:pt x="3853" y="824"/>
                    </a:lnTo>
                    <a:lnTo>
                      <a:pt x="3884" y="866"/>
                    </a:lnTo>
                    <a:lnTo>
                      <a:pt x="3914" y="908"/>
                    </a:lnTo>
                    <a:lnTo>
                      <a:pt x="3943" y="950"/>
                    </a:lnTo>
                    <a:lnTo>
                      <a:pt x="3972" y="993"/>
                    </a:lnTo>
                    <a:lnTo>
                      <a:pt x="4000" y="1039"/>
                    </a:lnTo>
                    <a:lnTo>
                      <a:pt x="4027" y="1082"/>
                    </a:lnTo>
                    <a:lnTo>
                      <a:pt x="4053" y="1129"/>
                    </a:lnTo>
                    <a:lnTo>
                      <a:pt x="4077" y="1174"/>
                    </a:lnTo>
                    <a:lnTo>
                      <a:pt x="4099" y="1221"/>
                    </a:lnTo>
                    <a:lnTo>
                      <a:pt x="4122" y="1269"/>
                    </a:lnTo>
                    <a:lnTo>
                      <a:pt x="4143" y="1317"/>
                    </a:lnTo>
                    <a:lnTo>
                      <a:pt x="4162" y="1365"/>
                    </a:lnTo>
                    <a:lnTo>
                      <a:pt x="4182" y="1415"/>
                    </a:lnTo>
                    <a:lnTo>
                      <a:pt x="4199" y="1464"/>
                    </a:lnTo>
                    <a:lnTo>
                      <a:pt x="4215" y="1515"/>
                    </a:lnTo>
                    <a:lnTo>
                      <a:pt x="4230" y="1565"/>
                    </a:lnTo>
                    <a:lnTo>
                      <a:pt x="4244" y="1617"/>
                    </a:lnTo>
                    <a:lnTo>
                      <a:pt x="4257" y="1670"/>
                    </a:lnTo>
                    <a:lnTo>
                      <a:pt x="4269" y="1721"/>
                    </a:lnTo>
                    <a:lnTo>
                      <a:pt x="4278" y="1774"/>
                    </a:lnTo>
                    <a:lnTo>
                      <a:pt x="4288" y="1828"/>
                    </a:lnTo>
                    <a:lnTo>
                      <a:pt x="4294" y="1881"/>
                    </a:lnTo>
                    <a:lnTo>
                      <a:pt x="4301" y="1935"/>
                    </a:lnTo>
                    <a:lnTo>
                      <a:pt x="4306" y="1990"/>
                    </a:lnTo>
                    <a:lnTo>
                      <a:pt x="4309" y="2045"/>
                    </a:lnTo>
                    <a:lnTo>
                      <a:pt x="4312" y="2100"/>
                    </a:lnTo>
                    <a:lnTo>
                      <a:pt x="4312" y="2156"/>
                    </a:lnTo>
                    <a:lnTo>
                      <a:pt x="4312" y="2156"/>
                    </a:lnTo>
                    <a:close/>
                  </a:path>
                </a:pathLst>
              </a:custGeom>
              <a:noFill/>
              <a:ln w="6350" cmpd="sng">
                <a:solidFill>
                  <a:schemeClr val="tx1"/>
                </a:solidFill>
                <a:prstDash val="sysDot"/>
                <a:round/>
                <a:headEnd/>
                <a:tailEnd/>
              </a:ln>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20" name="Freeform 49"/>
              <p:cNvSpPr>
                <a:spLocks/>
              </p:cNvSpPr>
              <p:nvPr/>
            </p:nvSpPr>
            <p:spPr bwMode="auto">
              <a:xfrm>
                <a:off x="3118389" y="1988089"/>
                <a:ext cx="2907222" cy="2907222"/>
              </a:xfrm>
              <a:custGeom>
                <a:avLst/>
                <a:gdLst>
                  <a:gd name="T0" fmla="*/ 5174 w 5182"/>
                  <a:gd name="T1" fmla="*/ 2791 h 5182"/>
                  <a:gd name="T2" fmla="*/ 5129 w 5182"/>
                  <a:gd name="T3" fmla="*/ 3113 h 5182"/>
                  <a:gd name="T4" fmla="*/ 5045 w 5182"/>
                  <a:gd name="T5" fmla="*/ 3422 h 5182"/>
                  <a:gd name="T6" fmla="*/ 4926 w 5182"/>
                  <a:gd name="T7" fmla="*/ 3715 h 5182"/>
                  <a:gd name="T8" fmla="*/ 4773 w 5182"/>
                  <a:gd name="T9" fmla="*/ 3987 h 5182"/>
                  <a:gd name="T10" fmla="*/ 4589 w 5182"/>
                  <a:gd name="T11" fmla="*/ 4238 h 5182"/>
                  <a:gd name="T12" fmla="*/ 4378 w 5182"/>
                  <a:gd name="T13" fmla="*/ 4467 h 5182"/>
                  <a:gd name="T14" fmla="*/ 4142 w 5182"/>
                  <a:gd name="T15" fmla="*/ 4666 h 5182"/>
                  <a:gd name="T16" fmla="*/ 3881 w 5182"/>
                  <a:gd name="T17" fmla="*/ 4839 h 5182"/>
                  <a:gd name="T18" fmla="*/ 3599 w 5182"/>
                  <a:gd name="T19" fmla="*/ 4977 h 5182"/>
                  <a:gd name="T20" fmla="*/ 3299 w 5182"/>
                  <a:gd name="T21" fmla="*/ 5083 h 5182"/>
                  <a:gd name="T22" fmla="*/ 2985 w 5182"/>
                  <a:gd name="T23" fmla="*/ 5151 h 5182"/>
                  <a:gd name="T24" fmla="*/ 2659 w 5182"/>
                  <a:gd name="T25" fmla="*/ 5180 h 5182"/>
                  <a:gd name="T26" fmla="*/ 2391 w 5182"/>
                  <a:gd name="T27" fmla="*/ 5174 h 5182"/>
                  <a:gd name="T28" fmla="*/ 2069 w 5182"/>
                  <a:gd name="T29" fmla="*/ 5129 h 5182"/>
                  <a:gd name="T30" fmla="*/ 1760 w 5182"/>
                  <a:gd name="T31" fmla="*/ 5045 h 5182"/>
                  <a:gd name="T32" fmla="*/ 1467 w 5182"/>
                  <a:gd name="T33" fmla="*/ 4926 h 5182"/>
                  <a:gd name="T34" fmla="*/ 1195 w 5182"/>
                  <a:gd name="T35" fmla="*/ 4773 h 5182"/>
                  <a:gd name="T36" fmla="*/ 944 w 5182"/>
                  <a:gd name="T37" fmla="*/ 4589 h 5182"/>
                  <a:gd name="T38" fmla="*/ 715 w 5182"/>
                  <a:gd name="T39" fmla="*/ 4378 h 5182"/>
                  <a:gd name="T40" fmla="*/ 516 w 5182"/>
                  <a:gd name="T41" fmla="*/ 4142 h 5182"/>
                  <a:gd name="T42" fmla="*/ 343 w 5182"/>
                  <a:gd name="T43" fmla="*/ 3881 h 5182"/>
                  <a:gd name="T44" fmla="*/ 205 w 5182"/>
                  <a:gd name="T45" fmla="*/ 3599 h 5182"/>
                  <a:gd name="T46" fmla="*/ 99 w 5182"/>
                  <a:gd name="T47" fmla="*/ 3299 h 5182"/>
                  <a:gd name="T48" fmla="*/ 31 w 5182"/>
                  <a:gd name="T49" fmla="*/ 2985 h 5182"/>
                  <a:gd name="T50" fmla="*/ 2 w 5182"/>
                  <a:gd name="T51" fmla="*/ 2659 h 5182"/>
                  <a:gd name="T52" fmla="*/ 8 w 5182"/>
                  <a:gd name="T53" fmla="*/ 2391 h 5182"/>
                  <a:gd name="T54" fmla="*/ 53 w 5182"/>
                  <a:gd name="T55" fmla="*/ 2069 h 5182"/>
                  <a:gd name="T56" fmla="*/ 137 w 5182"/>
                  <a:gd name="T57" fmla="*/ 1760 h 5182"/>
                  <a:gd name="T58" fmla="*/ 256 w 5182"/>
                  <a:gd name="T59" fmla="*/ 1467 h 5182"/>
                  <a:gd name="T60" fmla="*/ 409 w 5182"/>
                  <a:gd name="T61" fmla="*/ 1195 h 5182"/>
                  <a:gd name="T62" fmla="*/ 593 w 5182"/>
                  <a:gd name="T63" fmla="*/ 944 h 5182"/>
                  <a:gd name="T64" fmla="*/ 804 w 5182"/>
                  <a:gd name="T65" fmla="*/ 715 h 5182"/>
                  <a:gd name="T66" fmla="*/ 1040 w 5182"/>
                  <a:gd name="T67" fmla="*/ 516 h 5182"/>
                  <a:gd name="T68" fmla="*/ 1301 w 5182"/>
                  <a:gd name="T69" fmla="*/ 343 h 5182"/>
                  <a:gd name="T70" fmla="*/ 1583 w 5182"/>
                  <a:gd name="T71" fmla="*/ 205 h 5182"/>
                  <a:gd name="T72" fmla="*/ 1883 w 5182"/>
                  <a:gd name="T73" fmla="*/ 99 h 5182"/>
                  <a:gd name="T74" fmla="*/ 2197 w 5182"/>
                  <a:gd name="T75" fmla="*/ 31 h 5182"/>
                  <a:gd name="T76" fmla="*/ 2523 w 5182"/>
                  <a:gd name="T77" fmla="*/ 2 h 5182"/>
                  <a:gd name="T78" fmla="*/ 2791 w 5182"/>
                  <a:gd name="T79" fmla="*/ 8 h 5182"/>
                  <a:gd name="T80" fmla="*/ 3113 w 5182"/>
                  <a:gd name="T81" fmla="*/ 53 h 5182"/>
                  <a:gd name="T82" fmla="*/ 3422 w 5182"/>
                  <a:gd name="T83" fmla="*/ 137 h 5182"/>
                  <a:gd name="T84" fmla="*/ 3715 w 5182"/>
                  <a:gd name="T85" fmla="*/ 256 h 5182"/>
                  <a:gd name="T86" fmla="*/ 3987 w 5182"/>
                  <a:gd name="T87" fmla="*/ 409 h 5182"/>
                  <a:gd name="T88" fmla="*/ 4238 w 5182"/>
                  <a:gd name="T89" fmla="*/ 593 h 5182"/>
                  <a:gd name="T90" fmla="*/ 4467 w 5182"/>
                  <a:gd name="T91" fmla="*/ 804 h 5182"/>
                  <a:gd name="T92" fmla="*/ 4666 w 5182"/>
                  <a:gd name="T93" fmla="*/ 1040 h 5182"/>
                  <a:gd name="T94" fmla="*/ 4839 w 5182"/>
                  <a:gd name="T95" fmla="*/ 1301 h 5182"/>
                  <a:gd name="T96" fmla="*/ 4977 w 5182"/>
                  <a:gd name="T97" fmla="*/ 1583 h 5182"/>
                  <a:gd name="T98" fmla="*/ 5083 w 5182"/>
                  <a:gd name="T99" fmla="*/ 1883 h 5182"/>
                  <a:gd name="T100" fmla="*/ 5151 w 5182"/>
                  <a:gd name="T101" fmla="*/ 2197 h 5182"/>
                  <a:gd name="T102" fmla="*/ 5180 w 5182"/>
                  <a:gd name="T103" fmla="*/ 2523 h 5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182" h="5182">
                    <a:moveTo>
                      <a:pt x="5182" y="2591"/>
                    </a:moveTo>
                    <a:lnTo>
                      <a:pt x="5182" y="2591"/>
                    </a:lnTo>
                    <a:lnTo>
                      <a:pt x="5180" y="2659"/>
                    </a:lnTo>
                    <a:lnTo>
                      <a:pt x="5178" y="2725"/>
                    </a:lnTo>
                    <a:lnTo>
                      <a:pt x="5174" y="2791"/>
                    </a:lnTo>
                    <a:lnTo>
                      <a:pt x="5169" y="2855"/>
                    </a:lnTo>
                    <a:lnTo>
                      <a:pt x="5161" y="2921"/>
                    </a:lnTo>
                    <a:lnTo>
                      <a:pt x="5151" y="2985"/>
                    </a:lnTo>
                    <a:lnTo>
                      <a:pt x="5141" y="3050"/>
                    </a:lnTo>
                    <a:lnTo>
                      <a:pt x="5129" y="3113"/>
                    </a:lnTo>
                    <a:lnTo>
                      <a:pt x="5116" y="3175"/>
                    </a:lnTo>
                    <a:lnTo>
                      <a:pt x="5100" y="3238"/>
                    </a:lnTo>
                    <a:lnTo>
                      <a:pt x="5083" y="3299"/>
                    </a:lnTo>
                    <a:lnTo>
                      <a:pt x="5066" y="3361"/>
                    </a:lnTo>
                    <a:lnTo>
                      <a:pt x="5045" y="3422"/>
                    </a:lnTo>
                    <a:lnTo>
                      <a:pt x="5024" y="3481"/>
                    </a:lnTo>
                    <a:lnTo>
                      <a:pt x="5001" y="3541"/>
                    </a:lnTo>
                    <a:lnTo>
                      <a:pt x="4977" y="3599"/>
                    </a:lnTo>
                    <a:lnTo>
                      <a:pt x="4953" y="3657"/>
                    </a:lnTo>
                    <a:lnTo>
                      <a:pt x="4926" y="3715"/>
                    </a:lnTo>
                    <a:lnTo>
                      <a:pt x="4898" y="3770"/>
                    </a:lnTo>
                    <a:lnTo>
                      <a:pt x="4869" y="3826"/>
                    </a:lnTo>
                    <a:lnTo>
                      <a:pt x="4839" y="3881"/>
                    </a:lnTo>
                    <a:lnTo>
                      <a:pt x="4807" y="3934"/>
                    </a:lnTo>
                    <a:lnTo>
                      <a:pt x="4773" y="3987"/>
                    </a:lnTo>
                    <a:lnTo>
                      <a:pt x="4739" y="4040"/>
                    </a:lnTo>
                    <a:lnTo>
                      <a:pt x="4704" y="4090"/>
                    </a:lnTo>
                    <a:lnTo>
                      <a:pt x="4666" y="4142"/>
                    </a:lnTo>
                    <a:lnTo>
                      <a:pt x="4629" y="4190"/>
                    </a:lnTo>
                    <a:lnTo>
                      <a:pt x="4589" y="4238"/>
                    </a:lnTo>
                    <a:lnTo>
                      <a:pt x="4551" y="4286"/>
                    </a:lnTo>
                    <a:lnTo>
                      <a:pt x="4509" y="4333"/>
                    </a:lnTo>
                    <a:lnTo>
                      <a:pt x="4467" y="4378"/>
                    </a:lnTo>
                    <a:lnTo>
                      <a:pt x="4423" y="4423"/>
                    </a:lnTo>
                    <a:lnTo>
                      <a:pt x="4378" y="4467"/>
                    </a:lnTo>
                    <a:lnTo>
                      <a:pt x="4333" y="4509"/>
                    </a:lnTo>
                    <a:lnTo>
                      <a:pt x="4286" y="4551"/>
                    </a:lnTo>
                    <a:lnTo>
                      <a:pt x="4238" y="4589"/>
                    </a:lnTo>
                    <a:lnTo>
                      <a:pt x="4190" y="4629"/>
                    </a:lnTo>
                    <a:lnTo>
                      <a:pt x="4142" y="4666"/>
                    </a:lnTo>
                    <a:lnTo>
                      <a:pt x="4090" y="4704"/>
                    </a:lnTo>
                    <a:lnTo>
                      <a:pt x="4040" y="4739"/>
                    </a:lnTo>
                    <a:lnTo>
                      <a:pt x="3987" y="4773"/>
                    </a:lnTo>
                    <a:lnTo>
                      <a:pt x="3934" y="4807"/>
                    </a:lnTo>
                    <a:lnTo>
                      <a:pt x="3881" y="4839"/>
                    </a:lnTo>
                    <a:lnTo>
                      <a:pt x="3826" y="4869"/>
                    </a:lnTo>
                    <a:lnTo>
                      <a:pt x="3770" y="4898"/>
                    </a:lnTo>
                    <a:lnTo>
                      <a:pt x="3715" y="4926"/>
                    </a:lnTo>
                    <a:lnTo>
                      <a:pt x="3657" y="4953"/>
                    </a:lnTo>
                    <a:lnTo>
                      <a:pt x="3599" y="4977"/>
                    </a:lnTo>
                    <a:lnTo>
                      <a:pt x="3541" y="5001"/>
                    </a:lnTo>
                    <a:lnTo>
                      <a:pt x="3481" y="5024"/>
                    </a:lnTo>
                    <a:lnTo>
                      <a:pt x="3422" y="5045"/>
                    </a:lnTo>
                    <a:lnTo>
                      <a:pt x="3361" y="5066"/>
                    </a:lnTo>
                    <a:lnTo>
                      <a:pt x="3299" y="5083"/>
                    </a:lnTo>
                    <a:lnTo>
                      <a:pt x="3238" y="5100"/>
                    </a:lnTo>
                    <a:lnTo>
                      <a:pt x="3175" y="5116"/>
                    </a:lnTo>
                    <a:lnTo>
                      <a:pt x="3113" y="5129"/>
                    </a:lnTo>
                    <a:lnTo>
                      <a:pt x="3050" y="5141"/>
                    </a:lnTo>
                    <a:lnTo>
                      <a:pt x="2985" y="5151"/>
                    </a:lnTo>
                    <a:lnTo>
                      <a:pt x="2921" y="5161"/>
                    </a:lnTo>
                    <a:lnTo>
                      <a:pt x="2855" y="5169"/>
                    </a:lnTo>
                    <a:lnTo>
                      <a:pt x="2791" y="5174"/>
                    </a:lnTo>
                    <a:lnTo>
                      <a:pt x="2725" y="5178"/>
                    </a:lnTo>
                    <a:lnTo>
                      <a:pt x="2659" y="5180"/>
                    </a:lnTo>
                    <a:lnTo>
                      <a:pt x="2591" y="5182"/>
                    </a:lnTo>
                    <a:lnTo>
                      <a:pt x="2591" y="5182"/>
                    </a:lnTo>
                    <a:lnTo>
                      <a:pt x="2523" y="5180"/>
                    </a:lnTo>
                    <a:lnTo>
                      <a:pt x="2457" y="5178"/>
                    </a:lnTo>
                    <a:lnTo>
                      <a:pt x="2391" y="5174"/>
                    </a:lnTo>
                    <a:lnTo>
                      <a:pt x="2327" y="5169"/>
                    </a:lnTo>
                    <a:lnTo>
                      <a:pt x="2261" y="5161"/>
                    </a:lnTo>
                    <a:lnTo>
                      <a:pt x="2197" y="5151"/>
                    </a:lnTo>
                    <a:lnTo>
                      <a:pt x="2132" y="5141"/>
                    </a:lnTo>
                    <a:lnTo>
                      <a:pt x="2069" y="5129"/>
                    </a:lnTo>
                    <a:lnTo>
                      <a:pt x="2007" y="5116"/>
                    </a:lnTo>
                    <a:lnTo>
                      <a:pt x="1944" y="5100"/>
                    </a:lnTo>
                    <a:lnTo>
                      <a:pt x="1883" y="5083"/>
                    </a:lnTo>
                    <a:lnTo>
                      <a:pt x="1821" y="5066"/>
                    </a:lnTo>
                    <a:lnTo>
                      <a:pt x="1760" y="5045"/>
                    </a:lnTo>
                    <a:lnTo>
                      <a:pt x="1701" y="5024"/>
                    </a:lnTo>
                    <a:lnTo>
                      <a:pt x="1641" y="5001"/>
                    </a:lnTo>
                    <a:lnTo>
                      <a:pt x="1583" y="4977"/>
                    </a:lnTo>
                    <a:lnTo>
                      <a:pt x="1525" y="4953"/>
                    </a:lnTo>
                    <a:lnTo>
                      <a:pt x="1467" y="4926"/>
                    </a:lnTo>
                    <a:lnTo>
                      <a:pt x="1412" y="4898"/>
                    </a:lnTo>
                    <a:lnTo>
                      <a:pt x="1356" y="4869"/>
                    </a:lnTo>
                    <a:lnTo>
                      <a:pt x="1301" y="4839"/>
                    </a:lnTo>
                    <a:lnTo>
                      <a:pt x="1248" y="4807"/>
                    </a:lnTo>
                    <a:lnTo>
                      <a:pt x="1195" y="4773"/>
                    </a:lnTo>
                    <a:lnTo>
                      <a:pt x="1142" y="4739"/>
                    </a:lnTo>
                    <a:lnTo>
                      <a:pt x="1092" y="4704"/>
                    </a:lnTo>
                    <a:lnTo>
                      <a:pt x="1040" y="4666"/>
                    </a:lnTo>
                    <a:lnTo>
                      <a:pt x="992" y="4629"/>
                    </a:lnTo>
                    <a:lnTo>
                      <a:pt x="944" y="4589"/>
                    </a:lnTo>
                    <a:lnTo>
                      <a:pt x="896" y="4551"/>
                    </a:lnTo>
                    <a:lnTo>
                      <a:pt x="849" y="4509"/>
                    </a:lnTo>
                    <a:lnTo>
                      <a:pt x="804" y="4467"/>
                    </a:lnTo>
                    <a:lnTo>
                      <a:pt x="759" y="4423"/>
                    </a:lnTo>
                    <a:lnTo>
                      <a:pt x="715" y="4378"/>
                    </a:lnTo>
                    <a:lnTo>
                      <a:pt x="673" y="4333"/>
                    </a:lnTo>
                    <a:lnTo>
                      <a:pt x="631" y="4286"/>
                    </a:lnTo>
                    <a:lnTo>
                      <a:pt x="593" y="4238"/>
                    </a:lnTo>
                    <a:lnTo>
                      <a:pt x="553" y="4190"/>
                    </a:lnTo>
                    <a:lnTo>
                      <a:pt x="516" y="4142"/>
                    </a:lnTo>
                    <a:lnTo>
                      <a:pt x="478" y="4090"/>
                    </a:lnTo>
                    <a:lnTo>
                      <a:pt x="443" y="4040"/>
                    </a:lnTo>
                    <a:lnTo>
                      <a:pt x="409" y="3987"/>
                    </a:lnTo>
                    <a:lnTo>
                      <a:pt x="375" y="3934"/>
                    </a:lnTo>
                    <a:lnTo>
                      <a:pt x="343" y="3881"/>
                    </a:lnTo>
                    <a:lnTo>
                      <a:pt x="313" y="3826"/>
                    </a:lnTo>
                    <a:lnTo>
                      <a:pt x="284" y="3770"/>
                    </a:lnTo>
                    <a:lnTo>
                      <a:pt x="256" y="3715"/>
                    </a:lnTo>
                    <a:lnTo>
                      <a:pt x="229" y="3657"/>
                    </a:lnTo>
                    <a:lnTo>
                      <a:pt x="205" y="3599"/>
                    </a:lnTo>
                    <a:lnTo>
                      <a:pt x="181" y="3541"/>
                    </a:lnTo>
                    <a:lnTo>
                      <a:pt x="158" y="3481"/>
                    </a:lnTo>
                    <a:lnTo>
                      <a:pt x="137" y="3422"/>
                    </a:lnTo>
                    <a:lnTo>
                      <a:pt x="116" y="3361"/>
                    </a:lnTo>
                    <a:lnTo>
                      <a:pt x="99" y="3299"/>
                    </a:lnTo>
                    <a:lnTo>
                      <a:pt x="82" y="3238"/>
                    </a:lnTo>
                    <a:lnTo>
                      <a:pt x="66" y="3175"/>
                    </a:lnTo>
                    <a:lnTo>
                      <a:pt x="53" y="3113"/>
                    </a:lnTo>
                    <a:lnTo>
                      <a:pt x="41" y="3050"/>
                    </a:lnTo>
                    <a:lnTo>
                      <a:pt x="31" y="2985"/>
                    </a:lnTo>
                    <a:lnTo>
                      <a:pt x="21" y="2921"/>
                    </a:lnTo>
                    <a:lnTo>
                      <a:pt x="13" y="2855"/>
                    </a:lnTo>
                    <a:lnTo>
                      <a:pt x="8" y="2791"/>
                    </a:lnTo>
                    <a:lnTo>
                      <a:pt x="4" y="2725"/>
                    </a:lnTo>
                    <a:lnTo>
                      <a:pt x="2" y="2659"/>
                    </a:lnTo>
                    <a:lnTo>
                      <a:pt x="0" y="2591"/>
                    </a:lnTo>
                    <a:lnTo>
                      <a:pt x="0" y="2591"/>
                    </a:lnTo>
                    <a:lnTo>
                      <a:pt x="2" y="2523"/>
                    </a:lnTo>
                    <a:lnTo>
                      <a:pt x="4" y="2457"/>
                    </a:lnTo>
                    <a:lnTo>
                      <a:pt x="8" y="2391"/>
                    </a:lnTo>
                    <a:lnTo>
                      <a:pt x="13" y="2327"/>
                    </a:lnTo>
                    <a:lnTo>
                      <a:pt x="21" y="2261"/>
                    </a:lnTo>
                    <a:lnTo>
                      <a:pt x="31" y="2197"/>
                    </a:lnTo>
                    <a:lnTo>
                      <a:pt x="41" y="2132"/>
                    </a:lnTo>
                    <a:lnTo>
                      <a:pt x="53" y="2069"/>
                    </a:lnTo>
                    <a:lnTo>
                      <a:pt x="66" y="2007"/>
                    </a:lnTo>
                    <a:lnTo>
                      <a:pt x="82" y="1944"/>
                    </a:lnTo>
                    <a:lnTo>
                      <a:pt x="99" y="1883"/>
                    </a:lnTo>
                    <a:lnTo>
                      <a:pt x="116" y="1821"/>
                    </a:lnTo>
                    <a:lnTo>
                      <a:pt x="137" y="1760"/>
                    </a:lnTo>
                    <a:lnTo>
                      <a:pt x="158" y="1701"/>
                    </a:lnTo>
                    <a:lnTo>
                      <a:pt x="181" y="1641"/>
                    </a:lnTo>
                    <a:lnTo>
                      <a:pt x="205" y="1583"/>
                    </a:lnTo>
                    <a:lnTo>
                      <a:pt x="229" y="1525"/>
                    </a:lnTo>
                    <a:lnTo>
                      <a:pt x="256" y="1467"/>
                    </a:lnTo>
                    <a:lnTo>
                      <a:pt x="284" y="1412"/>
                    </a:lnTo>
                    <a:lnTo>
                      <a:pt x="313" y="1356"/>
                    </a:lnTo>
                    <a:lnTo>
                      <a:pt x="343" y="1301"/>
                    </a:lnTo>
                    <a:lnTo>
                      <a:pt x="375" y="1248"/>
                    </a:lnTo>
                    <a:lnTo>
                      <a:pt x="409" y="1195"/>
                    </a:lnTo>
                    <a:lnTo>
                      <a:pt x="443" y="1142"/>
                    </a:lnTo>
                    <a:lnTo>
                      <a:pt x="478" y="1092"/>
                    </a:lnTo>
                    <a:lnTo>
                      <a:pt x="516" y="1040"/>
                    </a:lnTo>
                    <a:lnTo>
                      <a:pt x="553" y="992"/>
                    </a:lnTo>
                    <a:lnTo>
                      <a:pt x="593" y="944"/>
                    </a:lnTo>
                    <a:lnTo>
                      <a:pt x="631" y="896"/>
                    </a:lnTo>
                    <a:lnTo>
                      <a:pt x="673" y="849"/>
                    </a:lnTo>
                    <a:lnTo>
                      <a:pt x="715" y="804"/>
                    </a:lnTo>
                    <a:lnTo>
                      <a:pt x="759" y="759"/>
                    </a:lnTo>
                    <a:lnTo>
                      <a:pt x="804" y="715"/>
                    </a:lnTo>
                    <a:lnTo>
                      <a:pt x="849" y="673"/>
                    </a:lnTo>
                    <a:lnTo>
                      <a:pt x="896" y="631"/>
                    </a:lnTo>
                    <a:lnTo>
                      <a:pt x="944" y="593"/>
                    </a:lnTo>
                    <a:lnTo>
                      <a:pt x="992" y="553"/>
                    </a:lnTo>
                    <a:lnTo>
                      <a:pt x="1040" y="516"/>
                    </a:lnTo>
                    <a:lnTo>
                      <a:pt x="1092" y="478"/>
                    </a:lnTo>
                    <a:lnTo>
                      <a:pt x="1142" y="443"/>
                    </a:lnTo>
                    <a:lnTo>
                      <a:pt x="1195" y="409"/>
                    </a:lnTo>
                    <a:lnTo>
                      <a:pt x="1248" y="375"/>
                    </a:lnTo>
                    <a:lnTo>
                      <a:pt x="1301" y="343"/>
                    </a:lnTo>
                    <a:lnTo>
                      <a:pt x="1356" y="313"/>
                    </a:lnTo>
                    <a:lnTo>
                      <a:pt x="1412" y="284"/>
                    </a:lnTo>
                    <a:lnTo>
                      <a:pt x="1467" y="256"/>
                    </a:lnTo>
                    <a:lnTo>
                      <a:pt x="1525" y="229"/>
                    </a:lnTo>
                    <a:lnTo>
                      <a:pt x="1583" y="205"/>
                    </a:lnTo>
                    <a:lnTo>
                      <a:pt x="1641" y="181"/>
                    </a:lnTo>
                    <a:lnTo>
                      <a:pt x="1701" y="158"/>
                    </a:lnTo>
                    <a:lnTo>
                      <a:pt x="1760" y="137"/>
                    </a:lnTo>
                    <a:lnTo>
                      <a:pt x="1821" y="116"/>
                    </a:lnTo>
                    <a:lnTo>
                      <a:pt x="1883" y="99"/>
                    </a:lnTo>
                    <a:lnTo>
                      <a:pt x="1944" y="82"/>
                    </a:lnTo>
                    <a:lnTo>
                      <a:pt x="2007" y="66"/>
                    </a:lnTo>
                    <a:lnTo>
                      <a:pt x="2069" y="53"/>
                    </a:lnTo>
                    <a:lnTo>
                      <a:pt x="2132" y="41"/>
                    </a:lnTo>
                    <a:lnTo>
                      <a:pt x="2197" y="31"/>
                    </a:lnTo>
                    <a:lnTo>
                      <a:pt x="2261" y="21"/>
                    </a:lnTo>
                    <a:lnTo>
                      <a:pt x="2327" y="13"/>
                    </a:lnTo>
                    <a:lnTo>
                      <a:pt x="2391" y="8"/>
                    </a:lnTo>
                    <a:lnTo>
                      <a:pt x="2457" y="4"/>
                    </a:lnTo>
                    <a:lnTo>
                      <a:pt x="2523" y="2"/>
                    </a:lnTo>
                    <a:lnTo>
                      <a:pt x="2591" y="0"/>
                    </a:lnTo>
                    <a:lnTo>
                      <a:pt x="2591" y="0"/>
                    </a:lnTo>
                    <a:lnTo>
                      <a:pt x="2659" y="2"/>
                    </a:lnTo>
                    <a:lnTo>
                      <a:pt x="2725" y="4"/>
                    </a:lnTo>
                    <a:lnTo>
                      <a:pt x="2791" y="8"/>
                    </a:lnTo>
                    <a:lnTo>
                      <a:pt x="2855" y="13"/>
                    </a:lnTo>
                    <a:lnTo>
                      <a:pt x="2921" y="21"/>
                    </a:lnTo>
                    <a:lnTo>
                      <a:pt x="2985" y="31"/>
                    </a:lnTo>
                    <a:lnTo>
                      <a:pt x="3050" y="41"/>
                    </a:lnTo>
                    <a:lnTo>
                      <a:pt x="3113" y="53"/>
                    </a:lnTo>
                    <a:lnTo>
                      <a:pt x="3175" y="66"/>
                    </a:lnTo>
                    <a:lnTo>
                      <a:pt x="3238" y="82"/>
                    </a:lnTo>
                    <a:lnTo>
                      <a:pt x="3299" y="99"/>
                    </a:lnTo>
                    <a:lnTo>
                      <a:pt x="3361" y="116"/>
                    </a:lnTo>
                    <a:lnTo>
                      <a:pt x="3422" y="137"/>
                    </a:lnTo>
                    <a:lnTo>
                      <a:pt x="3481" y="158"/>
                    </a:lnTo>
                    <a:lnTo>
                      <a:pt x="3541" y="181"/>
                    </a:lnTo>
                    <a:lnTo>
                      <a:pt x="3599" y="205"/>
                    </a:lnTo>
                    <a:lnTo>
                      <a:pt x="3657" y="229"/>
                    </a:lnTo>
                    <a:lnTo>
                      <a:pt x="3715" y="256"/>
                    </a:lnTo>
                    <a:lnTo>
                      <a:pt x="3770" y="284"/>
                    </a:lnTo>
                    <a:lnTo>
                      <a:pt x="3826" y="313"/>
                    </a:lnTo>
                    <a:lnTo>
                      <a:pt x="3881" y="343"/>
                    </a:lnTo>
                    <a:lnTo>
                      <a:pt x="3934" y="375"/>
                    </a:lnTo>
                    <a:lnTo>
                      <a:pt x="3987" y="409"/>
                    </a:lnTo>
                    <a:lnTo>
                      <a:pt x="4040" y="443"/>
                    </a:lnTo>
                    <a:lnTo>
                      <a:pt x="4090" y="478"/>
                    </a:lnTo>
                    <a:lnTo>
                      <a:pt x="4142" y="516"/>
                    </a:lnTo>
                    <a:lnTo>
                      <a:pt x="4190" y="553"/>
                    </a:lnTo>
                    <a:lnTo>
                      <a:pt x="4238" y="593"/>
                    </a:lnTo>
                    <a:lnTo>
                      <a:pt x="4286" y="631"/>
                    </a:lnTo>
                    <a:lnTo>
                      <a:pt x="4333" y="673"/>
                    </a:lnTo>
                    <a:lnTo>
                      <a:pt x="4378" y="715"/>
                    </a:lnTo>
                    <a:lnTo>
                      <a:pt x="4423" y="759"/>
                    </a:lnTo>
                    <a:lnTo>
                      <a:pt x="4467" y="804"/>
                    </a:lnTo>
                    <a:lnTo>
                      <a:pt x="4509" y="849"/>
                    </a:lnTo>
                    <a:lnTo>
                      <a:pt x="4551" y="896"/>
                    </a:lnTo>
                    <a:lnTo>
                      <a:pt x="4589" y="944"/>
                    </a:lnTo>
                    <a:lnTo>
                      <a:pt x="4629" y="992"/>
                    </a:lnTo>
                    <a:lnTo>
                      <a:pt x="4666" y="1040"/>
                    </a:lnTo>
                    <a:lnTo>
                      <a:pt x="4704" y="1092"/>
                    </a:lnTo>
                    <a:lnTo>
                      <a:pt x="4739" y="1142"/>
                    </a:lnTo>
                    <a:lnTo>
                      <a:pt x="4773" y="1195"/>
                    </a:lnTo>
                    <a:lnTo>
                      <a:pt x="4807" y="1248"/>
                    </a:lnTo>
                    <a:lnTo>
                      <a:pt x="4839" y="1301"/>
                    </a:lnTo>
                    <a:lnTo>
                      <a:pt x="4869" y="1356"/>
                    </a:lnTo>
                    <a:lnTo>
                      <a:pt x="4898" y="1412"/>
                    </a:lnTo>
                    <a:lnTo>
                      <a:pt x="4926" y="1467"/>
                    </a:lnTo>
                    <a:lnTo>
                      <a:pt x="4953" y="1525"/>
                    </a:lnTo>
                    <a:lnTo>
                      <a:pt x="4977" y="1583"/>
                    </a:lnTo>
                    <a:lnTo>
                      <a:pt x="5001" y="1641"/>
                    </a:lnTo>
                    <a:lnTo>
                      <a:pt x="5024" y="1701"/>
                    </a:lnTo>
                    <a:lnTo>
                      <a:pt x="5045" y="1760"/>
                    </a:lnTo>
                    <a:lnTo>
                      <a:pt x="5066" y="1821"/>
                    </a:lnTo>
                    <a:lnTo>
                      <a:pt x="5083" y="1883"/>
                    </a:lnTo>
                    <a:lnTo>
                      <a:pt x="5100" y="1944"/>
                    </a:lnTo>
                    <a:lnTo>
                      <a:pt x="5116" y="2007"/>
                    </a:lnTo>
                    <a:lnTo>
                      <a:pt x="5129" y="2069"/>
                    </a:lnTo>
                    <a:lnTo>
                      <a:pt x="5141" y="2132"/>
                    </a:lnTo>
                    <a:lnTo>
                      <a:pt x="5151" y="2197"/>
                    </a:lnTo>
                    <a:lnTo>
                      <a:pt x="5161" y="2261"/>
                    </a:lnTo>
                    <a:lnTo>
                      <a:pt x="5169" y="2327"/>
                    </a:lnTo>
                    <a:lnTo>
                      <a:pt x="5174" y="2391"/>
                    </a:lnTo>
                    <a:lnTo>
                      <a:pt x="5178" y="2457"/>
                    </a:lnTo>
                    <a:lnTo>
                      <a:pt x="5180" y="2523"/>
                    </a:lnTo>
                    <a:lnTo>
                      <a:pt x="5182" y="2591"/>
                    </a:lnTo>
                    <a:lnTo>
                      <a:pt x="5182" y="2591"/>
                    </a:lnTo>
                    <a:close/>
                  </a:path>
                </a:pathLst>
              </a:custGeom>
              <a:noFill/>
              <a:ln w="6350" cmpd="sng">
                <a:solidFill>
                  <a:schemeClr val="tx1"/>
                </a:solidFill>
                <a:prstDash val="sysDot"/>
                <a:round/>
                <a:headEnd/>
                <a:tailEnd/>
              </a:ln>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21" name="Freeform 50"/>
              <p:cNvSpPr>
                <a:spLocks/>
              </p:cNvSpPr>
              <p:nvPr/>
            </p:nvSpPr>
            <p:spPr bwMode="auto">
              <a:xfrm>
                <a:off x="2877056" y="1746756"/>
                <a:ext cx="3389888" cy="3389888"/>
              </a:xfrm>
              <a:custGeom>
                <a:avLst/>
                <a:gdLst>
                  <a:gd name="T0" fmla="*/ 6028 w 6038"/>
                  <a:gd name="T1" fmla="*/ 3251 h 6038"/>
                  <a:gd name="T2" fmla="*/ 5977 w 6038"/>
                  <a:gd name="T3" fmla="*/ 3628 h 6038"/>
                  <a:gd name="T4" fmla="*/ 5879 w 6038"/>
                  <a:gd name="T5" fmla="*/ 3987 h 6038"/>
                  <a:gd name="T6" fmla="*/ 5740 w 6038"/>
                  <a:gd name="T7" fmla="*/ 4328 h 6038"/>
                  <a:gd name="T8" fmla="*/ 5561 w 6038"/>
                  <a:gd name="T9" fmla="*/ 4645 h 6038"/>
                  <a:gd name="T10" fmla="*/ 5349 w 6038"/>
                  <a:gd name="T11" fmla="*/ 4938 h 6038"/>
                  <a:gd name="T12" fmla="*/ 5101 w 6038"/>
                  <a:gd name="T13" fmla="*/ 5204 h 6038"/>
                  <a:gd name="T14" fmla="*/ 4826 w 6038"/>
                  <a:gd name="T15" fmla="*/ 5437 h 6038"/>
                  <a:gd name="T16" fmla="*/ 4521 w 6038"/>
                  <a:gd name="T17" fmla="*/ 5637 h 6038"/>
                  <a:gd name="T18" fmla="*/ 4194 w 6038"/>
                  <a:gd name="T19" fmla="*/ 5800 h 6038"/>
                  <a:gd name="T20" fmla="*/ 3845 w 6038"/>
                  <a:gd name="T21" fmla="*/ 5922 h 6038"/>
                  <a:gd name="T22" fmla="*/ 3478 w 6038"/>
                  <a:gd name="T23" fmla="*/ 6003 h 6038"/>
                  <a:gd name="T24" fmla="*/ 3096 w 6038"/>
                  <a:gd name="T25" fmla="*/ 6036 h 6038"/>
                  <a:gd name="T26" fmla="*/ 2787 w 6038"/>
                  <a:gd name="T27" fmla="*/ 6028 h 6038"/>
                  <a:gd name="T28" fmla="*/ 2410 w 6038"/>
                  <a:gd name="T29" fmla="*/ 5977 h 6038"/>
                  <a:gd name="T30" fmla="*/ 2051 w 6038"/>
                  <a:gd name="T31" fmla="*/ 5879 h 6038"/>
                  <a:gd name="T32" fmla="*/ 1710 w 6038"/>
                  <a:gd name="T33" fmla="*/ 5740 h 6038"/>
                  <a:gd name="T34" fmla="*/ 1393 w 6038"/>
                  <a:gd name="T35" fmla="*/ 5561 h 6038"/>
                  <a:gd name="T36" fmla="*/ 1100 w 6038"/>
                  <a:gd name="T37" fmla="*/ 5349 h 6038"/>
                  <a:gd name="T38" fmla="*/ 834 w 6038"/>
                  <a:gd name="T39" fmla="*/ 5101 h 6038"/>
                  <a:gd name="T40" fmla="*/ 601 w 6038"/>
                  <a:gd name="T41" fmla="*/ 4826 h 6038"/>
                  <a:gd name="T42" fmla="*/ 401 w 6038"/>
                  <a:gd name="T43" fmla="*/ 4521 h 6038"/>
                  <a:gd name="T44" fmla="*/ 238 w 6038"/>
                  <a:gd name="T45" fmla="*/ 4194 h 6038"/>
                  <a:gd name="T46" fmla="*/ 116 w 6038"/>
                  <a:gd name="T47" fmla="*/ 3845 h 6038"/>
                  <a:gd name="T48" fmla="*/ 35 w 6038"/>
                  <a:gd name="T49" fmla="*/ 3478 h 6038"/>
                  <a:gd name="T50" fmla="*/ 2 w 6038"/>
                  <a:gd name="T51" fmla="*/ 3096 h 6038"/>
                  <a:gd name="T52" fmla="*/ 10 w 6038"/>
                  <a:gd name="T53" fmla="*/ 2787 h 6038"/>
                  <a:gd name="T54" fmla="*/ 61 w 6038"/>
                  <a:gd name="T55" fmla="*/ 2410 h 6038"/>
                  <a:gd name="T56" fmla="*/ 159 w 6038"/>
                  <a:gd name="T57" fmla="*/ 2051 h 6038"/>
                  <a:gd name="T58" fmla="*/ 298 w 6038"/>
                  <a:gd name="T59" fmla="*/ 1710 h 6038"/>
                  <a:gd name="T60" fmla="*/ 477 w 6038"/>
                  <a:gd name="T61" fmla="*/ 1393 h 6038"/>
                  <a:gd name="T62" fmla="*/ 689 w 6038"/>
                  <a:gd name="T63" fmla="*/ 1100 h 6038"/>
                  <a:gd name="T64" fmla="*/ 937 w 6038"/>
                  <a:gd name="T65" fmla="*/ 834 h 6038"/>
                  <a:gd name="T66" fmla="*/ 1212 w 6038"/>
                  <a:gd name="T67" fmla="*/ 601 h 6038"/>
                  <a:gd name="T68" fmla="*/ 1517 w 6038"/>
                  <a:gd name="T69" fmla="*/ 401 h 6038"/>
                  <a:gd name="T70" fmla="*/ 1844 w 6038"/>
                  <a:gd name="T71" fmla="*/ 238 h 6038"/>
                  <a:gd name="T72" fmla="*/ 2193 w 6038"/>
                  <a:gd name="T73" fmla="*/ 116 h 6038"/>
                  <a:gd name="T74" fmla="*/ 2560 w 6038"/>
                  <a:gd name="T75" fmla="*/ 35 h 6038"/>
                  <a:gd name="T76" fmla="*/ 2942 w 6038"/>
                  <a:gd name="T77" fmla="*/ 2 h 6038"/>
                  <a:gd name="T78" fmla="*/ 3251 w 6038"/>
                  <a:gd name="T79" fmla="*/ 10 h 6038"/>
                  <a:gd name="T80" fmla="*/ 3628 w 6038"/>
                  <a:gd name="T81" fmla="*/ 61 h 6038"/>
                  <a:gd name="T82" fmla="*/ 3987 w 6038"/>
                  <a:gd name="T83" fmla="*/ 159 h 6038"/>
                  <a:gd name="T84" fmla="*/ 4328 w 6038"/>
                  <a:gd name="T85" fmla="*/ 298 h 6038"/>
                  <a:gd name="T86" fmla="*/ 4645 w 6038"/>
                  <a:gd name="T87" fmla="*/ 477 h 6038"/>
                  <a:gd name="T88" fmla="*/ 4938 w 6038"/>
                  <a:gd name="T89" fmla="*/ 689 h 6038"/>
                  <a:gd name="T90" fmla="*/ 5204 w 6038"/>
                  <a:gd name="T91" fmla="*/ 937 h 6038"/>
                  <a:gd name="T92" fmla="*/ 5437 w 6038"/>
                  <a:gd name="T93" fmla="*/ 1212 h 6038"/>
                  <a:gd name="T94" fmla="*/ 5637 w 6038"/>
                  <a:gd name="T95" fmla="*/ 1517 h 6038"/>
                  <a:gd name="T96" fmla="*/ 5800 w 6038"/>
                  <a:gd name="T97" fmla="*/ 1844 h 6038"/>
                  <a:gd name="T98" fmla="*/ 5922 w 6038"/>
                  <a:gd name="T99" fmla="*/ 2193 h 6038"/>
                  <a:gd name="T100" fmla="*/ 6003 w 6038"/>
                  <a:gd name="T101" fmla="*/ 2560 h 6038"/>
                  <a:gd name="T102" fmla="*/ 6036 w 6038"/>
                  <a:gd name="T103" fmla="*/ 2942 h 60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038" h="6038">
                    <a:moveTo>
                      <a:pt x="6038" y="3019"/>
                    </a:moveTo>
                    <a:lnTo>
                      <a:pt x="6038" y="3019"/>
                    </a:lnTo>
                    <a:lnTo>
                      <a:pt x="6036" y="3096"/>
                    </a:lnTo>
                    <a:lnTo>
                      <a:pt x="6033" y="3174"/>
                    </a:lnTo>
                    <a:lnTo>
                      <a:pt x="6028" y="3251"/>
                    </a:lnTo>
                    <a:lnTo>
                      <a:pt x="6022" y="3328"/>
                    </a:lnTo>
                    <a:lnTo>
                      <a:pt x="6014" y="3404"/>
                    </a:lnTo>
                    <a:lnTo>
                      <a:pt x="6003" y="3478"/>
                    </a:lnTo>
                    <a:lnTo>
                      <a:pt x="5990" y="3554"/>
                    </a:lnTo>
                    <a:lnTo>
                      <a:pt x="5977" y="3628"/>
                    </a:lnTo>
                    <a:lnTo>
                      <a:pt x="5961" y="3700"/>
                    </a:lnTo>
                    <a:lnTo>
                      <a:pt x="5943" y="3773"/>
                    </a:lnTo>
                    <a:lnTo>
                      <a:pt x="5922" y="3845"/>
                    </a:lnTo>
                    <a:lnTo>
                      <a:pt x="5901" y="3916"/>
                    </a:lnTo>
                    <a:lnTo>
                      <a:pt x="5879" y="3987"/>
                    </a:lnTo>
                    <a:lnTo>
                      <a:pt x="5854" y="4058"/>
                    </a:lnTo>
                    <a:lnTo>
                      <a:pt x="5829" y="4125"/>
                    </a:lnTo>
                    <a:lnTo>
                      <a:pt x="5800" y="4194"/>
                    </a:lnTo>
                    <a:lnTo>
                      <a:pt x="5771" y="4260"/>
                    </a:lnTo>
                    <a:lnTo>
                      <a:pt x="5740" y="4328"/>
                    </a:lnTo>
                    <a:lnTo>
                      <a:pt x="5708" y="4392"/>
                    </a:lnTo>
                    <a:lnTo>
                      <a:pt x="5673" y="4458"/>
                    </a:lnTo>
                    <a:lnTo>
                      <a:pt x="5637" y="4521"/>
                    </a:lnTo>
                    <a:lnTo>
                      <a:pt x="5600" y="4584"/>
                    </a:lnTo>
                    <a:lnTo>
                      <a:pt x="5561" y="4645"/>
                    </a:lnTo>
                    <a:lnTo>
                      <a:pt x="5521" y="4706"/>
                    </a:lnTo>
                    <a:lnTo>
                      <a:pt x="5481" y="4766"/>
                    </a:lnTo>
                    <a:lnTo>
                      <a:pt x="5437" y="4826"/>
                    </a:lnTo>
                    <a:lnTo>
                      <a:pt x="5394" y="4882"/>
                    </a:lnTo>
                    <a:lnTo>
                      <a:pt x="5349" y="4938"/>
                    </a:lnTo>
                    <a:lnTo>
                      <a:pt x="5301" y="4995"/>
                    </a:lnTo>
                    <a:lnTo>
                      <a:pt x="5254" y="5048"/>
                    </a:lnTo>
                    <a:lnTo>
                      <a:pt x="5204" y="5101"/>
                    </a:lnTo>
                    <a:lnTo>
                      <a:pt x="5154" y="5154"/>
                    </a:lnTo>
                    <a:lnTo>
                      <a:pt x="5101" y="5204"/>
                    </a:lnTo>
                    <a:lnTo>
                      <a:pt x="5048" y="5254"/>
                    </a:lnTo>
                    <a:lnTo>
                      <a:pt x="4995" y="5301"/>
                    </a:lnTo>
                    <a:lnTo>
                      <a:pt x="4938" y="5349"/>
                    </a:lnTo>
                    <a:lnTo>
                      <a:pt x="4882" y="5394"/>
                    </a:lnTo>
                    <a:lnTo>
                      <a:pt x="4826" y="5437"/>
                    </a:lnTo>
                    <a:lnTo>
                      <a:pt x="4766" y="5481"/>
                    </a:lnTo>
                    <a:lnTo>
                      <a:pt x="4706" y="5521"/>
                    </a:lnTo>
                    <a:lnTo>
                      <a:pt x="4645" y="5561"/>
                    </a:lnTo>
                    <a:lnTo>
                      <a:pt x="4584" y="5600"/>
                    </a:lnTo>
                    <a:lnTo>
                      <a:pt x="4521" y="5637"/>
                    </a:lnTo>
                    <a:lnTo>
                      <a:pt x="4458" y="5673"/>
                    </a:lnTo>
                    <a:lnTo>
                      <a:pt x="4392" y="5708"/>
                    </a:lnTo>
                    <a:lnTo>
                      <a:pt x="4328" y="5740"/>
                    </a:lnTo>
                    <a:lnTo>
                      <a:pt x="4260" y="5771"/>
                    </a:lnTo>
                    <a:lnTo>
                      <a:pt x="4194" y="5800"/>
                    </a:lnTo>
                    <a:lnTo>
                      <a:pt x="4125" y="5829"/>
                    </a:lnTo>
                    <a:lnTo>
                      <a:pt x="4058" y="5854"/>
                    </a:lnTo>
                    <a:lnTo>
                      <a:pt x="3987" y="5879"/>
                    </a:lnTo>
                    <a:lnTo>
                      <a:pt x="3916" y="5901"/>
                    </a:lnTo>
                    <a:lnTo>
                      <a:pt x="3845" y="5922"/>
                    </a:lnTo>
                    <a:lnTo>
                      <a:pt x="3773" y="5943"/>
                    </a:lnTo>
                    <a:lnTo>
                      <a:pt x="3700" y="5961"/>
                    </a:lnTo>
                    <a:lnTo>
                      <a:pt x="3628" y="5977"/>
                    </a:lnTo>
                    <a:lnTo>
                      <a:pt x="3554" y="5990"/>
                    </a:lnTo>
                    <a:lnTo>
                      <a:pt x="3478" y="6003"/>
                    </a:lnTo>
                    <a:lnTo>
                      <a:pt x="3404" y="6014"/>
                    </a:lnTo>
                    <a:lnTo>
                      <a:pt x="3328" y="6022"/>
                    </a:lnTo>
                    <a:lnTo>
                      <a:pt x="3251" y="6028"/>
                    </a:lnTo>
                    <a:lnTo>
                      <a:pt x="3174" y="6033"/>
                    </a:lnTo>
                    <a:lnTo>
                      <a:pt x="3096" y="6036"/>
                    </a:lnTo>
                    <a:lnTo>
                      <a:pt x="3019" y="6038"/>
                    </a:lnTo>
                    <a:lnTo>
                      <a:pt x="3019" y="6038"/>
                    </a:lnTo>
                    <a:lnTo>
                      <a:pt x="2942" y="6036"/>
                    </a:lnTo>
                    <a:lnTo>
                      <a:pt x="2864" y="6033"/>
                    </a:lnTo>
                    <a:lnTo>
                      <a:pt x="2787" y="6028"/>
                    </a:lnTo>
                    <a:lnTo>
                      <a:pt x="2710" y="6022"/>
                    </a:lnTo>
                    <a:lnTo>
                      <a:pt x="2634" y="6014"/>
                    </a:lnTo>
                    <a:lnTo>
                      <a:pt x="2560" y="6003"/>
                    </a:lnTo>
                    <a:lnTo>
                      <a:pt x="2484" y="5990"/>
                    </a:lnTo>
                    <a:lnTo>
                      <a:pt x="2410" y="5977"/>
                    </a:lnTo>
                    <a:lnTo>
                      <a:pt x="2338" y="5961"/>
                    </a:lnTo>
                    <a:lnTo>
                      <a:pt x="2265" y="5943"/>
                    </a:lnTo>
                    <a:lnTo>
                      <a:pt x="2193" y="5922"/>
                    </a:lnTo>
                    <a:lnTo>
                      <a:pt x="2122" y="5901"/>
                    </a:lnTo>
                    <a:lnTo>
                      <a:pt x="2051" y="5879"/>
                    </a:lnTo>
                    <a:lnTo>
                      <a:pt x="1980" y="5854"/>
                    </a:lnTo>
                    <a:lnTo>
                      <a:pt x="1913" y="5829"/>
                    </a:lnTo>
                    <a:lnTo>
                      <a:pt x="1844" y="5800"/>
                    </a:lnTo>
                    <a:lnTo>
                      <a:pt x="1778" y="5771"/>
                    </a:lnTo>
                    <a:lnTo>
                      <a:pt x="1710" y="5740"/>
                    </a:lnTo>
                    <a:lnTo>
                      <a:pt x="1646" y="5708"/>
                    </a:lnTo>
                    <a:lnTo>
                      <a:pt x="1580" y="5673"/>
                    </a:lnTo>
                    <a:lnTo>
                      <a:pt x="1517" y="5637"/>
                    </a:lnTo>
                    <a:lnTo>
                      <a:pt x="1454" y="5600"/>
                    </a:lnTo>
                    <a:lnTo>
                      <a:pt x="1393" y="5561"/>
                    </a:lnTo>
                    <a:lnTo>
                      <a:pt x="1332" y="5521"/>
                    </a:lnTo>
                    <a:lnTo>
                      <a:pt x="1272" y="5481"/>
                    </a:lnTo>
                    <a:lnTo>
                      <a:pt x="1212" y="5437"/>
                    </a:lnTo>
                    <a:lnTo>
                      <a:pt x="1156" y="5394"/>
                    </a:lnTo>
                    <a:lnTo>
                      <a:pt x="1100" y="5349"/>
                    </a:lnTo>
                    <a:lnTo>
                      <a:pt x="1043" y="5301"/>
                    </a:lnTo>
                    <a:lnTo>
                      <a:pt x="990" y="5254"/>
                    </a:lnTo>
                    <a:lnTo>
                      <a:pt x="937" y="5204"/>
                    </a:lnTo>
                    <a:lnTo>
                      <a:pt x="884" y="5154"/>
                    </a:lnTo>
                    <a:lnTo>
                      <a:pt x="834" y="5101"/>
                    </a:lnTo>
                    <a:lnTo>
                      <a:pt x="784" y="5048"/>
                    </a:lnTo>
                    <a:lnTo>
                      <a:pt x="737" y="4995"/>
                    </a:lnTo>
                    <a:lnTo>
                      <a:pt x="689" y="4938"/>
                    </a:lnTo>
                    <a:lnTo>
                      <a:pt x="644" y="4882"/>
                    </a:lnTo>
                    <a:lnTo>
                      <a:pt x="601" y="4826"/>
                    </a:lnTo>
                    <a:lnTo>
                      <a:pt x="557" y="4766"/>
                    </a:lnTo>
                    <a:lnTo>
                      <a:pt x="517" y="4706"/>
                    </a:lnTo>
                    <a:lnTo>
                      <a:pt x="477" y="4645"/>
                    </a:lnTo>
                    <a:lnTo>
                      <a:pt x="438" y="4584"/>
                    </a:lnTo>
                    <a:lnTo>
                      <a:pt x="401" y="4521"/>
                    </a:lnTo>
                    <a:lnTo>
                      <a:pt x="365" y="4458"/>
                    </a:lnTo>
                    <a:lnTo>
                      <a:pt x="330" y="4392"/>
                    </a:lnTo>
                    <a:lnTo>
                      <a:pt x="298" y="4328"/>
                    </a:lnTo>
                    <a:lnTo>
                      <a:pt x="267" y="4260"/>
                    </a:lnTo>
                    <a:lnTo>
                      <a:pt x="238" y="4194"/>
                    </a:lnTo>
                    <a:lnTo>
                      <a:pt x="209" y="4125"/>
                    </a:lnTo>
                    <a:lnTo>
                      <a:pt x="184" y="4058"/>
                    </a:lnTo>
                    <a:lnTo>
                      <a:pt x="159" y="3987"/>
                    </a:lnTo>
                    <a:lnTo>
                      <a:pt x="137" y="3916"/>
                    </a:lnTo>
                    <a:lnTo>
                      <a:pt x="116" y="3845"/>
                    </a:lnTo>
                    <a:lnTo>
                      <a:pt x="95" y="3773"/>
                    </a:lnTo>
                    <a:lnTo>
                      <a:pt x="77" y="3700"/>
                    </a:lnTo>
                    <a:lnTo>
                      <a:pt x="61" y="3628"/>
                    </a:lnTo>
                    <a:lnTo>
                      <a:pt x="48" y="3554"/>
                    </a:lnTo>
                    <a:lnTo>
                      <a:pt x="35" y="3478"/>
                    </a:lnTo>
                    <a:lnTo>
                      <a:pt x="24" y="3404"/>
                    </a:lnTo>
                    <a:lnTo>
                      <a:pt x="16" y="3328"/>
                    </a:lnTo>
                    <a:lnTo>
                      <a:pt x="10" y="3251"/>
                    </a:lnTo>
                    <a:lnTo>
                      <a:pt x="5" y="3174"/>
                    </a:lnTo>
                    <a:lnTo>
                      <a:pt x="2" y="3096"/>
                    </a:lnTo>
                    <a:lnTo>
                      <a:pt x="0" y="3019"/>
                    </a:lnTo>
                    <a:lnTo>
                      <a:pt x="0" y="3019"/>
                    </a:lnTo>
                    <a:lnTo>
                      <a:pt x="2" y="2942"/>
                    </a:lnTo>
                    <a:lnTo>
                      <a:pt x="5" y="2864"/>
                    </a:lnTo>
                    <a:lnTo>
                      <a:pt x="10" y="2787"/>
                    </a:lnTo>
                    <a:lnTo>
                      <a:pt x="16" y="2710"/>
                    </a:lnTo>
                    <a:lnTo>
                      <a:pt x="24" y="2634"/>
                    </a:lnTo>
                    <a:lnTo>
                      <a:pt x="35" y="2560"/>
                    </a:lnTo>
                    <a:lnTo>
                      <a:pt x="48" y="2484"/>
                    </a:lnTo>
                    <a:lnTo>
                      <a:pt x="61" y="2410"/>
                    </a:lnTo>
                    <a:lnTo>
                      <a:pt x="77" y="2338"/>
                    </a:lnTo>
                    <a:lnTo>
                      <a:pt x="95" y="2265"/>
                    </a:lnTo>
                    <a:lnTo>
                      <a:pt x="116" y="2193"/>
                    </a:lnTo>
                    <a:lnTo>
                      <a:pt x="137" y="2122"/>
                    </a:lnTo>
                    <a:lnTo>
                      <a:pt x="159" y="2051"/>
                    </a:lnTo>
                    <a:lnTo>
                      <a:pt x="184" y="1980"/>
                    </a:lnTo>
                    <a:lnTo>
                      <a:pt x="209" y="1913"/>
                    </a:lnTo>
                    <a:lnTo>
                      <a:pt x="238" y="1844"/>
                    </a:lnTo>
                    <a:lnTo>
                      <a:pt x="267" y="1778"/>
                    </a:lnTo>
                    <a:lnTo>
                      <a:pt x="298" y="1710"/>
                    </a:lnTo>
                    <a:lnTo>
                      <a:pt x="330" y="1646"/>
                    </a:lnTo>
                    <a:lnTo>
                      <a:pt x="365" y="1580"/>
                    </a:lnTo>
                    <a:lnTo>
                      <a:pt x="401" y="1517"/>
                    </a:lnTo>
                    <a:lnTo>
                      <a:pt x="438" y="1454"/>
                    </a:lnTo>
                    <a:lnTo>
                      <a:pt x="477" y="1393"/>
                    </a:lnTo>
                    <a:lnTo>
                      <a:pt x="517" y="1332"/>
                    </a:lnTo>
                    <a:lnTo>
                      <a:pt x="557" y="1272"/>
                    </a:lnTo>
                    <a:lnTo>
                      <a:pt x="601" y="1212"/>
                    </a:lnTo>
                    <a:lnTo>
                      <a:pt x="644" y="1156"/>
                    </a:lnTo>
                    <a:lnTo>
                      <a:pt x="689" y="1100"/>
                    </a:lnTo>
                    <a:lnTo>
                      <a:pt x="737" y="1043"/>
                    </a:lnTo>
                    <a:lnTo>
                      <a:pt x="784" y="990"/>
                    </a:lnTo>
                    <a:lnTo>
                      <a:pt x="834" y="937"/>
                    </a:lnTo>
                    <a:lnTo>
                      <a:pt x="884" y="884"/>
                    </a:lnTo>
                    <a:lnTo>
                      <a:pt x="937" y="834"/>
                    </a:lnTo>
                    <a:lnTo>
                      <a:pt x="990" y="784"/>
                    </a:lnTo>
                    <a:lnTo>
                      <a:pt x="1043" y="737"/>
                    </a:lnTo>
                    <a:lnTo>
                      <a:pt x="1100" y="689"/>
                    </a:lnTo>
                    <a:lnTo>
                      <a:pt x="1156" y="644"/>
                    </a:lnTo>
                    <a:lnTo>
                      <a:pt x="1212" y="601"/>
                    </a:lnTo>
                    <a:lnTo>
                      <a:pt x="1272" y="557"/>
                    </a:lnTo>
                    <a:lnTo>
                      <a:pt x="1332" y="517"/>
                    </a:lnTo>
                    <a:lnTo>
                      <a:pt x="1393" y="477"/>
                    </a:lnTo>
                    <a:lnTo>
                      <a:pt x="1454" y="438"/>
                    </a:lnTo>
                    <a:lnTo>
                      <a:pt x="1517" y="401"/>
                    </a:lnTo>
                    <a:lnTo>
                      <a:pt x="1580" y="365"/>
                    </a:lnTo>
                    <a:lnTo>
                      <a:pt x="1646" y="330"/>
                    </a:lnTo>
                    <a:lnTo>
                      <a:pt x="1710" y="298"/>
                    </a:lnTo>
                    <a:lnTo>
                      <a:pt x="1778" y="267"/>
                    </a:lnTo>
                    <a:lnTo>
                      <a:pt x="1844" y="238"/>
                    </a:lnTo>
                    <a:lnTo>
                      <a:pt x="1913" y="209"/>
                    </a:lnTo>
                    <a:lnTo>
                      <a:pt x="1980" y="184"/>
                    </a:lnTo>
                    <a:lnTo>
                      <a:pt x="2051" y="159"/>
                    </a:lnTo>
                    <a:lnTo>
                      <a:pt x="2122" y="137"/>
                    </a:lnTo>
                    <a:lnTo>
                      <a:pt x="2193" y="116"/>
                    </a:lnTo>
                    <a:lnTo>
                      <a:pt x="2265" y="95"/>
                    </a:lnTo>
                    <a:lnTo>
                      <a:pt x="2338" y="77"/>
                    </a:lnTo>
                    <a:lnTo>
                      <a:pt x="2410" y="61"/>
                    </a:lnTo>
                    <a:lnTo>
                      <a:pt x="2484" y="48"/>
                    </a:lnTo>
                    <a:lnTo>
                      <a:pt x="2560" y="35"/>
                    </a:lnTo>
                    <a:lnTo>
                      <a:pt x="2634" y="24"/>
                    </a:lnTo>
                    <a:lnTo>
                      <a:pt x="2710" y="16"/>
                    </a:lnTo>
                    <a:lnTo>
                      <a:pt x="2787" y="10"/>
                    </a:lnTo>
                    <a:lnTo>
                      <a:pt x="2864" y="5"/>
                    </a:lnTo>
                    <a:lnTo>
                      <a:pt x="2942" y="2"/>
                    </a:lnTo>
                    <a:lnTo>
                      <a:pt x="3019" y="0"/>
                    </a:lnTo>
                    <a:lnTo>
                      <a:pt x="3019" y="0"/>
                    </a:lnTo>
                    <a:lnTo>
                      <a:pt x="3096" y="2"/>
                    </a:lnTo>
                    <a:lnTo>
                      <a:pt x="3174" y="5"/>
                    </a:lnTo>
                    <a:lnTo>
                      <a:pt x="3251" y="10"/>
                    </a:lnTo>
                    <a:lnTo>
                      <a:pt x="3328" y="16"/>
                    </a:lnTo>
                    <a:lnTo>
                      <a:pt x="3404" y="24"/>
                    </a:lnTo>
                    <a:lnTo>
                      <a:pt x="3478" y="35"/>
                    </a:lnTo>
                    <a:lnTo>
                      <a:pt x="3554" y="48"/>
                    </a:lnTo>
                    <a:lnTo>
                      <a:pt x="3628" y="61"/>
                    </a:lnTo>
                    <a:lnTo>
                      <a:pt x="3700" y="77"/>
                    </a:lnTo>
                    <a:lnTo>
                      <a:pt x="3773" y="95"/>
                    </a:lnTo>
                    <a:lnTo>
                      <a:pt x="3845" y="116"/>
                    </a:lnTo>
                    <a:lnTo>
                      <a:pt x="3916" y="137"/>
                    </a:lnTo>
                    <a:lnTo>
                      <a:pt x="3987" y="159"/>
                    </a:lnTo>
                    <a:lnTo>
                      <a:pt x="4058" y="184"/>
                    </a:lnTo>
                    <a:lnTo>
                      <a:pt x="4125" y="209"/>
                    </a:lnTo>
                    <a:lnTo>
                      <a:pt x="4194" y="238"/>
                    </a:lnTo>
                    <a:lnTo>
                      <a:pt x="4260" y="267"/>
                    </a:lnTo>
                    <a:lnTo>
                      <a:pt x="4328" y="298"/>
                    </a:lnTo>
                    <a:lnTo>
                      <a:pt x="4392" y="330"/>
                    </a:lnTo>
                    <a:lnTo>
                      <a:pt x="4458" y="365"/>
                    </a:lnTo>
                    <a:lnTo>
                      <a:pt x="4521" y="401"/>
                    </a:lnTo>
                    <a:lnTo>
                      <a:pt x="4584" y="438"/>
                    </a:lnTo>
                    <a:lnTo>
                      <a:pt x="4645" y="477"/>
                    </a:lnTo>
                    <a:lnTo>
                      <a:pt x="4706" y="517"/>
                    </a:lnTo>
                    <a:lnTo>
                      <a:pt x="4766" y="557"/>
                    </a:lnTo>
                    <a:lnTo>
                      <a:pt x="4826" y="601"/>
                    </a:lnTo>
                    <a:lnTo>
                      <a:pt x="4882" y="644"/>
                    </a:lnTo>
                    <a:lnTo>
                      <a:pt x="4938" y="689"/>
                    </a:lnTo>
                    <a:lnTo>
                      <a:pt x="4995" y="737"/>
                    </a:lnTo>
                    <a:lnTo>
                      <a:pt x="5048" y="784"/>
                    </a:lnTo>
                    <a:lnTo>
                      <a:pt x="5101" y="834"/>
                    </a:lnTo>
                    <a:lnTo>
                      <a:pt x="5154" y="884"/>
                    </a:lnTo>
                    <a:lnTo>
                      <a:pt x="5204" y="937"/>
                    </a:lnTo>
                    <a:lnTo>
                      <a:pt x="5254" y="990"/>
                    </a:lnTo>
                    <a:lnTo>
                      <a:pt x="5301" y="1043"/>
                    </a:lnTo>
                    <a:lnTo>
                      <a:pt x="5349" y="1100"/>
                    </a:lnTo>
                    <a:lnTo>
                      <a:pt x="5394" y="1156"/>
                    </a:lnTo>
                    <a:lnTo>
                      <a:pt x="5437" y="1212"/>
                    </a:lnTo>
                    <a:lnTo>
                      <a:pt x="5481" y="1272"/>
                    </a:lnTo>
                    <a:lnTo>
                      <a:pt x="5521" y="1332"/>
                    </a:lnTo>
                    <a:lnTo>
                      <a:pt x="5561" y="1393"/>
                    </a:lnTo>
                    <a:lnTo>
                      <a:pt x="5600" y="1454"/>
                    </a:lnTo>
                    <a:lnTo>
                      <a:pt x="5637" y="1517"/>
                    </a:lnTo>
                    <a:lnTo>
                      <a:pt x="5673" y="1580"/>
                    </a:lnTo>
                    <a:lnTo>
                      <a:pt x="5708" y="1646"/>
                    </a:lnTo>
                    <a:lnTo>
                      <a:pt x="5740" y="1710"/>
                    </a:lnTo>
                    <a:lnTo>
                      <a:pt x="5771" y="1778"/>
                    </a:lnTo>
                    <a:lnTo>
                      <a:pt x="5800" y="1844"/>
                    </a:lnTo>
                    <a:lnTo>
                      <a:pt x="5829" y="1913"/>
                    </a:lnTo>
                    <a:lnTo>
                      <a:pt x="5854" y="1980"/>
                    </a:lnTo>
                    <a:lnTo>
                      <a:pt x="5879" y="2051"/>
                    </a:lnTo>
                    <a:lnTo>
                      <a:pt x="5901" y="2122"/>
                    </a:lnTo>
                    <a:lnTo>
                      <a:pt x="5922" y="2193"/>
                    </a:lnTo>
                    <a:lnTo>
                      <a:pt x="5943" y="2265"/>
                    </a:lnTo>
                    <a:lnTo>
                      <a:pt x="5961" y="2338"/>
                    </a:lnTo>
                    <a:lnTo>
                      <a:pt x="5977" y="2410"/>
                    </a:lnTo>
                    <a:lnTo>
                      <a:pt x="5990" y="2484"/>
                    </a:lnTo>
                    <a:lnTo>
                      <a:pt x="6003" y="2560"/>
                    </a:lnTo>
                    <a:lnTo>
                      <a:pt x="6014" y="2634"/>
                    </a:lnTo>
                    <a:lnTo>
                      <a:pt x="6022" y="2710"/>
                    </a:lnTo>
                    <a:lnTo>
                      <a:pt x="6028" y="2787"/>
                    </a:lnTo>
                    <a:lnTo>
                      <a:pt x="6033" y="2864"/>
                    </a:lnTo>
                    <a:lnTo>
                      <a:pt x="6036" y="2942"/>
                    </a:lnTo>
                    <a:lnTo>
                      <a:pt x="6038" y="3019"/>
                    </a:lnTo>
                    <a:lnTo>
                      <a:pt x="6038" y="3019"/>
                    </a:lnTo>
                    <a:close/>
                  </a:path>
                </a:pathLst>
              </a:custGeom>
              <a:noFill/>
              <a:ln w="6350" cmpd="sng">
                <a:solidFill>
                  <a:schemeClr val="tx1"/>
                </a:solidFill>
                <a:prstDash val="sysDot"/>
                <a:round/>
                <a:headEnd/>
                <a:tailEnd/>
              </a:ln>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22" name="Freeform 51"/>
              <p:cNvSpPr>
                <a:spLocks/>
              </p:cNvSpPr>
              <p:nvPr/>
            </p:nvSpPr>
            <p:spPr bwMode="auto">
              <a:xfrm>
                <a:off x="2635723" y="1505423"/>
                <a:ext cx="3872555" cy="3872555"/>
              </a:xfrm>
              <a:custGeom>
                <a:avLst/>
                <a:gdLst>
                  <a:gd name="T0" fmla="*/ 6892 w 6902"/>
                  <a:gd name="T1" fmla="*/ 3717 h 6902"/>
                  <a:gd name="T2" fmla="*/ 6831 w 6902"/>
                  <a:gd name="T3" fmla="*/ 4147 h 6902"/>
                  <a:gd name="T4" fmla="*/ 6720 w 6902"/>
                  <a:gd name="T5" fmla="*/ 4557 h 6902"/>
                  <a:gd name="T6" fmla="*/ 6560 w 6902"/>
                  <a:gd name="T7" fmla="*/ 4947 h 6902"/>
                  <a:gd name="T8" fmla="*/ 6357 w 6902"/>
                  <a:gd name="T9" fmla="*/ 5311 h 6902"/>
                  <a:gd name="T10" fmla="*/ 6113 w 6902"/>
                  <a:gd name="T11" fmla="*/ 5646 h 6902"/>
                  <a:gd name="T12" fmla="*/ 5831 w 6902"/>
                  <a:gd name="T13" fmla="*/ 5948 h 6902"/>
                  <a:gd name="T14" fmla="*/ 5515 w 6902"/>
                  <a:gd name="T15" fmla="*/ 6216 h 6902"/>
                  <a:gd name="T16" fmla="*/ 5169 w 6902"/>
                  <a:gd name="T17" fmla="*/ 6444 h 6902"/>
                  <a:gd name="T18" fmla="*/ 4794 w 6902"/>
                  <a:gd name="T19" fmla="*/ 6629 h 6902"/>
                  <a:gd name="T20" fmla="*/ 4396 w 6902"/>
                  <a:gd name="T21" fmla="*/ 6769 h 6902"/>
                  <a:gd name="T22" fmla="*/ 3976 w 6902"/>
                  <a:gd name="T23" fmla="*/ 6861 h 6902"/>
                  <a:gd name="T24" fmla="*/ 3540 w 6902"/>
                  <a:gd name="T25" fmla="*/ 6900 h 6902"/>
                  <a:gd name="T26" fmla="*/ 3185 w 6902"/>
                  <a:gd name="T27" fmla="*/ 6892 h 6902"/>
                  <a:gd name="T28" fmla="*/ 2755 w 6902"/>
                  <a:gd name="T29" fmla="*/ 6831 h 6902"/>
                  <a:gd name="T30" fmla="*/ 2345 w 6902"/>
                  <a:gd name="T31" fmla="*/ 6720 h 6902"/>
                  <a:gd name="T32" fmla="*/ 1955 w 6902"/>
                  <a:gd name="T33" fmla="*/ 6560 h 6902"/>
                  <a:gd name="T34" fmla="*/ 1591 w 6902"/>
                  <a:gd name="T35" fmla="*/ 6357 h 6902"/>
                  <a:gd name="T36" fmla="*/ 1256 w 6902"/>
                  <a:gd name="T37" fmla="*/ 6113 h 6902"/>
                  <a:gd name="T38" fmla="*/ 954 w 6902"/>
                  <a:gd name="T39" fmla="*/ 5831 h 6902"/>
                  <a:gd name="T40" fmla="*/ 686 w 6902"/>
                  <a:gd name="T41" fmla="*/ 5515 h 6902"/>
                  <a:gd name="T42" fmla="*/ 458 w 6902"/>
                  <a:gd name="T43" fmla="*/ 5169 h 6902"/>
                  <a:gd name="T44" fmla="*/ 273 w 6902"/>
                  <a:gd name="T45" fmla="*/ 4794 h 6902"/>
                  <a:gd name="T46" fmla="*/ 133 w 6902"/>
                  <a:gd name="T47" fmla="*/ 4396 h 6902"/>
                  <a:gd name="T48" fmla="*/ 41 w 6902"/>
                  <a:gd name="T49" fmla="*/ 3976 h 6902"/>
                  <a:gd name="T50" fmla="*/ 2 w 6902"/>
                  <a:gd name="T51" fmla="*/ 3540 h 6902"/>
                  <a:gd name="T52" fmla="*/ 10 w 6902"/>
                  <a:gd name="T53" fmla="*/ 3185 h 6902"/>
                  <a:gd name="T54" fmla="*/ 71 w 6902"/>
                  <a:gd name="T55" fmla="*/ 2755 h 6902"/>
                  <a:gd name="T56" fmla="*/ 182 w 6902"/>
                  <a:gd name="T57" fmla="*/ 2345 h 6902"/>
                  <a:gd name="T58" fmla="*/ 342 w 6902"/>
                  <a:gd name="T59" fmla="*/ 1955 h 6902"/>
                  <a:gd name="T60" fmla="*/ 545 w 6902"/>
                  <a:gd name="T61" fmla="*/ 1591 h 6902"/>
                  <a:gd name="T62" fmla="*/ 789 w 6902"/>
                  <a:gd name="T63" fmla="*/ 1256 h 6902"/>
                  <a:gd name="T64" fmla="*/ 1071 w 6902"/>
                  <a:gd name="T65" fmla="*/ 954 h 6902"/>
                  <a:gd name="T66" fmla="*/ 1387 w 6902"/>
                  <a:gd name="T67" fmla="*/ 686 h 6902"/>
                  <a:gd name="T68" fmla="*/ 1733 w 6902"/>
                  <a:gd name="T69" fmla="*/ 458 h 6902"/>
                  <a:gd name="T70" fmla="*/ 2108 w 6902"/>
                  <a:gd name="T71" fmla="*/ 273 h 6902"/>
                  <a:gd name="T72" fmla="*/ 2506 w 6902"/>
                  <a:gd name="T73" fmla="*/ 133 h 6902"/>
                  <a:gd name="T74" fmla="*/ 2926 w 6902"/>
                  <a:gd name="T75" fmla="*/ 41 h 6902"/>
                  <a:gd name="T76" fmla="*/ 3362 w 6902"/>
                  <a:gd name="T77" fmla="*/ 2 h 6902"/>
                  <a:gd name="T78" fmla="*/ 3717 w 6902"/>
                  <a:gd name="T79" fmla="*/ 10 h 6902"/>
                  <a:gd name="T80" fmla="*/ 4147 w 6902"/>
                  <a:gd name="T81" fmla="*/ 71 h 6902"/>
                  <a:gd name="T82" fmla="*/ 4557 w 6902"/>
                  <a:gd name="T83" fmla="*/ 182 h 6902"/>
                  <a:gd name="T84" fmla="*/ 4947 w 6902"/>
                  <a:gd name="T85" fmla="*/ 342 h 6902"/>
                  <a:gd name="T86" fmla="*/ 5311 w 6902"/>
                  <a:gd name="T87" fmla="*/ 545 h 6902"/>
                  <a:gd name="T88" fmla="*/ 5646 w 6902"/>
                  <a:gd name="T89" fmla="*/ 789 h 6902"/>
                  <a:gd name="T90" fmla="*/ 5948 w 6902"/>
                  <a:gd name="T91" fmla="*/ 1071 h 6902"/>
                  <a:gd name="T92" fmla="*/ 6216 w 6902"/>
                  <a:gd name="T93" fmla="*/ 1387 h 6902"/>
                  <a:gd name="T94" fmla="*/ 6444 w 6902"/>
                  <a:gd name="T95" fmla="*/ 1733 h 6902"/>
                  <a:gd name="T96" fmla="*/ 6629 w 6902"/>
                  <a:gd name="T97" fmla="*/ 2108 h 6902"/>
                  <a:gd name="T98" fmla="*/ 6769 w 6902"/>
                  <a:gd name="T99" fmla="*/ 2506 h 6902"/>
                  <a:gd name="T100" fmla="*/ 6861 w 6902"/>
                  <a:gd name="T101" fmla="*/ 2926 h 6902"/>
                  <a:gd name="T102" fmla="*/ 6900 w 6902"/>
                  <a:gd name="T103" fmla="*/ 3362 h 69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902" h="6902">
                    <a:moveTo>
                      <a:pt x="6902" y="3451"/>
                    </a:moveTo>
                    <a:lnTo>
                      <a:pt x="6902" y="3451"/>
                    </a:lnTo>
                    <a:lnTo>
                      <a:pt x="6900" y="3540"/>
                    </a:lnTo>
                    <a:lnTo>
                      <a:pt x="6897" y="3628"/>
                    </a:lnTo>
                    <a:lnTo>
                      <a:pt x="6892" y="3717"/>
                    </a:lnTo>
                    <a:lnTo>
                      <a:pt x="6884" y="3804"/>
                    </a:lnTo>
                    <a:lnTo>
                      <a:pt x="6874" y="3891"/>
                    </a:lnTo>
                    <a:lnTo>
                      <a:pt x="6861" y="3976"/>
                    </a:lnTo>
                    <a:lnTo>
                      <a:pt x="6847" y="4061"/>
                    </a:lnTo>
                    <a:lnTo>
                      <a:pt x="6831" y="4147"/>
                    </a:lnTo>
                    <a:lnTo>
                      <a:pt x="6813" y="4230"/>
                    </a:lnTo>
                    <a:lnTo>
                      <a:pt x="6792" y="4314"/>
                    </a:lnTo>
                    <a:lnTo>
                      <a:pt x="6769" y="4396"/>
                    </a:lnTo>
                    <a:lnTo>
                      <a:pt x="6745" y="4477"/>
                    </a:lnTo>
                    <a:lnTo>
                      <a:pt x="6720" y="4557"/>
                    </a:lnTo>
                    <a:lnTo>
                      <a:pt x="6692" y="4638"/>
                    </a:lnTo>
                    <a:lnTo>
                      <a:pt x="6662" y="4717"/>
                    </a:lnTo>
                    <a:lnTo>
                      <a:pt x="6629" y="4794"/>
                    </a:lnTo>
                    <a:lnTo>
                      <a:pt x="6596" y="4871"/>
                    </a:lnTo>
                    <a:lnTo>
                      <a:pt x="6560" y="4947"/>
                    </a:lnTo>
                    <a:lnTo>
                      <a:pt x="6523" y="5021"/>
                    </a:lnTo>
                    <a:lnTo>
                      <a:pt x="6484" y="5095"/>
                    </a:lnTo>
                    <a:lnTo>
                      <a:pt x="6444" y="5169"/>
                    </a:lnTo>
                    <a:lnTo>
                      <a:pt x="6402" y="5240"/>
                    </a:lnTo>
                    <a:lnTo>
                      <a:pt x="6357" y="5311"/>
                    </a:lnTo>
                    <a:lnTo>
                      <a:pt x="6312" y="5380"/>
                    </a:lnTo>
                    <a:lnTo>
                      <a:pt x="6264" y="5448"/>
                    </a:lnTo>
                    <a:lnTo>
                      <a:pt x="6216" y="5515"/>
                    </a:lnTo>
                    <a:lnTo>
                      <a:pt x="6166" y="5581"/>
                    </a:lnTo>
                    <a:lnTo>
                      <a:pt x="6113" y="5646"/>
                    </a:lnTo>
                    <a:lnTo>
                      <a:pt x="6059" y="5708"/>
                    </a:lnTo>
                    <a:lnTo>
                      <a:pt x="6005" y="5771"/>
                    </a:lnTo>
                    <a:lnTo>
                      <a:pt x="5948" y="5831"/>
                    </a:lnTo>
                    <a:lnTo>
                      <a:pt x="5890" y="5890"/>
                    </a:lnTo>
                    <a:lnTo>
                      <a:pt x="5831" y="5948"/>
                    </a:lnTo>
                    <a:lnTo>
                      <a:pt x="5771" y="6005"/>
                    </a:lnTo>
                    <a:lnTo>
                      <a:pt x="5708" y="6059"/>
                    </a:lnTo>
                    <a:lnTo>
                      <a:pt x="5646" y="6113"/>
                    </a:lnTo>
                    <a:lnTo>
                      <a:pt x="5581" y="6166"/>
                    </a:lnTo>
                    <a:lnTo>
                      <a:pt x="5515" y="6216"/>
                    </a:lnTo>
                    <a:lnTo>
                      <a:pt x="5448" y="6264"/>
                    </a:lnTo>
                    <a:lnTo>
                      <a:pt x="5380" y="6312"/>
                    </a:lnTo>
                    <a:lnTo>
                      <a:pt x="5311" y="6357"/>
                    </a:lnTo>
                    <a:lnTo>
                      <a:pt x="5240" y="6402"/>
                    </a:lnTo>
                    <a:lnTo>
                      <a:pt x="5169" y="6444"/>
                    </a:lnTo>
                    <a:lnTo>
                      <a:pt x="5095" y="6484"/>
                    </a:lnTo>
                    <a:lnTo>
                      <a:pt x="5021" y="6523"/>
                    </a:lnTo>
                    <a:lnTo>
                      <a:pt x="4947" y="6560"/>
                    </a:lnTo>
                    <a:lnTo>
                      <a:pt x="4871" y="6596"/>
                    </a:lnTo>
                    <a:lnTo>
                      <a:pt x="4794" y="6629"/>
                    </a:lnTo>
                    <a:lnTo>
                      <a:pt x="4717" y="6662"/>
                    </a:lnTo>
                    <a:lnTo>
                      <a:pt x="4638" y="6692"/>
                    </a:lnTo>
                    <a:lnTo>
                      <a:pt x="4557" y="6720"/>
                    </a:lnTo>
                    <a:lnTo>
                      <a:pt x="4477" y="6745"/>
                    </a:lnTo>
                    <a:lnTo>
                      <a:pt x="4396" y="6769"/>
                    </a:lnTo>
                    <a:lnTo>
                      <a:pt x="4314" y="6792"/>
                    </a:lnTo>
                    <a:lnTo>
                      <a:pt x="4230" y="6813"/>
                    </a:lnTo>
                    <a:lnTo>
                      <a:pt x="4147" y="6831"/>
                    </a:lnTo>
                    <a:lnTo>
                      <a:pt x="4061" y="6847"/>
                    </a:lnTo>
                    <a:lnTo>
                      <a:pt x="3976" y="6861"/>
                    </a:lnTo>
                    <a:lnTo>
                      <a:pt x="3891" y="6874"/>
                    </a:lnTo>
                    <a:lnTo>
                      <a:pt x="3804" y="6884"/>
                    </a:lnTo>
                    <a:lnTo>
                      <a:pt x="3717" y="6892"/>
                    </a:lnTo>
                    <a:lnTo>
                      <a:pt x="3628" y="6897"/>
                    </a:lnTo>
                    <a:lnTo>
                      <a:pt x="3540" y="6900"/>
                    </a:lnTo>
                    <a:lnTo>
                      <a:pt x="3451" y="6902"/>
                    </a:lnTo>
                    <a:lnTo>
                      <a:pt x="3451" y="6902"/>
                    </a:lnTo>
                    <a:lnTo>
                      <a:pt x="3362" y="6900"/>
                    </a:lnTo>
                    <a:lnTo>
                      <a:pt x="3274" y="6897"/>
                    </a:lnTo>
                    <a:lnTo>
                      <a:pt x="3185" y="6892"/>
                    </a:lnTo>
                    <a:lnTo>
                      <a:pt x="3098" y="6884"/>
                    </a:lnTo>
                    <a:lnTo>
                      <a:pt x="3011" y="6874"/>
                    </a:lnTo>
                    <a:lnTo>
                      <a:pt x="2926" y="6861"/>
                    </a:lnTo>
                    <a:lnTo>
                      <a:pt x="2841" y="6847"/>
                    </a:lnTo>
                    <a:lnTo>
                      <a:pt x="2755" y="6831"/>
                    </a:lnTo>
                    <a:lnTo>
                      <a:pt x="2672" y="6813"/>
                    </a:lnTo>
                    <a:lnTo>
                      <a:pt x="2588" y="6792"/>
                    </a:lnTo>
                    <a:lnTo>
                      <a:pt x="2506" y="6769"/>
                    </a:lnTo>
                    <a:lnTo>
                      <a:pt x="2425" y="6745"/>
                    </a:lnTo>
                    <a:lnTo>
                      <a:pt x="2345" y="6720"/>
                    </a:lnTo>
                    <a:lnTo>
                      <a:pt x="2264" y="6692"/>
                    </a:lnTo>
                    <a:lnTo>
                      <a:pt x="2185" y="6662"/>
                    </a:lnTo>
                    <a:lnTo>
                      <a:pt x="2108" y="6629"/>
                    </a:lnTo>
                    <a:lnTo>
                      <a:pt x="2031" y="6596"/>
                    </a:lnTo>
                    <a:lnTo>
                      <a:pt x="1955" y="6560"/>
                    </a:lnTo>
                    <a:lnTo>
                      <a:pt x="1881" y="6523"/>
                    </a:lnTo>
                    <a:lnTo>
                      <a:pt x="1807" y="6484"/>
                    </a:lnTo>
                    <a:lnTo>
                      <a:pt x="1733" y="6444"/>
                    </a:lnTo>
                    <a:lnTo>
                      <a:pt x="1662" y="6402"/>
                    </a:lnTo>
                    <a:lnTo>
                      <a:pt x="1591" y="6357"/>
                    </a:lnTo>
                    <a:lnTo>
                      <a:pt x="1522" y="6312"/>
                    </a:lnTo>
                    <a:lnTo>
                      <a:pt x="1454" y="6264"/>
                    </a:lnTo>
                    <a:lnTo>
                      <a:pt x="1387" y="6216"/>
                    </a:lnTo>
                    <a:lnTo>
                      <a:pt x="1321" y="6166"/>
                    </a:lnTo>
                    <a:lnTo>
                      <a:pt x="1256" y="6113"/>
                    </a:lnTo>
                    <a:lnTo>
                      <a:pt x="1194" y="6059"/>
                    </a:lnTo>
                    <a:lnTo>
                      <a:pt x="1131" y="6005"/>
                    </a:lnTo>
                    <a:lnTo>
                      <a:pt x="1071" y="5948"/>
                    </a:lnTo>
                    <a:lnTo>
                      <a:pt x="1012" y="5890"/>
                    </a:lnTo>
                    <a:lnTo>
                      <a:pt x="954" y="5831"/>
                    </a:lnTo>
                    <a:lnTo>
                      <a:pt x="897" y="5771"/>
                    </a:lnTo>
                    <a:lnTo>
                      <a:pt x="843" y="5708"/>
                    </a:lnTo>
                    <a:lnTo>
                      <a:pt x="789" y="5646"/>
                    </a:lnTo>
                    <a:lnTo>
                      <a:pt x="736" y="5581"/>
                    </a:lnTo>
                    <a:lnTo>
                      <a:pt x="686" y="5515"/>
                    </a:lnTo>
                    <a:lnTo>
                      <a:pt x="638" y="5448"/>
                    </a:lnTo>
                    <a:lnTo>
                      <a:pt x="590" y="5380"/>
                    </a:lnTo>
                    <a:lnTo>
                      <a:pt x="545" y="5311"/>
                    </a:lnTo>
                    <a:lnTo>
                      <a:pt x="500" y="5240"/>
                    </a:lnTo>
                    <a:lnTo>
                      <a:pt x="458" y="5169"/>
                    </a:lnTo>
                    <a:lnTo>
                      <a:pt x="418" y="5095"/>
                    </a:lnTo>
                    <a:lnTo>
                      <a:pt x="379" y="5021"/>
                    </a:lnTo>
                    <a:lnTo>
                      <a:pt x="342" y="4947"/>
                    </a:lnTo>
                    <a:lnTo>
                      <a:pt x="306" y="4871"/>
                    </a:lnTo>
                    <a:lnTo>
                      <a:pt x="273" y="4794"/>
                    </a:lnTo>
                    <a:lnTo>
                      <a:pt x="240" y="4717"/>
                    </a:lnTo>
                    <a:lnTo>
                      <a:pt x="210" y="4638"/>
                    </a:lnTo>
                    <a:lnTo>
                      <a:pt x="182" y="4557"/>
                    </a:lnTo>
                    <a:lnTo>
                      <a:pt x="157" y="4477"/>
                    </a:lnTo>
                    <a:lnTo>
                      <a:pt x="133" y="4396"/>
                    </a:lnTo>
                    <a:lnTo>
                      <a:pt x="110" y="4314"/>
                    </a:lnTo>
                    <a:lnTo>
                      <a:pt x="89" y="4230"/>
                    </a:lnTo>
                    <a:lnTo>
                      <a:pt x="71" y="4147"/>
                    </a:lnTo>
                    <a:lnTo>
                      <a:pt x="55" y="4061"/>
                    </a:lnTo>
                    <a:lnTo>
                      <a:pt x="41" y="3976"/>
                    </a:lnTo>
                    <a:lnTo>
                      <a:pt x="28" y="3891"/>
                    </a:lnTo>
                    <a:lnTo>
                      <a:pt x="18" y="3804"/>
                    </a:lnTo>
                    <a:lnTo>
                      <a:pt x="10" y="3717"/>
                    </a:lnTo>
                    <a:lnTo>
                      <a:pt x="5" y="3628"/>
                    </a:lnTo>
                    <a:lnTo>
                      <a:pt x="2" y="3540"/>
                    </a:lnTo>
                    <a:lnTo>
                      <a:pt x="0" y="3451"/>
                    </a:lnTo>
                    <a:lnTo>
                      <a:pt x="0" y="3451"/>
                    </a:lnTo>
                    <a:lnTo>
                      <a:pt x="2" y="3362"/>
                    </a:lnTo>
                    <a:lnTo>
                      <a:pt x="5" y="3274"/>
                    </a:lnTo>
                    <a:lnTo>
                      <a:pt x="10" y="3185"/>
                    </a:lnTo>
                    <a:lnTo>
                      <a:pt x="18" y="3098"/>
                    </a:lnTo>
                    <a:lnTo>
                      <a:pt x="28" y="3011"/>
                    </a:lnTo>
                    <a:lnTo>
                      <a:pt x="41" y="2926"/>
                    </a:lnTo>
                    <a:lnTo>
                      <a:pt x="55" y="2841"/>
                    </a:lnTo>
                    <a:lnTo>
                      <a:pt x="71" y="2755"/>
                    </a:lnTo>
                    <a:lnTo>
                      <a:pt x="89" y="2672"/>
                    </a:lnTo>
                    <a:lnTo>
                      <a:pt x="110" y="2588"/>
                    </a:lnTo>
                    <a:lnTo>
                      <a:pt x="133" y="2506"/>
                    </a:lnTo>
                    <a:lnTo>
                      <a:pt x="157" y="2425"/>
                    </a:lnTo>
                    <a:lnTo>
                      <a:pt x="182" y="2345"/>
                    </a:lnTo>
                    <a:lnTo>
                      <a:pt x="210" y="2264"/>
                    </a:lnTo>
                    <a:lnTo>
                      <a:pt x="240" y="2185"/>
                    </a:lnTo>
                    <a:lnTo>
                      <a:pt x="273" y="2108"/>
                    </a:lnTo>
                    <a:lnTo>
                      <a:pt x="306" y="2031"/>
                    </a:lnTo>
                    <a:lnTo>
                      <a:pt x="342" y="1955"/>
                    </a:lnTo>
                    <a:lnTo>
                      <a:pt x="379" y="1881"/>
                    </a:lnTo>
                    <a:lnTo>
                      <a:pt x="418" y="1807"/>
                    </a:lnTo>
                    <a:lnTo>
                      <a:pt x="458" y="1733"/>
                    </a:lnTo>
                    <a:lnTo>
                      <a:pt x="500" y="1662"/>
                    </a:lnTo>
                    <a:lnTo>
                      <a:pt x="545" y="1591"/>
                    </a:lnTo>
                    <a:lnTo>
                      <a:pt x="590" y="1522"/>
                    </a:lnTo>
                    <a:lnTo>
                      <a:pt x="638" y="1454"/>
                    </a:lnTo>
                    <a:lnTo>
                      <a:pt x="686" y="1387"/>
                    </a:lnTo>
                    <a:lnTo>
                      <a:pt x="736" y="1321"/>
                    </a:lnTo>
                    <a:lnTo>
                      <a:pt x="789" y="1256"/>
                    </a:lnTo>
                    <a:lnTo>
                      <a:pt x="843" y="1194"/>
                    </a:lnTo>
                    <a:lnTo>
                      <a:pt x="897" y="1131"/>
                    </a:lnTo>
                    <a:lnTo>
                      <a:pt x="954" y="1071"/>
                    </a:lnTo>
                    <a:lnTo>
                      <a:pt x="1012" y="1012"/>
                    </a:lnTo>
                    <a:lnTo>
                      <a:pt x="1071" y="954"/>
                    </a:lnTo>
                    <a:lnTo>
                      <a:pt x="1131" y="897"/>
                    </a:lnTo>
                    <a:lnTo>
                      <a:pt x="1194" y="843"/>
                    </a:lnTo>
                    <a:lnTo>
                      <a:pt x="1256" y="789"/>
                    </a:lnTo>
                    <a:lnTo>
                      <a:pt x="1321" y="736"/>
                    </a:lnTo>
                    <a:lnTo>
                      <a:pt x="1387" y="686"/>
                    </a:lnTo>
                    <a:lnTo>
                      <a:pt x="1454" y="638"/>
                    </a:lnTo>
                    <a:lnTo>
                      <a:pt x="1522" y="590"/>
                    </a:lnTo>
                    <a:lnTo>
                      <a:pt x="1591" y="545"/>
                    </a:lnTo>
                    <a:lnTo>
                      <a:pt x="1662" y="500"/>
                    </a:lnTo>
                    <a:lnTo>
                      <a:pt x="1733" y="458"/>
                    </a:lnTo>
                    <a:lnTo>
                      <a:pt x="1807" y="418"/>
                    </a:lnTo>
                    <a:lnTo>
                      <a:pt x="1881" y="379"/>
                    </a:lnTo>
                    <a:lnTo>
                      <a:pt x="1955" y="342"/>
                    </a:lnTo>
                    <a:lnTo>
                      <a:pt x="2031" y="306"/>
                    </a:lnTo>
                    <a:lnTo>
                      <a:pt x="2108" y="273"/>
                    </a:lnTo>
                    <a:lnTo>
                      <a:pt x="2185" y="240"/>
                    </a:lnTo>
                    <a:lnTo>
                      <a:pt x="2264" y="210"/>
                    </a:lnTo>
                    <a:lnTo>
                      <a:pt x="2345" y="182"/>
                    </a:lnTo>
                    <a:lnTo>
                      <a:pt x="2425" y="157"/>
                    </a:lnTo>
                    <a:lnTo>
                      <a:pt x="2506" y="133"/>
                    </a:lnTo>
                    <a:lnTo>
                      <a:pt x="2588" y="110"/>
                    </a:lnTo>
                    <a:lnTo>
                      <a:pt x="2672" y="89"/>
                    </a:lnTo>
                    <a:lnTo>
                      <a:pt x="2755" y="71"/>
                    </a:lnTo>
                    <a:lnTo>
                      <a:pt x="2841" y="55"/>
                    </a:lnTo>
                    <a:lnTo>
                      <a:pt x="2926" y="41"/>
                    </a:lnTo>
                    <a:lnTo>
                      <a:pt x="3011" y="28"/>
                    </a:lnTo>
                    <a:lnTo>
                      <a:pt x="3098" y="18"/>
                    </a:lnTo>
                    <a:lnTo>
                      <a:pt x="3185" y="10"/>
                    </a:lnTo>
                    <a:lnTo>
                      <a:pt x="3274" y="5"/>
                    </a:lnTo>
                    <a:lnTo>
                      <a:pt x="3362" y="2"/>
                    </a:lnTo>
                    <a:lnTo>
                      <a:pt x="3451" y="0"/>
                    </a:lnTo>
                    <a:lnTo>
                      <a:pt x="3451" y="0"/>
                    </a:lnTo>
                    <a:lnTo>
                      <a:pt x="3540" y="2"/>
                    </a:lnTo>
                    <a:lnTo>
                      <a:pt x="3628" y="5"/>
                    </a:lnTo>
                    <a:lnTo>
                      <a:pt x="3717" y="10"/>
                    </a:lnTo>
                    <a:lnTo>
                      <a:pt x="3804" y="18"/>
                    </a:lnTo>
                    <a:lnTo>
                      <a:pt x="3891" y="28"/>
                    </a:lnTo>
                    <a:lnTo>
                      <a:pt x="3976" y="41"/>
                    </a:lnTo>
                    <a:lnTo>
                      <a:pt x="4061" y="55"/>
                    </a:lnTo>
                    <a:lnTo>
                      <a:pt x="4147" y="71"/>
                    </a:lnTo>
                    <a:lnTo>
                      <a:pt x="4230" y="89"/>
                    </a:lnTo>
                    <a:lnTo>
                      <a:pt x="4314" y="110"/>
                    </a:lnTo>
                    <a:lnTo>
                      <a:pt x="4396" y="133"/>
                    </a:lnTo>
                    <a:lnTo>
                      <a:pt x="4477" y="157"/>
                    </a:lnTo>
                    <a:lnTo>
                      <a:pt x="4557" y="182"/>
                    </a:lnTo>
                    <a:lnTo>
                      <a:pt x="4638" y="210"/>
                    </a:lnTo>
                    <a:lnTo>
                      <a:pt x="4717" y="240"/>
                    </a:lnTo>
                    <a:lnTo>
                      <a:pt x="4794" y="273"/>
                    </a:lnTo>
                    <a:lnTo>
                      <a:pt x="4871" y="306"/>
                    </a:lnTo>
                    <a:lnTo>
                      <a:pt x="4947" y="342"/>
                    </a:lnTo>
                    <a:lnTo>
                      <a:pt x="5021" y="379"/>
                    </a:lnTo>
                    <a:lnTo>
                      <a:pt x="5095" y="418"/>
                    </a:lnTo>
                    <a:lnTo>
                      <a:pt x="5169" y="458"/>
                    </a:lnTo>
                    <a:lnTo>
                      <a:pt x="5240" y="500"/>
                    </a:lnTo>
                    <a:lnTo>
                      <a:pt x="5311" y="545"/>
                    </a:lnTo>
                    <a:lnTo>
                      <a:pt x="5380" y="590"/>
                    </a:lnTo>
                    <a:lnTo>
                      <a:pt x="5448" y="638"/>
                    </a:lnTo>
                    <a:lnTo>
                      <a:pt x="5515" y="686"/>
                    </a:lnTo>
                    <a:lnTo>
                      <a:pt x="5581" y="736"/>
                    </a:lnTo>
                    <a:lnTo>
                      <a:pt x="5646" y="789"/>
                    </a:lnTo>
                    <a:lnTo>
                      <a:pt x="5708" y="843"/>
                    </a:lnTo>
                    <a:lnTo>
                      <a:pt x="5771" y="897"/>
                    </a:lnTo>
                    <a:lnTo>
                      <a:pt x="5831" y="954"/>
                    </a:lnTo>
                    <a:lnTo>
                      <a:pt x="5890" y="1012"/>
                    </a:lnTo>
                    <a:lnTo>
                      <a:pt x="5948" y="1071"/>
                    </a:lnTo>
                    <a:lnTo>
                      <a:pt x="6005" y="1131"/>
                    </a:lnTo>
                    <a:lnTo>
                      <a:pt x="6059" y="1194"/>
                    </a:lnTo>
                    <a:lnTo>
                      <a:pt x="6113" y="1256"/>
                    </a:lnTo>
                    <a:lnTo>
                      <a:pt x="6166" y="1321"/>
                    </a:lnTo>
                    <a:lnTo>
                      <a:pt x="6216" y="1387"/>
                    </a:lnTo>
                    <a:lnTo>
                      <a:pt x="6264" y="1454"/>
                    </a:lnTo>
                    <a:lnTo>
                      <a:pt x="6312" y="1522"/>
                    </a:lnTo>
                    <a:lnTo>
                      <a:pt x="6357" y="1591"/>
                    </a:lnTo>
                    <a:lnTo>
                      <a:pt x="6402" y="1662"/>
                    </a:lnTo>
                    <a:lnTo>
                      <a:pt x="6444" y="1733"/>
                    </a:lnTo>
                    <a:lnTo>
                      <a:pt x="6484" y="1807"/>
                    </a:lnTo>
                    <a:lnTo>
                      <a:pt x="6523" y="1881"/>
                    </a:lnTo>
                    <a:lnTo>
                      <a:pt x="6560" y="1955"/>
                    </a:lnTo>
                    <a:lnTo>
                      <a:pt x="6596" y="2031"/>
                    </a:lnTo>
                    <a:lnTo>
                      <a:pt x="6629" y="2108"/>
                    </a:lnTo>
                    <a:lnTo>
                      <a:pt x="6662" y="2185"/>
                    </a:lnTo>
                    <a:lnTo>
                      <a:pt x="6692" y="2264"/>
                    </a:lnTo>
                    <a:lnTo>
                      <a:pt x="6720" y="2345"/>
                    </a:lnTo>
                    <a:lnTo>
                      <a:pt x="6745" y="2425"/>
                    </a:lnTo>
                    <a:lnTo>
                      <a:pt x="6769" y="2506"/>
                    </a:lnTo>
                    <a:lnTo>
                      <a:pt x="6792" y="2588"/>
                    </a:lnTo>
                    <a:lnTo>
                      <a:pt x="6813" y="2672"/>
                    </a:lnTo>
                    <a:lnTo>
                      <a:pt x="6831" y="2755"/>
                    </a:lnTo>
                    <a:lnTo>
                      <a:pt x="6847" y="2841"/>
                    </a:lnTo>
                    <a:lnTo>
                      <a:pt x="6861" y="2926"/>
                    </a:lnTo>
                    <a:lnTo>
                      <a:pt x="6874" y="3011"/>
                    </a:lnTo>
                    <a:lnTo>
                      <a:pt x="6884" y="3098"/>
                    </a:lnTo>
                    <a:lnTo>
                      <a:pt x="6892" y="3185"/>
                    </a:lnTo>
                    <a:lnTo>
                      <a:pt x="6897" y="3274"/>
                    </a:lnTo>
                    <a:lnTo>
                      <a:pt x="6900" y="3362"/>
                    </a:lnTo>
                    <a:lnTo>
                      <a:pt x="6902" y="3451"/>
                    </a:lnTo>
                    <a:lnTo>
                      <a:pt x="6902" y="3451"/>
                    </a:lnTo>
                    <a:close/>
                  </a:path>
                </a:pathLst>
              </a:custGeom>
              <a:noFill/>
              <a:ln w="6350" cmpd="sng">
                <a:solidFill>
                  <a:schemeClr val="tx1"/>
                </a:solidFill>
                <a:prstDash val="sysDot"/>
                <a:round/>
                <a:headEnd/>
                <a:tailEnd/>
              </a:ln>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23" name="Freeform 52"/>
              <p:cNvSpPr>
                <a:spLocks/>
              </p:cNvSpPr>
              <p:nvPr/>
            </p:nvSpPr>
            <p:spPr bwMode="auto">
              <a:xfrm>
                <a:off x="2391022" y="1260722"/>
                <a:ext cx="4361956" cy="4361956"/>
              </a:xfrm>
              <a:custGeom>
                <a:avLst/>
                <a:gdLst>
                  <a:gd name="T0" fmla="*/ 7759 w 7770"/>
                  <a:gd name="T1" fmla="*/ 4184 h 7770"/>
                  <a:gd name="T2" fmla="*/ 7691 w 7770"/>
                  <a:gd name="T3" fmla="*/ 4668 h 7770"/>
                  <a:gd name="T4" fmla="*/ 7567 w 7770"/>
                  <a:gd name="T5" fmla="*/ 5131 h 7770"/>
                  <a:gd name="T6" fmla="*/ 7387 w 7770"/>
                  <a:gd name="T7" fmla="*/ 5569 h 7770"/>
                  <a:gd name="T8" fmla="*/ 7158 w 7770"/>
                  <a:gd name="T9" fmla="*/ 5980 h 7770"/>
                  <a:gd name="T10" fmla="*/ 6883 w 7770"/>
                  <a:gd name="T11" fmla="*/ 6357 h 7770"/>
                  <a:gd name="T12" fmla="*/ 6566 w 7770"/>
                  <a:gd name="T13" fmla="*/ 6698 h 7770"/>
                  <a:gd name="T14" fmla="*/ 6210 w 7770"/>
                  <a:gd name="T15" fmla="*/ 6999 h 7770"/>
                  <a:gd name="T16" fmla="*/ 5819 w 7770"/>
                  <a:gd name="T17" fmla="*/ 7257 h 7770"/>
                  <a:gd name="T18" fmla="*/ 5397 w 7770"/>
                  <a:gd name="T19" fmla="*/ 7466 h 7770"/>
                  <a:gd name="T20" fmla="*/ 4949 w 7770"/>
                  <a:gd name="T21" fmla="*/ 7624 h 7770"/>
                  <a:gd name="T22" fmla="*/ 4478 w 7770"/>
                  <a:gd name="T23" fmla="*/ 7727 h 7770"/>
                  <a:gd name="T24" fmla="*/ 3985 w 7770"/>
                  <a:gd name="T25" fmla="*/ 7770 h 7770"/>
                  <a:gd name="T26" fmla="*/ 3586 w 7770"/>
                  <a:gd name="T27" fmla="*/ 7759 h 7770"/>
                  <a:gd name="T28" fmla="*/ 3102 w 7770"/>
                  <a:gd name="T29" fmla="*/ 7691 h 7770"/>
                  <a:gd name="T30" fmla="*/ 2639 w 7770"/>
                  <a:gd name="T31" fmla="*/ 7567 h 7770"/>
                  <a:gd name="T32" fmla="*/ 2201 w 7770"/>
                  <a:gd name="T33" fmla="*/ 7387 h 7770"/>
                  <a:gd name="T34" fmla="*/ 1790 w 7770"/>
                  <a:gd name="T35" fmla="*/ 7158 h 7770"/>
                  <a:gd name="T36" fmla="*/ 1413 w 7770"/>
                  <a:gd name="T37" fmla="*/ 6883 h 7770"/>
                  <a:gd name="T38" fmla="*/ 1072 w 7770"/>
                  <a:gd name="T39" fmla="*/ 6566 h 7770"/>
                  <a:gd name="T40" fmla="*/ 771 w 7770"/>
                  <a:gd name="T41" fmla="*/ 6210 h 7770"/>
                  <a:gd name="T42" fmla="*/ 513 w 7770"/>
                  <a:gd name="T43" fmla="*/ 5819 h 7770"/>
                  <a:gd name="T44" fmla="*/ 304 w 7770"/>
                  <a:gd name="T45" fmla="*/ 5397 h 7770"/>
                  <a:gd name="T46" fmla="*/ 146 w 7770"/>
                  <a:gd name="T47" fmla="*/ 4949 h 7770"/>
                  <a:gd name="T48" fmla="*/ 43 w 7770"/>
                  <a:gd name="T49" fmla="*/ 4478 h 7770"/>
                  <a:gd name="T50" fmla="*/ 0 w 7770"/>
                  <a:gd name="T51" fmla="*/ 3985 h 7770"/>
                  <a:gd name="T52" fmla="*/ 11 w 7770"/>
                  <a:gd name="T53" fmla="*/ 3586 h 7770"/>
                  <a:gd name="T54" fmla="*/ 79 w 7770"/>
                  <a:gd name="T55" fmla="*/ 3102 h 7770"/>
                  <a:gd name="T56" fmla="*/ 203 w 7770"/>
                  <a:gd name="T57" fmla="*/ 2639 h 7770"/>
                  <a:gd name="T58" fmla="*/ 383 w 7770"/>
                  <a:gd name="T59" fmla="*/ 2201 h 7770"/>
                  <a:gd name="T60" fmla="*/ 612 w 7770"/>
                  <a:gd name="T61" fmla="*/ 1790 h 7770"/>
                  <a:gd name="T62" fmla="*/ 887 w 7770"/>
                  <a:gd name="T63" fmla="*/ 1413 h 7770"/>
                  <a:gd name="T64" fmla="*/ 1204 w 7770"/>
                  <a:gd name="T65" fmla="*/ 1072 h 7770"/>
                  <a:gd name="T66" fmla="*/ 1560 w 7770"/>
                  <a:gd name="T67" fmla="*/ 771 h 7770"/>
                  <a:gd name="T68" fmla="*/ 1951 w 7770"/>
                  <a:gd name="T69" fmla="*/ 513 h 7770"/>
                  <a:gd name="T70" fmla="*/ 2373 w 7770"/>
                  <a:gd name="T71" fmla="*/ 304 h 7770"/>
                  <a:gd name="T72" fmla="*/ 2821 w 7770"/>
                  <a:gd name="T73" fmla="*/ 146 h 7770"/>
                  <a:gd name="T74" fmla="*/ 3292 w 7770"/>
                  <a:gd name="T75" fmla="*/ 43 h 7770"/>
                  <a:gd name="T76" fmla="*/ 3785 w 7770"/>
                  <a:gd name="T77" fmla="*/ 0 h 7770"/>
                  <a:gd name="T78" fmla="*/ 4184 w 7770"/>
                  <a:gd name="T79" fmla="*/ 11 h 7770"/>
                  <a:gd name="T80" fmla="*/ 4668 w 7770"/>
                  <a:gd name="T81" fmla="*/ 79 h 7770"/>
                  <a:gd name="T82" fmla="*/ 5131 w 7770"/>
                  <a:gd name="T83" fmla="*/ 203 h 7770"/>
                  <a:gd name="T84" fmla="*/ 5569 w 7770"/>
                  <a:gd name="T85" fmla="*/ 383 h 7770"/>
                  <a:gd name="T86" fmla="*/ 5980 w 7770"/>
                  <a:gd name="T87" fmla="*/ 612 h 7770"/>
                  <a:gd name="T88" fmla="*/ 6357 w 7770"/>
                  <a:gd name="T89" fmla="*/ 887 h 7770"/>
                  <a:gd name="T90" fmla="*/ 6698 w 7770"/>
                  <a:gd name="T91" fmla="*/ 1204 h 7770"/>
                  <a:gd name="T92" fmla="*/ 6999 w 7770"/>
                  <a:gd name="T93" fmla="*/ 1560 h 7770"/>
                  <a:gd name="T94" fmla="*/ 7257 w 7770"/>
                  <a:gd name="T95" fmla="*/ 1951 h 7770"/>
                  <a:gd name="T96" fmla="*/ 7466 w 7770"/>
                  <a:gd name="T97" fmla="*/ 2373 h 7770"/>
                  <a:gd name="T98" fmla="*/ 7624 w 7770"/>
                  <a:gd name="T99" fmla="*/ 2821 h 7770"/>
                  <a:gd name="T100" fmla="*/ 7727 w 7770"/>
                  <a:gd name="T101" fmla="*/ 3292 h 7770"/>
                  <a:gd name="T102" fmla="*/ 7770 w 7770"/>
                  <a:gd name="T103" fmla="*/ 3785 h 7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7770" h="7770">
                    <a:moveTo>
                      <a:pt x="7770" y="3885"/>
                    </a:moveTo>
                    <a:lnTo>
                      <a:pt x="7770" y="3885"/>
                    </a:lnTo>
                    <a:lnTo>
                      <a:pt x="7770" y="3985"/>
                    </a:lnTo>
                    <a:lnTo>
                      <a:pt x="7765" y="4085"/>
                    </a:lnTo>
                    <a:lnTo>
                      <a:pt x="7759" y="4184"/>
                    </a:lnTo>
                    <a:lnTo>
                      <a:pt x="7751" y="4283"/>
                    </a:lnTo>
                    <a:lnTo>
                      <a:pt x="7740" y="4379"/>
                    </a:lnTo>
                    <a:lnTo>
                      <a:pt x="7727" y="4478"/>
                    </a:lnTo>
                    <a:lnTo>
                      <a:pt x="7711" y="4573"/>
                    </a:lnTo>
                    <a:lnTo>
                      <a:pt x="7691" y="4668"/>
                    </a:lnTo>
                    <a:lnTo>
                      <a:pt x="7672" y="4763"/>
                    </a:lnTo>
                    <a:lnTo>
                      <a:pt x="7648" y="4856"/>
                    </a:lnTo>
                    <a:lnTo>
                      <a:pt x="7624" y="4949"/>
                    </a:lnTo>
                    <a:lnTo>
                      <a:pt x="7596" y="5041"/>
                    </a:lnTo>
                    <a:lnTo>
                      <a:pt x="7567" y="5131"/>
                    </a:lnTo>
                    <a:lnTo>
                      <a:pt x="7535" y="5221"/>
                    </a:lnTo>
                    <a:lnTo>
                      <a:pt x="7501" y="5310"/>
                    </a:lnTo>
                    <a:lnTo>
                      <a:pt x="7466" y="5397"/>
                    </a:lnTo>
                    <a:lnTo>
                      <a:pt x="7427" y="5484"/>
                    </a:lnTo>
                    <a:lnTo>
                      <a:pt x="7387" y="5569"/>
                    </a:lnTo>
                    <a:lnTo>
                      <a:pt x="7345" y="5655"/>
                    </a:lnTo>
                    <a:lnTo>
                      <a:pt x="7302" y="5737"/>
                    </a:lnTo>
                    <a:lnTo>
                      <a:pt x="7257" y="5819"/>
                    </a:lnTo>
                    <a:lnTo>
                      <a:pt x="7208" y="5899"/>
                    </a:lnTo>
                    <a:lnTo>
                      <a:pt x="7158" y="5980"/>
                    </a:lnTo>
                    <a:lnTo>
                      <a:pt x="7107" y="6057"/>
                    </a:lnTo>
                    <a:lnTo>
                      <a:pt x="7054" y="6134"/>
                    </a:lnTo>
                    <a:lnTo>
                      <a:pt x="6999" y="6210"/>
                    </a:lnTo>
                    <a:lnTo>
                      <a:pt x="6943" y="6284"/>
                    </a:lnTo>
                    <a:lnTo>
                      <a:pt x="6883" y="6357"/>
                    </a:lnTo>
                    <a:lnTo>
                      <a:pt x="6824" y="6427"/>
                    </a:lnTo>
                    <a:lnTo>
                      <a:pt x="6761" y="6498"/>
                    </a:lnTo>
                    <a:lnTo>
                      <a:pt x="6698" y="6566"/>
                    </a:lnTo>
                    <a:lnTo>
                      <a:pt x="6634" y="6634"/>
                    </a:lnTo>
                    <a:lnTo>
                      <a:pt x="6566" y="6698"/>
                    </a:lnTo>
                    <a:lnTo>
                      <a:pt x="6498" y="6761"/>
                    </a:lnTo>
                    <a:lnTo>
                      <a:pt x="6427" y="6824"/>
                    </a:lnTo>
                    <a:lnTo>
                      <a:pt x="6357" y="6883"/>
                    </a:lnTo>
                    <a:lnTo>
                      <a:pt x="6284" y="6943"/>
                    </a:lnTo>
                    <a:lnTo>
                      <a:pt x="6210" y="6999"/>
                    </a:lnTo>
                    <a:lnTo>
                      <a:pt x="6134" y="7054"/>
                    </a:lnTo>
                    <a:lnTo>
                      <a:pt x="6057" y="7107"/>
                    </a:lnTo>
                    <a:lnTo>
                      <a:pt x="5980" y="7158"/>
                    </a:lnTo>
                    <a:lnTo>
                      <a:pt x="5899" y="7208"/>
                    </a:lnTo>
                    <a:lnTo>
                      <a:pt x="5819" y="7257"/>
                    </a:lnTo>
                    <a:lnTo>
                      <a:pt x="5737" y="7302"/>
                    </a:lnTo>
                    <a:lnTo>
                      <a:pt x="5655" y="7345"/>
                    </a:lnTo>
                    <a:lnTo>
                      <a:pt x="5569" y="7387"/>
                    </a:lnTo>
                    <a:lnTo>
                      <a:pt x="5484" y="7427"/>
                    </a:lnTo>
                    <a:lnTo>
                      <a:pt x="5397" y="7466"/>
                    </a:lnTo>
                    <a:lnTo>
                      <a:pt x="5310" y="7501"/>
                    </a:lnTo>
                    <a:lnTo>
                      <a:pt x="5221" y="7535"/>
                    </a:lnTo>
                    <a:lnTo>
                      <a:pt x="5131" y="7567"/>
                    </a:lnTo>
                    <a:lnTo>
                      <a:pt x="5041" y="7596"/>
                    </a:lnTo>
                    <a:lnTo>
                      <a:pt x="4949" y="7624"/>
                    </a:lnTo>
                    <a:lnTo>
                      <a:pt x="4856" y="7648"/>
                    </a:lnTo>
                    <a:lnTo>
                      <a:pt x="4763" y="7672"/>
                    </a:lnTo>
                    <a:lnTo>
                      <a:pt x="4668" y="7691"/>
                    </a:lnTo>
                    <a:lnTo>
                      <a:pt x="4573" y="7711"/>
                    </a:lnTo>
                    <a:lnTo>
                      <a:pt x="4478" y="7727"/>
                    </a:lnTo>
                    <a:lnTo>
                      <a:pt x="4379" y="7740"/>
                    </a:lnTo>
                    <a:lnTo>
                      <a:pt x="4283" y="7751"/>
                    </a:lnTo>
                    <a:lnTo>
                      <a:pt x="4184" y="7759"/>
                    </a:lnTo>
                    <a:lnTo>
                      <a:pt x="4085" y="7765"/>
                    </a:lnTo>
                    <a:lnTo>
                      <a:pt x="3985" y="7770"/>
                    </a:lnTo>
                    <a:lnTo>
                      <a:pt x="3885" y="7770"/>
                    </a:lnTo>
                    <a:lnTo>
                      <a:pt x="3885" y="7770"/>
                    </a:lnTo>
                    <a:lnTo>
                      <a:pt x="3785" y="7770"/>
                    </a:lnTo>
                    <a:lnTo>
                      <a:pt x="3685" y="7765"/>
                    </a:lnTo>
                    <a:lnTo>
                      <a:pt x="3586" y="7759"/>
                    </a:lnTo>
                    <a:lnTo>
                      <a:pt x="3487" y="7751"/>
                    </a:lnTo>
                    <a:lnTo>
                      <a:pt x="3391" y="7740"/>
                    </a:lnTo>
                    <a:lnTo>
                      <a:pt x="3292" y="7727"/>
                    </a:lnTo>
                    <a:lnTo>
                      <a:pt x="3197" y="7711"/>
                    </a:lnTo>
                    <a:lnTo>
                      <a:pt x="3102" y="7691"/>
                    </a:lnTo>
                    <a:lnTo>
                      <a:pt x="3007" y="7672"/>
                    </a:lnTo>
                    <a:lnTo>
                      <a:pt x="2914" y="7648"/>
                    </a:lnTo>
                    <a:lnTo>
                      <a:pt x="2821" y="7624"/>
                    </a:lnTo>
                    <a:lnTo>
                      <a:pt x="2729" y="7596"/>
                    </a:lnTo>
                    <a:lnTo>
                      <a:pt x="2639" y="7567"/>
                    </a:lnTo>
                    <a:lnTo>
                      <a:pt x="2549" y="7535"/>
                    </a:lnTo>
                    <a:lnTo>
                      <a:pt x="2460" y="7501"/>
                    </a:lnTo>
                    <a:lnTo>
                      <a:pt x="2373" y="7466"/>
                    </a:lnTo>
                    <a:lnTo>
                      <a:pt x="2286" y="7427"/>
                    </a:lnTo>
                    <a:lnTo>
                      <a:pt x="2201" y="7387"/>
                    </a:lnTo>
                    <a:lnTo>
                      <a:pt x="2115" y="7345"/>
                    </a:lnTo>
                    <a:lnTo>
                      <a:pt x="2033" y="7302"/>
                    </a:lnTo>
                    <a:lnTo>
                      <a:pt x="1951" y="7257"/>
                    </a:lnTo>
                    <a:lnTo>
                      <a:pt x="1871" y="7208"/>
                    </a:lnTo>
                    <a:lnTo>
                      <a:pt x="1790" y="7158"/>
                    </a:lnTo>
                    <a:lnTo>
                      <a:pt x="1713" y="7107"/>
                    </a:lnTo>
                    <a:lnTo>
                      <a:pt x="1636" y="7054"/>
                    </a:lnTo>
                    <a:lnTo>
                      <a:pt x="1560" y="6999"/>
                    </a:lnTo>
                    <a:lnTo>
                      <a:pt x="1486" y="6943"/>
                    </a:lnTo>
                    <a:lnTo>
                      <a:pt x="1413" y="6883"/>
                    </a:lnTo>
                    <a:lnTo>
                      <a:pt x="1343" y="6824"/>
                    </a:lnTo>
                    <a:lnTo>
                      <a:pt x="1272" y="6761"/>
                    </a:lnTo>
                    <a:lnTo>
                      <a:pt x="1204" y="6698"/>
                    </a:lnTo>
                    <a:lnTo>
                      <a:pt x="1136" y="6634"/>
                    </a:lnTo>
                    <a:lnTo>
                      <a:pt x="1072" y="6566"/>
                    </a:lnTo>
                    <a:lnTo>
                      <a:pt x="1009" y="6498"/>
                    </a:lnTo>
                    <a:lnTo>
                      <a:pt x="946" y="6427"/>
                    </a:lnTo>
                    <a:lnTo>
                      <a:pt x="887" y="6357"/>
                    </a:lnTo>
                    <a:lnTo>
                      <a:pt x="827" y="6284"/>
                    </a:lnTo>
                    <a:lnTo>
                      <a:pt x="771" y="6210"/>
                    </a:lnTo>
                    <a:lnTo>
                      <a:pt x="716" y="6134"/>
                    </a:lnTo>
                    <a:lnTo>
                      <a:pt x="663" y="6057"/>
                    </a:lnTo>
                    <a:lnTo>
                      <a:pt x="612" y="5980"/>
                    </a:lnTo>
                    <a:lnTo>
                      <a:pt x="562" y="5899"/>
                    </a:lnTo>
                    <a:lnTo>
                      <a:pt x="513" y="5819"/>
                    </a:lnTo>
                    <a:lnTo>
                      <a:pt x="468" y="5737"/>
                    </a:lnTo>
                    <a:lnTo>
                      <a:pt x="425" y="5655"/>
                    </a:lnTo>
                    <a:lnTo>
                      <a:pt x="383" y="5569"/>
                    </a:lnTo>
                    <a:lnTo>
                      <a:pt x="343" y="5484"/>
                    </a:lnTo>
                    <a:lnTo>
                      <a:pt x="304" y="5397"/>
                    </a:lnTo>
                    <a:lnTo>
                      <a:pt x="269" y="5310"/>
                    </a:lnTo>
                    <a:lnTo>
                      <a:pt x="235" y="5221"/>
                    </a:lnTo>
                    <a:lnTo>
                      <a:pt x="203" y="5131"/>
                    </a:lnTo>
                    <a:lnTo>
                      <a:pt x="174" y="5041"/>
                    </a:lnTo>
                    <a:lnTo>
                      <a:pt x="146" y="4949"/>
                    </a:lnTo>
                    <a:lnTo>
                      <a:pt x="122" y="4856"/>
                    </a:lnTo>
                    <a:lnTo>
                      <a:pt x="98" y="4763"/>
                    </a:lnTo>
                    <a:lnTo>
                      <a:pt x="79" y="4668"/>
                    </a:lnTo>
                    <a:lnTo>
                      <a:pt x="59" y="4573"/>
                    </a:lnTo>
                    <a:lnTo>
                      <a:pt x="43" y="4478"/>
                    </a:lnTo>
                    <a:lnTo>
                      <a:pt x="30" y="4379"/>
                    </a:lnTo>
                    <a:lnTo>
                      <a:pt x="19" y="4283"/>
                    </a:lnTo>
                    <a:lnTo>
                      <a:pt x="11" y="4184"/>
                    </a:lnTo>
                    <a:lnTo>
                      <a:pt x="5" y="4085"/>
                    </a:lnTo>
                    <a:lnTo>
                      <a:pt x="0" y="3985"/>
                    </a:lnTo>
                    <a:lnTo>
                      <a:pt x="0" y="3885"/>
                    </a:lnTo>
                    <a:lnTo>
                      <a:pt x="0" y="3885"/>
                    </a:lnTo>
                    <a:lnTo>
                      <a:pt x="0" y="3785"/>
                    </a:lnTo>
                    <a:lnTo>
                      <a:pt x="5" y="3685"/>
                    </a:lnTo>
                    <a:lnTo>
                      <a:pt x="11" y="3586"/>
                    </a:lnTo>
                    <a:lnTo>
                      <a:pt x="19" y="3487"/>
                    </a:lnTo>
                    <a:lnTo>
                      <a:pt x="30" y="3391"/>
                    </a:lnTo>
                    <a:lnTo>
                      <a:pt x="43" y="3292"/>
                    </a:lnTo>
                    <a:lnTo>
                      <a:pt x="59" y="3197"/>
                    </a:lnTo>
                    <a:lnTo>
                      <a:pt x="79" y="3102"/>
                    </a:lnTo>
                    <a:lnTo>
                      <a:pt x="98" y="3007"/>
                    </a:lnTo>
                    <a:lnTo>
                      <a:pt x="122" y="2914"/>
                    </a:lnTo>
                    <a:lnTo>
                      <a:pt x="146" y="2821"/>
                    </a:lnTo>
                    <a:lnTo>
                      <a:pt x="174" y="2729"/>
                    </a:lnTo>
                    <a:lnTo>
                      <a:pt x="203" y="2639"/>
                    </a:lnTo>
                    <a:lnTo>
                      <a:pt x="235" y="2549"/>
                    </a:lnTo>
                    <a:lnTo>
                      <a:pt x="269" y="2460"/>
                    </a:lnTo>
                    <a:lnTo>
                      <a:pt x="304" y="2373"/>
                    </a:lnTo>
                    <a:lnTo>
                      <a:pt x="343" y="2286"/>
                    </a:lnTo>
                    <a:lnTo>
                      <a:pt x="383" y="2201"/>
                    </a:lnTo>
                    <a:lnTo>
                      <a:pt x="425" y="2115"/>
                    </a:lnTo>
                    <a:lnTo>
                      <a:pt x="468" y="2033"/>
                    </a:lnTo>
                    <a:lnTo>
                      <a:pt x="513" y="1951"/>
                    </a:lnTo>
                    <a:lnTo>
                      <a:pt x="562" y="1871"/>
                    </a:lnTo>
                    <a:lnTo>
                      <a:pt x="612" y="1790"/>
                    </a:lnTo>
                    <a:lnTo>
                      <a:pt x="663" y="1713"/>
                    </a:lnTo>
                    <a:lnTo>
                      <a:pt x="716" y="1636"/>
                    </a:lnTo>
                    <a:lnTo>
                      <a:pt x="771" y="1560"/>
                    </a:lnTo>
                    <a:lnTo>
                      <a:pt x="827" y="1486"/>
                    </a:lnTo>
                    <a:lnTo>
                      <a:pt x="887" y="1413"/>
                    </a:lnTo>
                    <a:lnTo>
                      <a:pt x="946" y="1343"/>
                    </a:lnTo>
                    <a:lnTo>
                      <a:pt x="1009" y="1272"/>
                    </a:lnTo>
                    <a:lnTo>
                      <a:pt x="1072" y="1204"/>
                    </a:lnTo>
                    <a:lnTo>
                      <a:pt x="1136" y="1136"/>
                    </a:lnTo>
                    <a:lnTo>
                      <a:pt x="1204" y="1072"/>
                    </a:lnTo>
                    <a:lnTo>
                      <a:pt x="1272" y="1009"/>
                    </a:lnTo>
                    <a:lnTo>
                      <a:pt x="1343" y="946"/>
                    </a:lnTo>
                    <a:lnTo>
                      <a:pt x="1413" y="887"/>
                    </a:lnTo>
                    <a:lnTo>
                      <a:pt x="1486" y="827"/>
                    </a:lnTo>
                    <a:lnTo>
                      <a:pt x="1560" y="771"/>
                    </a:lnTo>
                    <a:lnTo>
                      <a:pt x="1636" y="716"/>
                    </a:lnTo>
                    <a:lnTo>
                      <a:pt x="1713" y="663"/>
                    </a:lnTo>
                    <a:lnTo>
                      <a:pt x="1790" y="612"/>
                    </a:lnTo>
                    <a:lnTo>
                      <a:pt x="1871" y="562"/>
                    </a:lnTo>
                    <a:lnTo>
                      <a:pt x="1951" y="513"/>
                    </a:lnTo>
                    <a:lnTo>
                      <a:pt x="2033" y="468"/>
                    </a:lnTo>
                    <a:lnTo>
                      <a:pt x="2115" y="425"/>
                    </a:lnTo>
                    <a:lnTo>
                      <a:pt x="2201" y="383"/>
                    </a:lnTo>
                    <a:lnTo>
                      <a:pt x="2286" y="343"/>
                    </a:lnTo>
                    <a:lnTo>
                      <a:pt x="2373" y="304"/>
                    </a:lnTo>
                    <a:lnTo>
                      <a:pt x="2460" y="269"/>
                    </a:lnTo>
                    <a:lnTo>
                      <a:pt x="2549" y="235"/>
                    </a:lnTo>
                    <a:lnTo>
                      <a:pt x="2639" y="203"/>
                    </a:lnTo>
                    <a:lnTo>
                      <a:pt x="2729" y="174"/>
                    </a:lnTo>
                    <a:lnTo>
                      <a:pt x="2821" y="146"/>
                    </a:lnTo>
                    <a:lnTo>
                      <a:pt x="2914" y="122"/>
                    </a:lnTo>
                    <a:lnTo>
                      <a:pt x="3007" y="98"/>
                    </a:lnTo>
                    <a:lnTo>
                      <a:pt x="3102" y="79"/>
                    </a:lnTo>
                    <a:lnTo>
                      <a:pt x="3197" y="59"/>
                    </a:lnTo>
                    <a:lnTo>
                      <a:pt x="3292" y="43"/>
                    </a:lnTo>
                    <a:lnTo>
                      <a:pt x="3391" y="30"/>
                    </a:lnTo>
                    <a:lnTo>
                      <a:pt x="3487" y="19"/>
                    </a:lnTo>
                    <a:lnTo>
                      <a:pt x="3586" y="11"/>
                    </a:lnTo>
                    <a:lnTo>
                      <a:pt x="3685" y="5"/>
                    </a:lnTo>
                    <a:lnTo>
                      <a:pt x="3785" y="0"/>
                    </a:lnTo>
                    <a:lnTo>
                      <a:pt x="3885" y="0"/>
                    </a:lnTo>
                    <a:lnTo>
                      <a:pt x="3885" y="0"/>
                    </a:lnTo>
                    <a:lnTo>
                      <a:pt x="3985" y="0"/>
                    </a:lnTo>
                    <a:lnTo>
                      <a:pt x="4085" y="5"/>
                    </a:lnTo>
                    <a:lnTo>
                      <a:pt x="4184" y="11"/>
                    </a:lnTo>
                    <a:lnTo>
                      <a:pt x="4283" y="19"/>
                    </a:lnTo>
                    <a:lnTo>
                      <a:pt x="4379" y="30"/>
                    </a:lnTo>
                    <a:lnTo>
                      <a:pt x="4478" y="43"/>
                    </a:lnTo>
                    <a:lnTo>
                      <a:pt x="4573" y="59"/>
                    </a:lnTo>
                    <a:lnTo>
                      <a:pt x="4668" y="79"/>
                    </a:lnTo>
                    <a:lnTo>
                      <a:pt x="4763" y="98"/>
                    </a:lnTo>
                    <a:lnTo>
                      <a:pt x="4856" y="122"/>
                    </a:lnTo>
                    <a:lnTo>
                      <a:pt x="4949" y="146"/>
                    </a:lnTo>
                    <a:lnTo>
                      <a:pt x="5041" y="174"/>
                    </a:lnTo>
                    <a:lnTo>
                      <a:pt x="5131" y="203"/>
                    </a:lnTo>
                    <a:lnTo>
                      <a:pt x="5221" y="235"/>
                    </a:lnTo>
                    <a:lnTo>
                      <a:pt x="5310" y="269"/>
                    </a:lnTo>
                    <a:lnTo>
                      <a:pt x="5397" y="304"/>
                    </a:lnTo>
                    <a:lnTo>
                      <a:pt x="5484" y="343"/>
                    </a:lnTo>
                    <a:lnTo>
                      <a:pt x="5569" y="383"/>
                    </a:lnTo>
                    <a:lnTo>
                      <a:pt x="5655" y="425"/>
                    </a:lnTo>
                    <a:lnTo>
                      <a:pt x="5737" y="468"/>
                    </a:lnTo>
                    <a:lnTo>
                      <a:pt x="5819" y="513"/>
                    </a:lnTo>
                    <a:lnTo>
                      <a:pt x="5899" y="562"/>
                    </a:lnTo>
                    <a:lnTo>
                      <a:pt x="5980" y="612"/>
                    </a:lnTo>
                    <a:lnTo>
                      <a:pt x="6057" y="663"/>
                    </a:lnTo>
                    <a:lnTo>
                      <a:pt x="6134" y="716"/>
                    </a:lnTo>
                    <a:lnTo>
                      <a:pt x="6210" y="771"/>
                    </a:lnTo>
                    <a:lnTo>
                      <a:pt x="6284" y="827"/>
                    </a:lnTo>
                    <a:lnTo>
                      <a:pt x="6357" y="887"/>
                    </a:lnTo>
                    <a:lnTo>
                      <a:pt x="6427" y="946"/>
                    </a:lnTo>
                    <a:lnTo>
                      <a:pt x="6498" y="1009"/>
                    </a:lnTo>
                    <a:lnTo>
                      <a:pt x="6566" y="1072"/>
                    </a:lnTo>
                    <a:lnTo>
                      <a:pt x="6634" y="1136"/>
                    </a:lnTo>
                    <a:lnTo>
                      <a:pt x="6698" y="1204"/>
                    </a:lnTo>
                    <a:lnTo>
                      <a:pt x="6761" y="1272"/>
                    </a:lnTo>
                    <a:lnTo>
                      <a:pt x="6824" y="1343"/>
                    </a:lnTo>
                    <a:lnTo>
                      <a:pt x="6883" y="1413"/>
                    </a:lnTo>
                    <a:lnTo>
                      <a:pt x="6943" y="1486"/>
                    </a:lnTo>
                    <a:lnTo>
                      <a:pt x="6999" y="1560"/>
                    </a:lnTo>
                    <a:lnTo>
                      <a:pt x="7054" y="1636"/>
                    </a:lnTo>
                    <a:lnTo>
                      <a:pt x="7107" y="1713"/>
                    </a:lnTo>
                    <a:lnTo>
                      <a:pt x="7158" y="1790"/>
                    </a:lnTo>
                    <a:lnTo>
                      <a:pt x="7208" y="1871"/>
                    </a:lnTo>
                    <a:lnTo>
                      <a:pt x="7257" y="1951"/>
                    </a:lnTo>
                    <a:lnTo>
                      <a:pt x="7302" y="2033"/>
                    </a:lnTo>
                    <a:lnTo>
                      <a:pt x="7345" y="2115"/>
                    </a:lnTo>
                    <a:lnTo>
                      <a:pt x="7387" y="2201"/>
                    </a:lnTo>
                    <a:lnTo>
                      <a:pt x="7427" y="2286"/>
                    </a:lnTo>
                    <a:lnTo>
                      <a:pt x="7466" y="2373"/>
                    </a:lnTo>
                    <a:lnTo>
                      <a:pt x="7501" y="2460"/>
                    </a:lnTo>
                    <a:lnTo>
                      <a:pt x="7535" y="2549"/>
                    </a:lnTo>
                    <a:lnTo>
                      <a:pt x="7567" y="2639"/>
                    </a:lnTo>
                    <a:lnTo>
                      <a:pt x="7596" y="2729"/>
                    </a:lnTo>
                    <a:lnTo>
                      <a:pt x="7624" y="2821"/>
                    </a:lnTo>
                    <a:lnTo>
                      <a:pt x="7648" y="2914"/>
                    </a:lnTo>
                    <a:lnTo>
                      <a:pt x="7672" y="3007"/>
                    </a:lnTo>
                    <a:lnTo>
                      <a:pt x="7691" y="3102"/>
                    </a:lnTo>
                    <a:lnTo>
                      <a:pt x="7711" y="3197"/>
                    </a:lnTo>
                    <a:lnTo>
                      <a:pt x="7727" y="3292"/>
                    </a:lnTo>
                    <a:lnTo>
                      <a:pt x="7740" y="3391"/>
                    </a:lnTo>
                    <a:lnTo>
                      <a:pt x="7751" y="3487"/>
                    </a:lnTo>
                    <a:lnTo>
                      <a:pt x="7759" y="3586"/>
                    </a:lnTo>
                    <a:lnTo>
                      <a:pt x="7765" y="3685"/>
                    </a:lnTo>
                    <a:lnTo>
                      <a:pt x="7770" y="3785"/>
                    </a:lnTo>
                    <a:lnTo>
                      <a:pt x="7770" y="3885"/>
                    </a:lnTo>
                    <a:lnTo>
                      <a:pt x="7770" y="3885"/>
                    </a:lnTo>
                    <a:close/>
                  </a:path>
                </a:pathLst>
              </a:custGeom>
              <a:noFill/>
              <a:ln w="6350" cmpd="sng">
                <a:solidFill>
                  <a:schemeClr val="tx1"/>
                </a:solidFill>
                <a:prstDash val="sysDot"/>
                <a:round/>
                <a:headEnd/>
                <a:tailEnd/>
              </a:ln>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24" name="Freeform 53"/>
              <p:cNvSpPr>
                <a:spLocks/>
              </p:cNvSpPr>
              <p:nvPr/>
            </p:nvSpPr>
            <p:spPr bwMode="auto">
              <a:xfrm>
                <a:off x="2147444" y="1017144"/>
                <a:ext cx="4849112" cy="4849112"/>
              </a:xfrm>
              <a:custGeom>
                <a:avLst/>
                <a:gdLst>
                  <a:gd name="T0" fmla="*/ 8627 w 8640"/>
                  <a:gd name="T1" fmla="*/ 4652 h 8640"/>
                  <a:gd name="T2" fmla="*/ 8551 w 8640"/>
                  <a:gd name="T3" fmla="*/ 5191 h 8640"/>
                  <a:gd name="T4" fmla="*/ 8413 w 8640"/>
                  <a:gd name="T5" fmla="*/ 5705 h 8640"/>
                  <a:gd name="T6" fmla="*/ 8213 w 8640"/>
                  <a:gd name="T7" fmla="*/ 6193 h 8640"/>
                  <a:gd name="T8" fmla="*/ 7959 w 8640"/>
                  <a:gd name="T9" fmla="*/ 6648 h 8640"/>
                  <a:gd name="T10" fmla="*/ 7653 w 8640"/>
                  <a:gd name="T11" fmla="*/ 7069 h 8640"/>
                  <a:gd name="T12" fmla="*/ 7300 w 8640"/>
                  <a:gd name="T13" fmla="*/ 7447 h 8640"/>
                  <a:gd name="T14" fmla="*/ 6904 w 8640"/>
                  <a:gd name="T15" fmla="*/ 7782 h 8640"/>
                  <a:gd name="T16" fmla="*/ 6470 w 8640"/>
                  <a:gd name="T17" fmla="*/ 8067 h 8640"/>
                  <a:gd name="T18" fmla="*/ 6001 w 8640"/>
                  <a:gd name="T19" fmla="*/ 8300 h 8640"/>
                  <a:gd name="T20" fmla="*/ 5502 w 8640"/>
                  <a:gd name="T21" fmla="*/ 8476 h 8640"/>
                  <a:gd name="T22" fmla="*/ 4979 w 8640"/>
                  <a:gd name="T23" fmla="*/ 8590 h 8640"/>
                  <a:gd name="T24" fmla="*/ 4431 w 8640"/>
                  <a:gd name="T25" fmla="*/ 8638 h 8640"/>
                  <a:gd name="T26" fmla="*/ 3988 w 8640"/>
                  <a:gd name="T27" fmla="*/ 8627 h 8640"/>
                  <a:gd name="T28" fmla="*/ 3449 w 8640"/>
                  <a:gd name="T29" fmla="*/ 8551 h 8640"/>
                  <a:gd name="T30" fmla="*/ 2935 w 8640"/>
                  <a:gd name="T31" fmla="*/ 8413 h 8640"/>
                  <a:gd name="T32" fmla="*/ 2447 w 8640"/>
                  <a:gd name="T33" fmla="*/ 8213 h 8640"/>
                  <a:gd name="T34" fmla="*/ 1992 w 8640"/>
                  <a:gd name="T35" fmla="*/ 7959 h 8640"/>
                  <a:gd name="T36" fmla="*/ 1571 w 8640"/>
                  <a:gd name="T37" fmla="*/ 7653 h 8640"/>
                  <a:gd name="T38" fmla="*/ 1193 w 8640"/>
                  <a:gd name="T39" fmla="*/ 7300 h 8640"/>
                  <a:gd name="T40" fmla="*/ 858 w 8640"/>
                  <a:gd name="T41" fmla="*/ 6904 h 8640"/>
                  <a:gd name="T42" fmla="*/ 573 w 8640"/>
                  <a:gd name="T43" fmla="*/ 6470 h 8640"/>
                  <a:gd name="T44" fmla="*/ 340 w 8640"/>
                  <a:gd name="T45" fmla="*/ 6001 h 8640"/>
                  <a:gd name="T46" fmla="*/ 164 w 8640"/>
                  <a:gd name="T47" fmla="*/ 5502 h 8640"/>
                  <a:gd name="T48" fmla="*/ 50 w 8640"/>
                  <a:gd name="T49" fmla="*/ 4979 h 8640"/>
                  <a:gd name="T50" fmla="*/ 2 w 8640"/>
                  <a:gd name="T51" fmla="*/ 4431 h 8640"/>
                  <a:gd name="T52" fmla="*/ 13 w 8640"/>
                  <a:gd name="T53" fmla="*/ 3988 h 8640"/>
                  <a:gd name="T54" fmla="*/ 89 w 8640"/>
                  <a:gd name="T55" fmla="*/ 3449 h 8640"/>
                  <a:gd name="T56" fmla="*/ 227 w 8640"/>
                  <a:gd name="T57" fmla="*/ 2935 h 8640"/>
                  <a:gd name="T58" fmla="*/ 427 w 8640"/>
                  <a:gd name="T59" fmla="*/ 2447 h 8640"/>
                  <a:gd name="T60" fmla="*/ 681 w 8640"/>
                  <a:gd name="T61" fmla="*/ 1992 h 8640"/>
                  <a:gd name="T62" fmla="*/ 987 w 8640"/>
                  <a:gd name="T63" fmla="*/ 1571 h 8640"/>
                  <a:gd name="T64" fmla="*/ 1340 w 8640"/>
                  <a:gd name="T65" fmla="*/ 1193 h 8640"/>
                  <a:gd name="T66" fmla="*/ 1736 w 8640"/>
                  <a:gd name="T67" fmla="*/ 858 h 8640"/>
                  <a:gd name="T68" fmla="*/ 2170 w 8640"/>
                  <a:gd name="T69" fmla="*/ 573 h 8640"/>
                  <a:gd name="T70" fmla="*/ 2639 w 8640"/>
                  <a:gd name="T71" fmla="*/ 340 h 8640"/>
                  <a:gd name="T72" fmla="*/ 3138 w 8640"/>
                  <a:gd name="T73" fmla="*/ 164 h 8640"/>
                  <a:gd name="T74" fmla="*/ 3661 w 8640"/>
                  <a:gd name="T75" fmla="*/ 50 h 8640"/>
                  <a:gd name="T76" fmla="*/ 4209 w 8640"/>
                  <a:gd name="T77" fmla="*/ 2 h 8640"/>
                  <a:gd name="T78" fmla="*/ 4652 w 8640"/>
                  <a:gd name="T79" fmla="*/ 13 h 8640"/>
                  <a:gd name="T80" fmla="*/ 5191 w 8640"/>
                  <a:gd name="T81" fmla="*/ 89 h 8640"/>
                  <a:gd name="T82" fmla="*/ 5705 w 8640"/>
                  <a:gd name="T83" fmla="*/ 227 h 8640"/>
                  <a:gd name="T84" fmla="*/ 6193 w 8640"/>
                  <a:gd name="T85" fmla="*/ 427 h 8640"/>
                  <a:gd name="T86" fmla="*/ 6648 w 8640"/>
                  <a:gd name="T87" fmla="*/ 681 h 8640"/>
                  <a:gd name="T88" fmla="*/ 7069 w 8640"/>
                  <a:gd name="T89" fmla="*/ 987 h 8640"/>
                  <a:gd name="T90" fmla="*/ 7447 w 8640"/>
                  <a:gd name="T91" fmla="*/ 1340 h 8640"/>
                  <a:gd name="T92" fmla="*/ 7782 w 8640"/>
                  <a:gd name="T93" fmla="*/ 1736 h 8640"/>
                  <a:gd name="T94" fmla="*/ 8067 w 8640"/>
                  <a:gd name="T95" fmla="*/ 2170 h 8640"/>
                  <a:gd name="T96" fmla="*/ 8300 w 8640"/>
                  <a:gd name="T97" fmla="*/ 2639 h 8640"/>
                  <a:gd name="T98" fmla="*/ 8476 w 8640"/>
                  <a:gd name="T99" fmla="*/ 3138 h 8640"/>
                  <a:gd name="T100" fmla="*/ 8590 w 8640"/>
                  <a:gd name="T101" fmla="*/ 3661 h 8640"/>
                  <a:gd name="T102" fmla="*/ 8638 w 8640"/>
                  <a:gd name="T103" fmla="*/ 4209 h 86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8640" h="8640">
                    <a:moveTo>
                      <a:pt x="8640" y="4320"/>
                    </a:moveTo>
                    <a:lnTo>
                      <a:pt x="8640" y="4320"/>
                    </a:lnTo>
                    <a:lnTo>
                      <a:pt x="8638" y="4431"/>
                    </a:lnTo>
                    <a:lnTo>
                      <a:pt x="8634" y="4542"/>
                    </a:lnTo>
                    <a:lnTo>
                      <a:pt x="8627" y="4652"/>
                    </a:lnTo>
                    <a:lnTo>
                      <a:pt x="8617" y="4761"/>
                    </a:lnTo>
                    <a:lnTo>
                      <a:pt x="8605" y="4871"/>
                    </a:lnTo>
                    <a:lnTo>
                      <a:pt x="8590" y="4979"/>
                    </a:lnTo>
                    <a:lnTo>
                      <a:pt x="8572" y="5085"/>
                    </a:lnTo>
                    <a:lnTo>
                      <a:pt x="8551" y="5191"/>
                    </a:lnTo>
                    <a:lnTo>
                      <a:pt x="8529" y="5296"/>
                    </a:lnTo>
                    <a:lnTo>
                      <a:pt x="8503" y="5399"/>
                    </a:lnTo>
                    <a:lnTo>
                      <a:pt x="8476" y="5502"/>
                    </a:lnTo>
                    <a:lnTo>
                      <a:pt x="8445" y="5605"/>
                    </a:lnTo>
                    <a:lnTo>
                      <a:pt x="8413" y="5705"/>
                    </a:lnTo>
                    <a:lnTo>
                      <a:pt x="8378" y="5805"/>
                    </a:lnTo>
                    <a:lnTo>
                      <a:pt x="8341" y="5904"/>
                    </a:lnTo>
                    <a:lnTo>
                      <a:pt x="8300" y="6001"/>
                    </a:lnTo>
                    <a:lnTo>
                      <a:pt x="8258" y="6098"/>
                    </a:lnTo>
                    <a:lnTo>
                      <a:pt x="8213" y="6193"/>
                    </a:lnTo>
                    <a:lnTo>
                      <a:pt x="8167" y="6286"/>
                    </a:lnTo>
                    <a:lnTo>
                      <a:pt x="8118" y="6379"/>
                    </a:lnTo>
                    <a:lnTo>
                      <a:pt x="8067" y="6470"/>
                    </a:lnTo>
                    <a:lnTo>
                      <a:pt x="8014" y="6560"/>
                    </a:lnTo>
                    <a:lnTo>
                      <a:pt x="7959" y="6648"/>
                    </a:lnTo>
                    <a:lnTo>
                      <a:pt x="7903" y="6735"/>
                    </a:lnTo>
                    <a:lnTo>
                      <a:pt x="7843" y="6821"/>
                    </a:lnTo>
                    <a:lnTo>
                      <a:pt x="7782" y="6904"/>
                    </a:lnTo>
                    <a:lnTo>
                      <a:pt x="7719" y="6986"/>
                    </a:lnTo>
                    <a:lnTo>
                      <a:pt x="7653" y="7069"/>
                    </a:lnTo>
                    <a:lnTo>
                      <a:pt x="7587" y="7147"/>
                    </a:lnTo>
                    <a:lnTo>
                      <a:pt x="7518" y="7225"/>
                    </a:lnTo>
                    <a:lnTo>
                      <a:pt x="7447" y="7300"/>
                    </a:lnTo>
                    <a:lnTo>
                      <a:pt x="7374" y="7374"/>
                    </a:lnTo>
                    <a:lnTo>
                      <a:pt x="7300" y="7447"/>
                    </a:lnTo>
                    <a:lnTo>
                      <a:pt x="7225" y="7518"/>
                    </a:lnTo>
                    <a:lnTo>
                      <a:pt x="7147" y="7587"/>
                    </a:lnTo>
                    <a:lnTo>
                      <a:pt x="7069" y="7653"/>
                    </a:lnTo>
                    <a:lnTo>
                      <a:pt x="6986" y="7719"/>
                    </a:lnTo>
                    <a:lnTo>
                      <a:pt x="6904" y="7782"/>
                    </a:lnTo>
                    <a:lnTo>
                      <a:pt x="6821" y="7843"/>
                    </a:lnTo>
                    <a:lnTo>
                      <a:pt x="6735" y="7903"/>
                    </a:lnTo>
                    <a:lnTo>
                      <a:pt x="6648" y="7959"/>
                    </a:lnTo>
                    <a:lnTo>
                      <a:pt x="6560" y="8014"/>
                    </a:lnTo>
                    <a:lnTo>
                      <a:pt x="6470" y="8067"/>
                    </a:lnTo>
                    <a:lnTo>
                      <a:pt x="6379" y="8118"/>
                    </a:lnTo>
                    <a:lnTo>
                      <a:pt x="6286" y="8167"/>
                    </a:lnTo>
                    <a:lnTo>
                      <a:pt x="6193" y="8213"/>
                    </a:lnTo>
                    <a:lnTo>
                      <a:pt x="6098" y="8258"/>
                    </a:lnTo>
                    <a:lnTo>
                      <a:pt x="6001" y="8300"/>
                    </a:lnTo>
                    <a:lnTo>
                      <a:pt x="5904" y="8341"/>
                    </a:lnTo>
                    <a:lnTo>
                      <a:pt x="5805" y="8378"/>
                    </a:lnTo>
                    <a:lnTo>
                      <a:pt x="5705" y="8413"/>
                    </a:lnTo>
                    <a:lnTo>
                      <a:pt x="5605" y="8445"/>
                    </a:lnTo>
                    <a:lnTo>
                      <a:pt x="5502" y="8476"/>
                    </a:lnTo>
                    <a:lnTo>
                      <a:pt x="5399" y="8503"/>
                    </a:lnTo>
                    <a:lnTo>
                      <a:pt x="5296" y="8529"/>
                    </a:lnTo>
                    <a:lnTo>
                      <a:pt x="5191" y="8551"/>
                    </a:lnTo>
                    <a:lnTo>
                      <a:pt x="5085" y="8572"/>
                    </a:lnTo>
                    <a:lnTo>
                      <a:pt x="4979" y="8590"/>
                    </a:lnTo>
                    <a:lnTo>
                      <a:pt x="4871" y="8605"/>
                    </a:lnTo>
                    <a:lnTo>
                      <a:pt x="4761" y="8617"/>
                    </a:lnTo>
                    <a:lnTo>
                      <a:pt x="4652" y="8627"/>
                    </a:lnTo>
                    <a:lnTo>
                      <a:pt x="4542" y="8634"/>
                    </a:lnTo>
                    <a:lnTo>
                      <a:pt x="4431" y="8638"/>
                    </a:lnTo>
                    <a:lnTo>
                      <a:pt x="4320" y="8640"/>
                    </a:lnTo>
                    <a:lnTo>
                      <a:pt x="4320" y="8640"/>
                    </a:lnTo>
                    <a:lnTo>
                      <a:pt x="4209" y="8638"/>
                    </a:lnTo>
                    <a:lnTo>
                      <a:pt x="4098" y="8634"/>
                    </a:lnTo>
                    <a:lnTo>
                      <a:pt x="3988" y="8627"/>
                    </a:lnTo>
                    <a:lnTo>
                      <a:pt x="3879" y="8617"/>
                    </a:lnTo>
                    <a:lnTo>
                      <a:pt x="3769" y="8605"/>
                    </a:lnTo>
                    <a:lnTo>
                      <a:pt x="3661" y="8590"/>
                    </a:lnTo>
                    <a:lnTo>
                      <a:pt x="3555" y="8572"/>
                    </a:lnTo>
                    <a:lnTo>
                      <a:pt x="3449" y="8551"/>
                    </a:lnTo>
                    <a:lnTo>
                      <a:pt x="3344" y="8529"/>
                    </a:lnTo>
                    <a:lnTo>
                      <a:pt x="3241" y="8503"/>
                    </a:lnTo>
                    <a:lnTo>
                      <a:pt x="3138" y="8476"/>
                    </a:lnTo>
                    <a:lnTo>
                      <a:pt x="3035" y="8445"/>
                    </a:lnTo>
                    <a:lnTo>
                      <a:pt x="2935" y="8413"/>
                    </a:lnTo>
                    <a:lnTo>
                      <a:pt x="2835" y="8378"/>
                    </a:lnTo>
                    <a:lnTo>
                      <a:pt x="2736" y="8341"/>
                    </a:lnTo>
                    <a:lnTo>
                      <a:pt x="2639" y="8300"/>
                    </a:lnTo>
                    <a:lnTo>
                      <a:pt x="2542" y="8258"/>
                    </a:lnTo>
                    <a:lnTo>
                      <a:pt x="2447" y="8213"/>
                    </a:lnTo>
                    <a:lnTo>
                      <a:pt x="2354" y="8167"/>
                    </a:lnTo>
                    <a:lnTo>
                      <a:pt x="2261" y="8118"/>
                    </a:lnTo>
                    <a:lnTo>
                      <a:pt x="2170" y="8067"/>
                    </a:lnTo>
                    <a:lnTo>
                      <a:pt x="2080" y="8014"/>
                    </a:lnTo>
                    <a:lnTo>
                      <a:pt x="1992" y="7959"/>
                    </a:lnTo>
                    <a:lnTo>
                      <a:pt x="1905" y="7903"/>
                    </a:lnTo>
                    <a:lnTo>
                      <a:pt x="1819" y="7843"/>
                    </a:lnTo>
                    <a:lnTo>
                      <a:pt x="1736" y="7782"/>
                    </a:lnTo>
                    <a:lnTo>
                      <a:pt x="1654" y="7719"/>
                    </a:lnTo>
                    <a:lnTo>
                      <a:pt x="1571" y="7653"/>
                    </a:lnTo>
                    <a:lnTo>
                      <a:pt x="1493" y="7587"/>
                    </a:lnTo>
                    <a:lnTo>
                      <a:pt x="1415" y="7518"/>
                    </a:lnTo>
                    <a:lnTo>
                      <a:pt x="1340" y="7447"/>
                    </a:lnTo>
                    <a:lnTo>
                      <a:pt x="1266" y="7374"/>
                    </a:lnTo>
                    <a:lnTo>
                      <a:pt x="1193" y="7300"/>
                    </a:lnTo>
                    <a:lnTo>
                      <a:pt x="1122" y="7225"/>
                    </a:lnTo>
                    <a:lnTo>
                      <a:pt x="1053" y="7147"/>
                    </a:lnTo>
                    <a:lnTo>
                      <a:pt x="987" y="7069"/>
                    </a:lnTo>
                    <a:lnTo>
                      <a:pt x="921" y="6986"/>
                    </a:lnTo>
                    <a:lnTo>
                      <a:pt x="858" y="6904"/>
                    </a:lnTo>
                    <a:lnTo>
                      <a:pt x="797" y="6821"/>
                    </a:lnTo>
                    <a:lnTo>
                      <a:pt x="737" y="6735"/>
                    </a:lnTo>
                    <a:lnTo>
                      <a:pt x="681" y="6648"/>
                    </a:lnTo>
                    <a:lnTo>
                      <a:pt x="626" y="6560"/>
                    </a:lnTo>
                    <a:lnTo>
                      <a:pt x="573" y="6470"/>
                    </a:lnTo>
                    <a:lnTo>
                      <a:pt x="522" y="6379"/>
                    </a:lnTo>
                    <a:lnTo>
                      <a:pt x="473" y="6286"/>
                    </a:lnTo>
                    <a:lnTo>
                      <a:pt x="427" y="6193"/>
                    </a:lnTo>
                    <a:lnTo>
                      <a:pt x="382" y="6098"/>
                    </a:lnTo>
                    <a:lnTo>
                      <a:pt x="340" y="6001"/>
                    </a:lnTo>
                    <a:lnTo>
                      <a:pt x="299" y="5904"/>
                    </a:lnTo>
                    <a:lnTo>
                      <a:pt x="262" y="5805"/>
                    </a:lnTo>
                    <a:lnTo>
                      <a:pt x="227" y="5705"/>
                    </a:lnTo>
                    <a:lnTo>
                      <a:pt x="195" y="5605"/>
                    </a:lnTo>
                    <a:lnTo>
                      <a:pt x="164" y="5502"/>
                    </a:lnTo>
                    <a:lnTo>
                      <a:pt x="137" y="5399"/>
                    </a:lnTo>
                    <a:lnTo>
                      <a:pt x="111" y="5296"/>
                    </a:lnTo>
                    <a:lnTo>
                      <a:pt x="89" y="5191"/>
                    </a:lnTo>
                    <a:lnTo>
                      <a:pt x="68" y="5085"/>
                    </a:lnTo>
                    <a:lnTo>
                      <a:pt x="50" y="4979"/>
                    </a:lnTo>
                    <a:lnTo>
                      <a:pt x="35" y="4871"/>
                    </a:lnTo>
                    <a:lnTo>
                      <a:pt x="23" y="4761"/>
                    </a:lnTo>
                    <a:lnTo>
                      <a:pt x="13" y="4652"/>
                    </a:lnTo>
                    <a:lnTo>
                      <a:pt x="6" y="4542"/>
                    </a:lnTo>
                    <a:lnTo>
                      <a:pt x="2" y="4431"/>
                    </a:lnTo>
                    <a:lnTo>
                      <a:pt x="0" y="4320"/>
                    </a:lnTo>
                    <a:lnTo>
                      <a:pt x="0" y="4320"/>
                    </a:lnTo>
                    <a:lnTo>
                      <a:pt x="2" y="4209"/>
                    </a:lnTo>
                    <a:lnTo>
                      <a:pt x="6" y="4098"/>
                    </a:lnTo>
                    <a:lnTo>
                      <a:pt x="13" y="3988"/>
                    </a:lnTo>
                    <a:lnTo>
                      <a:pt x="23" y="3879"/>
                    </a:lnTo>
                    <a:lnTo>
                      <a:pt x="35" y="3769"/>
                    </a:lnTo>
                    <a:lnTo>
                      <a:pt x="50" y="3661"/>
                    </a:lnTo>
                    <a:lnTo>
                      <a:pt x="68" y="3555"/>
                    </a:lnTo>
                    <a:lnTo>
                      <a:pt x="89" y="3449"/>
                    </a:lnTo>
                    <a:lnTo>
                      <a:pt x="111" y="3344"/>
                    </a:lnTo>
                    <a:lnTo>
                      <a:pt x="137" y="3241"/>
                    </a:lnTo>
                    <a:lnTo>
                      <a:pt x="164" y="3138"/>
                    </a:lnTo>
                    <a:lnTo>
                      <a:pt x="195" y="3035"/>
                    </a:lnTo>
                    <a:lnTo>
                      <a:pt x="227" y="2935"/>
                    </a:lnTo>
                    <a:lnTo>
                      <a:pt x="262" y="2835"/>
                    </a:lnTo>
                    <a:lnTo>
                      <a:pt x="299" y="2736"/>
                    </a:lnTo>
                    <a:lnTo>
                      <a:pt x="340" y="2639"/>
                    </a:lnTo>
                    <a:lnTo>
                      <a:pt x="382" y="2542"/>
                    </a:lnTo>
                    <a:lnTo>
                      <a:pt x="427" y="2447"/>
                    </a:lnTo>
                    <a:lnTo>
                      <a:pt x="473" y="2354"/>
                    </a:lnTo>
                    <a:lnTo>
                      <a:pt x="522" y="2261"/>
                    </a:lnTo>
                    <a:lnTo>
                      <a:pt x="573" y="2170"/>
                    </a:lnTo>
                    <a:lnTo>
                      <a:pt x="626" y="2080"/>
                    </a:lnTo>
                    <a:lnTo>
                      <a:pt x="681" y="1992"/>
                    </a:lnTo>
                    <a:lnTo>
                      <a:pt x="737" y="1905"/>
                    </a:lnTo>
                    <a:lnTo>
                      <a:pt x="797" y="1819"/>
                    </a:lnTo>
                    <a:lnTo>
                      <a:pt x="858" y="1736"/>
                    </a:lnTo>
                    <a:lnTo>
                      <a:pt x="921" y="1654"/>
                    </a:lnTo>
                    <a:lnTo>
                      <a:pt x="987" y="1571"/>
                    </a:lnTo>
                    <a:lnTo>
                      <a:pt x="1053" y="1493"/>
                    </a:lnTo>
                    <a:lnTo>
                      <a:pt x="1122" y="1415"/>
                    </a:lnTo>
                    <a:lnTo>
                      <a:pt x="1193" y="1340"/>
                    </a:lnTo>
                    <a:lnTo>
                      <a:pt x="1266" y="1266"/>
                    </a:lnTo>
                    <a:lnTo>
                      <a:pt x="1340" y="1193"/>
                    </a:lnTo>
                    <a:lnTo>
                      <a:pt x="1415" y="1122"/>
                    </a:lnTo>
                    <a:lnTo>
                      <a:pt x="1493" y="1053"/>
                    </a:lnTo>
                    <a:lnTo>
                      <a:pt x="1571" y="987"/>
                    </a:lnTo>
                    <a:lnTo>
                      <a:pt x="1654" y="921"/>
                    </a:lnTo>
                    <a:lnTo>
                      <a:pt x="1736" y="858"/>
                    </a:lnTo>
                    <a:lnTo>
                      <a:pt x="1819" y="797"/>
                    </a:lnTo>
                    <a:lnTo>
                      <a:pt x="1905" y="737"/>
                    </a:lnTo>
                    <a:lnTo>
                      <a:pt x="1992" y="681"/>
                    </a:lnTo>
                    <a:lnTo>
                      <a:pt x="2080" y="626"/>
                    </a:lnTo>
                    <a:lnTo>
                      <a:pt x="2170" y="573"/>
                    </a:lnTo>
                    <a:lnTo>
                      <a:pt x="2261" y="522"/>
                    </a:lnTo>
                    <a:lnTo>
                      <a:pt x="2354" y="473"/>
                    </a:lnTo>
                    <a:lnTo>
                      <a:pt x="2447" y="427"/>
                    </a:lnTo>
                    <a:lnTo>
                      <a:pt x="2542" y="382"/>
                    </a:lnTo>
                    <a:lnTo>
                      <a:pt x="2639" y="340"/>
                    </a:lnTo>
                    <a:lnTo>
                      <a:pt x="2736" y="299"/>
                    </a:lnTo>
                    <a:lnTo>
                      <a:pt x="2835" y="262"/>
                    </a:lnTo>
                    <a:lnTo>
                      <a:pt x="2935" y="227"/>
                    </a:lnTo>
                    <a:lnTo>
                      <a:pt x="3035" y="195"/>
                    </a:lnTo>
                    <a:lnTo>
                      <a:pt x="3138" y="164"/>
                    </a:lnTo>
                    <a:lnTo>
                      <a:pt x="3241" y="137"/>
                    </a:lnTo>
                    <a:lnTo>
                      <a:pt x="3344" y="111"/>
                    </a:lnTo>
                    <a:lnTo>
                      <a:pt x="3449" y="89"/>
                    </a:lnTo>
                    <a:lnTo>
                      <a:pt x="3555" y="68"/>
                    </a:lnTo>
                    <a:lnTo>
                      <a:pt x="3661" y="50"/>
                    </a:lnTo>
                    <a:lnTo>
                      <a:pt x="3769" y="35"/>
                    </a:lnTo>
                    <a:lnTo>
                      <a:pt x="3879" y="23"/>
                    </a:lnTo>
                    <a:lnTo>
                      <a:pt x="3988" y="13"/>
                    </a:lnTo>
                    <a:lnTo>
                      <a:pt x="4098" y="6"/>
                    </a:lnTo>
                    <a:lnTo>
                      <a:pt x="4209" y="2"/>
                    </a:lnTo>
                    <a:lnTo>
                      <a:pt x="4320" y="0"/>
                    </a:lnTo>
                    <a:lnTo>
                      <a:pt x="4320" y="0"/>
                    </a:lnTo>
                    <a:lnTo>
                      <a:pt x="4431" y="2"/>
                    </a:lnTo>
                    <a:lnTo>
                      <a:pt x="4542" y="6"/>
                    </a:lnTo>
                    <a:lnTo>
                      <a:pt x="4652" y="13"/>
                    </a:lnTo>
                    <a:lnTo>
                      <a:pt x="4761" y="23"/>
                    </a:lnTo>
                    <a:lnTo>
                      <a:pt x="4871" y="35"/>
                    </a:lnTo>
                    <a:lnTo>
                      <a:pt x="4979" y="50"/>
                    </a:lnTo>
                    <a:lnTo>
                      <a:pt x="5085" y="68"/>
                    </a:lnTo>
                    <a:lnTo>
                      <a:pt x="5191" y="89"/>
                    </a:lnTo>
                    <a:lnTo>
                      <a:pt x="5296" y="111"/>
                    </a:lnTo>
                    <a:lnTo>
                      <a:pt x="5399" y="137"/>
                    </a:lnTo>
                    <a:lnTo>
                      <a:pt x="5502" y="164"/>
                    </a:lnTo>
                    <a:lnTo>
                      <a:pt x="5605" y="195"/>
                    </a:lnTo>
                    <a:lnTo>
                      <a:pt x="5705" y="227"/>
                    </a:lnTo>
                    <a:lnTo>
                      <a:pt x="5805" y="262"/>
                    </a:lnTo>
                    <a:lnTo>
                      <a:pt x="5904" y="299"/>
                    </a:lnTo>
                    <a:lnTo>
                      <a:pt x="6001" y="340"/>
                    </a:lnTo>
                    <a:lnTo>
                      <a:pt x="6098" y="382"/>
                    </a:lnTo>
                    <a:lnTo>
                      <a:pt x="6193" y="427"/>
                    </a:lnTo>
                    <a:lnTo>
                      <a:pt x="6286" y="473"/>
                    </a:lnTo>
                    <a:lnTo>
                      <a:pt x="6379" y="522"/>
                    </a:lnTo>
                    <a:lnTo>
                      <a:pt x="6470" y="573"/>
                    </a:lnTo>
                    <a:lnTo>
                      <a:pt x="6560" y="626"/>
                    </a:lnTo>
                    <a:lnTo>
                      <a:pt x="6648" y="681"/>
                    </a:lnTo>
                    <a:lnTo>
                      <a:pt x="6735" y="737"/>
                    </a:lnTo>
                    <a:lnTo>
                      <a:pt x="6821" y="797"/>
                    </a:lnTo>
                    <a:lnTo>
                      <a:pt x="6904" y="858"/>
                    </a:lnTo>
                    <a:lnTo>
                      <a:pt x="6986" y="921"/>
                    </a:lnTo>
                    <a:lnTo>
                      <a:pt x="7069" y="987"/>
                    </a:lnTo>
                    <a:lnTo>
                      <a:pt x="7147" y="1053"/>
                    </a:lnTo>
                    <a:lnTo>
                      <a:pt x="7225" y="1122"/>
                    </a:lnTo>
                    <a:lnTo>
                      <a:pt x="7300" y="1193"/>
                    </a:lnTo>
                    <a:lnTo>
                      <a:pt x="7374" y="1266"/>
                    </a:lnTo>
                    <a:lnTo>
                      <a:pt x="7447" y="1340"/>
                    </a:lnTo>
                    <a:lnTo>
                      <a:pt x="7518" y="1415"/>
                    </a:lnTo>
                    <a:lnTo>
                      <a:pt x="7587" y="1493"/>
                    </a:lnTo>
                    <a:lnTo>
                      <a:pt x="7653" y="1571"/>
                    </a:lnTo>
                    <a:lnTo>
                      <a:pt x="7719" y="1654"/>
                    </a:lnTo>
                    <a:lnTo>
                      <a:pt x="7782" y="1736"/>
                    </a:lnTo>
                    <a:lnTo>
                      <a:pt x="7843" y="1819"/>
                    </a:lnTo>
                    <a:lnTo>
                      <a:pt x="7903" y="1905"/>
                    </a:lnTo>
                    <a:lnTo>
                      <a:pt x="7959" y="1992"/>
                    </a:lnTo>
                    <a:lnTo>
                      <a:pt x="8014" y="2080"/>
                    </a:lnTo>
                    <a:lnTo>
                      <a:pt x="8067" y="2170"/>
                    </a:lnTo>
                    <a:lnTo>
                      <a:pt x="8118" y="2261"/>
                    </a:lnTo>
                    <a:lnTo>
                      <a:pt x="8167" y="2354"/>
                    </a:lnTo>
                    <a:lnTo>
                      <a:pt x="8213" y="2447"/>
                    </a:lnTo>
                    <a:lnTo>
                      <a:pt x="8258" y="2542"/>
                    </a:lnTo>
                    <a:lnTo>
                      <a:pt x="8300" y="2639"/>
                    </a:lnTo>
                    <a:lnTo>
                      <a:pt x="8341" y="2736"/>
                    </a:lnTo>
                    <a:lnTo>
                      <a:pt x="8378" y="2835"/>
                    </a:lnTo>
                    <a:lnTo>
                      <a:pt x="8413" y="2935"/>
                    </a:lnTo>
                    <a:lnTo>
                      <a:pt x="8445" y="3035"/>
                    </a:lnTo>
                    <a:lnTo>
                      <a:pt x="8476" y="3138"/>
                    </a:lnTo>
                    <a:lnTo>
                      <a:pt x="8503" y="3241"/>
                    </a:lnTo>
                    <a:lnTo>
                      <a:pt x="8529" y="3344"/>
                    </a:lnTo>
                    <a:lnTo>
                      <a:pt x="8551" y="3449"/>
                    </a:lnTo>
                    <a:lnTo>
                      <a:pt x="8572" y="3555"/>
                    </a:lnTo>
                    <a:lnTo>
                      <a:pt x="8590" y="3661"/>
                    </a:lnTo>
                    <a:lnTo>
                      <a:pt x="8605" y="3769"/>
                    </a:lnTo>
                    <a:lnTo>
                      <a:pt x="8617" y="3879"/>
                    </a:lnTo>
                    <a:lnTo>
                      <a:pt x="8627" y="3988"/>
                    </a:lnTo>
                    <a:lnTo>
                      <a:pt x="8634" y="4098"/>
                    </a:lnTo>
                    <a:lnTo>
                      <a:pt x="8638" y="4209"/>
                    </a:lnTo>
                    <a:lnTo>
                      <a:pt x="8640" y="4320"/>
                    </a:lnTo>
                    <a:lnTo>
                      <a:pt x="8640" y="4320"/>
                    </a:lnTo>
                    <a:close/>
                  </a:path>
                </a:pathLst>
              </a:custGeom>
              <a:noFill/>
              <a:ln w="6350" cmpd="sng">
                <a:solidFill>
                  <a:schemeClr val="tx1"/>
                </a:solidFill>
                <a:prstDash val="sysDot"/>
                <a:round/>
                <a:headEnd/>
                <a:tailEnd/>
              </a:ln>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sp>
        <p:nvSpPr>
          <p:cNvPr id="44" name="Content Placeholder 4">
            <a:extLst>
              <a:ext uri="{FF2B5EF4-FFF2-40B4-BE49-F238E27FC236}">
                <a16:creationId xmlns:a16="http://schemas.microsoft.com/office/drawing/2014/main" id="{CEEB3BAE-C0B2-447C-B8BE-96C6BD84D658}"/>
              </a:ext>
            </a:extLst>
          </p:cNvPr>
          <p:cNvSpPr txBox="1">
            <a:spLocks/>
          </p:cNvSpPr>
          <p:nvPr/>
        </p:nvSpPr>
        <p:spPr>
          <a:xfrm>
            <a:off x="352697" y="1423343"/>
            <a:ext cx="10803550" cy="436295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ea typeface="Calibri"/>
                <a:cs typeface="Calibri"/>
              </a:rPr>
              <a:t>From the period of Jan to May 2025, 56 studies were performed for CKD 4 patients with indications that would have benefitted from administration of IV contrast. Only three were ultimately performed with IV contrast (pre-intervention median of 6.7%). </a:t>
            </a:r>
          </a:p>
          <a:p>
            <a:pPr marL="0" indent="0">
              <a:buNone/>
            </a:pPr>
            <a:r>
              <a:rPr lang="en-US" sz="2400" dirty="0"/>
              <a:t>Goal: To increase the proportion of clinically appropriate CE MRIs in CKD 4 patients from 7% to 30% in the next 6 months. </a:t>
            </a:r>
            <a:endParaRPr lang="en-SG" sz="2400" dirty="0"/>
          </a:p>
          <a:p>
            <a:pPr marL="0" indent="0">
              <a:buNone/>
            </a:pPr>
            <a:r>
              <a:rPr lang="en-US" sz="2400" dirty="0"/>
              <a:t>Clinically appropriate CE MRIs are defined as MRIs with indications that would have resulted in the administration of IV contrast if the patient’s </a:t>
            </a:r>
            <a:r>
              <a:rPr lang="en-US" sz="2400" dirty="0" err="1"/>
              <a:t>eGFR</a:t>
            </a:r>
            <a:r>
              <a:rPr lang="en-US" sz="2400" dirty="0"/>
              <a:t> were &gt;30mL/min/1.73m² in the absence of other unrelated contraindications. </a:t>
            </a:r>
          </a:p>
          <a:p>
            <a:pPr marL="0" indent="0">
              <a:buNone/>
            </a:pPr>
            <a:r>
              <a:rPr lang="en-GB" sz="2400" dirty="0"/>
              <a:t>Doing so would presumably lead to earlier diagnosis and initiation of treatment. This would translate to cost savings in the form of reduced length of stay for inpatients, fewer repeat visits for outpatients, as well as reducing or eliminating the need for repeat imaging or more complex procedures/tests. </a:t>
            </a:r>
            <a:endParaRPr lang="en-SG" sz="2400" dirty="0"/>
          </a:p>
          <a:p>
            <a:pPr marL="0" indent="0">
              <a:buNone/>
            </a:pPr>
            <a:endParaRPr lang="en-US" dirty="0"/>
          </a:p>
          <a:p>
            <a:pPr marL="0" indent="0">
              <a:buNone/>
            </a:pPr>
            <a:endParaRPr lang="en-US" dirty="0"/>
          </a:p>
          <a:p>
            <a:endParaRPr lang="en-US" dirty="0"/>
          </a:p>
        </p:txBody>
      </p:sp>
    </p:spTree>
    <p:extLst>
      <p:ext uri="{BB962C8B-B14F-4D97-AF65-F5344CB8AC3E}">
        <p14:creationId xmlns:p14="http://schemas.microsoft.com/office/powerpoint/2010/main" val="1418013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accel="50000" decel="5000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1000" fill="hold"/>
                                        <p:tgtEl>
                                          <p:spTgt spid="6"/>
                                        </p:tgtEl>
                                        <p:attrNameLst>
                                          <p:attrName>ppt_x</p:attrName>
                                        </p:attrNameLst>
                                      </p:cBhvr>
                                      <p:tavLst>
                                        <p:tav tm="0">
                                          <p:val>
                                            <p:strVal val="0-#ppt_w/2"/>
                                          </p:val>
                                        </p:tav>
                                        <p:tav tm="100000">
                                          <p:val>
                                            <p:strVal val="#ppt_x"/>
                                          </p:val>
                                        </p:tav>
                                      </p:tavLst>
                                    </p:anim>
                                    <p:anim calcmode="lin" valueType="num">
                                      <p:cBhvr additive="base">
                                        <p:cTn id="8" dur="10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2" accel="50000" decel="50000" fill="hold" nodeType="withEffect">
                                  <p:stCondLst>
                                    <p:cond delay="0"/>
                                  </p:stCondLst>
                                  <p:childTnLst>
                                    <p:set>
                                      <p:cBhvr>
                                        <p:cTn id="10" dur="1" fill="hold">
                                          <p:stCondLst>
                                            <p:cond delay="0"/>
                                          </p:stCondLst>
                                        </p:cTn>
                                        <p:tgtEl>
                                          <p:spTgt spid="23"/>
                                        </p:tgtEl>
                                        <p:attrNameLst>
                                          <p:attrName>style.visibility</p:attrName>
                                        </p:attrNameLst>
                                      </p:cBhvr>
                                      <p:to>
                                        <p:strVal val="visible"/>
                                      </p:to>
                                    </p:set>
                                    <p:anim calcmode="lin" valueType="num">
                                      <p:cBhvr additive="base">
                                        <p:cTn id="11" dur="1000" fill="hold"/>
                                        <p:tgtEl>
                                          <p:spTgt spid="23"/>
                                        </p:tgtEl>
                                        <p:attrNameLst>
                                          <p:attrName>ppt_x</p:attrName>
                                        </p:attrNameLst>
                                      </p:cBhvr>
                                      <p:tavLst>
                                        <p:tav tm="0">
                                          <p:val>
                                            <p:strVal val="1+#ppt_w/2"/>
                                          </p:val>
                                        </p:tav>
                                        <p:tav tm="100000">
                                          <p:val>
                                            <p:strVal val="#ppt_x"/>
                                          </p:val>
                                        </p:tav>
                                      </p:tavLst>
                                    </p:anim>
                                    <p:anim calcmode="lin" valueType="num">
                                      <p:cBhvr additive="base">
                                        <p:cTn id="12" dur="1000" fill="hold"/>
                                        <p:tgtEl>
                                          <p:spTgt spid="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hidden="1"/>
          <p:cNvSpPr>
            <a:spLocks noGrp="1"/>
          </p:cNvSpPr>
          <p:nvPr>
            <p:ph type="title"/>
          </p:nvPr>
        </p:nvSpPr>
        <p:spPr/>
        <p:txBody>
          <a:bodyPr/>
          <a:lstStyle/>
          <a:p>
            <a:r>
              <a:rPr lang="en-US" dirty="0"/>
              <a:t>Sample 4</a:t>
            </a:r>
          </a:p>
        </p:txBody>
      </p:sp>
      <p:sp>
        <p:nvSpPr>
          <p:cNvPr id="43" name="TextBox 42"/>
          <p:cNvSpPr txBox="1"/>
          <p:nvPr/>
        </p:nvSpPr>
        <p:spPr>
          <a:xfrm>
            <a:off x="339634" y="10702"/>
            <a:ext cx="11852366" cy="713016"/>
          </a:xfrm>
          <a:prstGeom prst="rect">
            <a:avLst/>
          </a:prstGeom>
          <a:noFill/>
        </p:spPr>
        <p:txBody>
          <a:bodyPr wrap="square" rtlCol="0">
            <a:spAutoFit/>
          </a:bodyPr>
          <a:lstStyle/>
          <a:p>
            <a:pPr>
              <a:lnSpc>
                <a:spcPct val="150000"/>
              </a:lnSpc>
            </a:pPr>
            <a:r>
              <a:rPr lang="en-US" sz="3000" b="1" dirty="0">
                <a:solidFill>
                  <a:schemeClr val="tx1">
                    <a:lumMod val="85000"/>
                    <a:lumOff val="15000"/>
                  </a:schemeClr>
                </a:solidFill>
                <a:latin typeface="Arial Black" charset="0"/>
                <a:ea typeface="Arial Black" charset="0"/>
                <a:cs typeface="Arial Black" charset="0"/>
              </a:rPr>
              <a:t>C. Problem Analysis (</a:t>
            </a:r>
            <a:r>
              <a:rPr lang="en-US" sz="3000" b="1" dirty="0">
                <a:solidFill>
                  <a:srgbClr val="0070C0"/>
                </a:solidFill>
                <a:latin typeface="Arial Black" charset="0"/>
                <a:ea typeface="Arial Black" charset="0"/>
                <a:cs typeface="Arial Black" charset="0"/>
              </a:rPr>
              <a:t>P</a:t>
            </a:r>
            <a:r>
              <a:rPr lang="en-US" sz="3000" b="1" dirty="0">
                <a:solidFill>
                  <a:schemeClr val="tx1">
                    <a:lumMod val="85000"/>
                    <a:lumOff val="15000"/>
                  </a:schemeClr>
                </a:solidFill>
                <a:latin typeface="Arial Black" charset="0"/>
                <a:ea typeface="Arial Black" charset="0"/>
                <a:cs typeface="Arial Black" charset="0"/>
              </a:rPr>
              <a:t>LAN) Gap Analysis</a:t>
            </a:r>
          </a:p>
        </p:txBody>
      </p:sp>
      <p:cxnSp>
        <p:nvCxnSpPr>
          <p:cNvPr id="48" name="Straight Connector 47">
            <a:extLst>
              <a:ext uri="{C183D7F6-B498-43B3-948B-1728B52AA6E4}">
                <adec:decorative xmlns:adec="http://schemas.microsoft.com/office/drawing/2017/decorative" val="1"/>
              </a:ext>
            </a:extLst>
          </p:cNvPr>
          <p:cNvCxnSpPr/>
          <p:nvPr/>
        </p:nvCxnSpPr>
        <p:spPr>
          <a:xfrm>
            <a:off x="226423" y="746051"/>
            <a:ext cx="10027920" cy="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46" name="Line 8">
            <a:extLst>
              <a:ext uri="{FF2B5EF4-FFF2-40B4-BE49-F238E27FC236}">
                <a16:creationId xmlns:a16="http://schemas.microsoft.com/office/drawing/2014/main" id="{ABA954D7-43DD-E1F6-672A-198F6EAEB47D}"/>
              </a:ext>
            </a:extLst>
          </p:cNvPr>
          <p:cNvSpPr>
            <a:spLocks noChangeShapeType="1"/>
          </p:cNvSpPr>
          <p:nvPr/>
        </p:nvSpPr>
        <p:spPr bwMode="auto">
          <a:xfrm>
            <a:off x="1040820" y="4183478"/>
            <a:ext cx="9754207" cy="0"/>
          </a:xfrm>
          <a:prstGeom prst="line">
            <a:avLst/>
          </a:prstGeom>
          <a:noFill/>
          <a:ln w="28575">
            <a:solidFill>
              <a:srgbClr val="FF6600"/>
            </a:solidFill>
            <a:round/>
            <a:headEnd/>
            <a:tailEnd/>
          </a:ln>
          <a:effectLst>
            <a:outerShdw dist="35921" dir="2700000" algn="ctr" rotWithShape="0">
              <a:srgbClr val="EAEAEA"/>
            </a:outerShdw>
          </a:effectLst>
          <a:extLst>
            <a:ext uri="{909E8E84-426E-40DD-AFC4-6F175D3DCCD1}">
              <a14:hiddenFill xmlns:a14="http://schemas.microsoft.com/office/drawing/2010/main">
                <a:noFill/>
              </a14:hiddenFill>
            </a:ext>
          </a:extLst>
        </p:spPr>
        <p:txBody>
          <a:bodyPr/>
          <a:lstStyle/>
          <a:p>
            <a:endParaRPr lang="en-US"/>
          </a:p>
        </p:txBody>
      </p:sp>
      <p:sp>
        <p:nvSpPr>
          <p:cNvPr id="47" name="AutoShape 17">
            <a:extLst>
              <a:ext uri="{FF2B5EF4-FFF2-40B4-BE49-F238E27FC236}">
                <a16:creationId xmlns:a16="http://schemas.microsoft.com/office/drawing/2014/main" id="{91DA3148-800A-E6EA-34DA-0F4B5513D022}"/>
              </a:ext>
            </a:extLst>
          </p:cNvPr>
          <p:cNvSpPr>
            <a:spLocks noChangeArrowheads="1"/>
          </p:cNvSpPr>
          <p:nvPr/>
        </p:nvSpPr>
        <p:spPr bwMode="auto">
          <a:xfrm>
            <a:off x="10795027" y="3553580"/>
            <a:ext cx="1216025" cy="1244600"/>
          </a:xfrm>
          <a:prstGeom prst="flowChartDelay">
            <a:avLst/>
          </a:prstGeom>
          <a:solidFill>
            <a:schemeClr val="accent1"/>
          </a:solidFill>
          <a:ln>
            <a:noFill/>
          </a:ln>
          <a:effectLst>
            <a:outerShdw dist="53882" dir="2700000" algn="ctr" rotWithShape="0">
              <a:srgbClr val="EAEAEA">
                <a:alpha val="50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wrap="none" lIns="91440" tIns="45720" rIns="91440" bIns="45720" anchor="ctr"/>
          <a:lstStyle>
            <a:lvl1pPr>
              <a:buChar char="•"/>
              <a:defRPr sz="3200">
                <a:solidFill>
                  <a:schemeClr val="tx2"/>
                </a:solidFill>
                <a:latin typeface="Arial" panose="020B0604020202020204" pitchFamily="34" charset="0"/>
                <a:ea typeface="ＭＳ Ｐゴシック" panose="020B0600070205080204" pitchFamily="34" charset="-128"/>
                <a:cs typeface="B Frutiger Bold"/>
              </a:defRPr>
            </a:lvl1pPr>
            <a:lvl2pPr marL="37931725" indent="-37474525">
              <a:buClr>
                <a:schemeClr val="tx2"/>
              </a:buClr>
              <a:buChar char="–"/>
              <a:defRPr sz="2800">
                <a:solidFill>
                  <a:schemeClr val="tx2"/>
                </a:solidFill>
                <a:latin typeface="Arial" panose="020B0604020202020204" pitchFamily="34" charset="0"/>
                <a:ea typeface="ＭＳ Ｐゴシック" panose="020B0600070205080204" pitchFamily="34" charset="-128"/>
                <a:cs typeface="L Frutiger Light"/>
              </a:defRPr>
            </a:lvl2pPr>
            <a:lvl3pPr marL="1143000" indent="-914400">
              <a:buClr>
                <a:schemeClr val="tx2"/>
              </a:buClr>
              <a:buFont typeface="Lucida Grande" charset="0"/>
              <a:buChar char="-"/>
              <a:defRPr sz="2400">
                <a:solidFill>
                  <a:schemeClr val="tx2"/>
                </a:solidFill>
                <a:latin typeface="Arial" panose="020B0604020202020204" pitchFamily="34" charset="0"/>
                <a:ea typeface="ＭＳ Ｐゴシック" panose="020B0600070205080204" pitchFamily="34" charset="-128"/>
                <a:cs typeface="L Frutiger Light"/>
              </a:defRPr>
            </a:lvl3pPr>
            <a:lvl4pPr marL="228600" indent="228600">
              <a:buClr>
                <a:schemeClr val="tx2"/>
              </a:buClr>
              <a:buFont typeface="Lucida Grande" charset="0"/>
              <a:buChar char="-"/>
              <a:defRPr sz="2000">
                <a:solidFill>
                  <a:schemeClr val="tx2"/>
                </a:solidFill>
                <a:latin typeface="Arial" panose="020B0604020202020204" pitchFamily="34" charset="0"/>
                <a:ea typeface="ＭＳ Ｐゴシック" panose="020B0600070205080204" pitchFamily="34" charset="-128"/>
                <a:cs typeface="L Frutiger Light"/>
              </a:defRPr>
            </a:lvl4pPr>
            <a:lvl5pPr marL="457200" indent="228600">
              <a:buClr>
                <a:schemeClr val="tx2"/>
              </a:buClr>
              <a:buFont typeface="Lucida Grande" charset="0"/>
              <a:buChar char="-"/>
              <a:defRPr sz="2000">
                <a:solidFill>
                  <a:schemeClr val="tx2"/>
                </a:solidFill>
                <a:latin typeface="Arial" panose="020B0604020202020204" pitchFamily="34" charset="0"/>
                <a:ea typeface="ＭＳ Ｐゴシック" panose="020B0600070205080204" pitchFamily="34" charset="-128"/>
                <a:cs typeface="L Frutiger Light"/>
              </a:defRPr>
            </a:lvl5pPr>
            <a:lvl6pPr marL="914400" indent="228600" defTabSz="457200" eaLnBrk="0" fontAlgn="base" hangingPunct="0">
              <a:spcBef>
                <a:spcPct val="0"/>
              </a:spcBef>
              <a:spcAft>
                <a:spcPct val="0"/>
              </a:spcAft>
              <a:buClr>
                <a:schemeClr val="tx2"/>
              </a:buClr>
              <a:buFont typeface="Lucida Grande" charset="0"/>
              <a:buChar char="-"/>
              <a:defRPr sz="2000">
                <a:solidFill>
                  <a:schemeClr val="tx2"/>
                </a:solidFill>
                <a:latin typeface="Arial" panose="020B0604020202020204" pitchFamily="34" charset="0"/>
                <a:ea typeface="ＭＳ Ｐゴシック" panose="020B0600070205080204" pitchFamily="34" charset="-128"/>
                <a:cs typeface="L Frutiger Light"/>
              </a:defRPr>
            </a:lvl6pPr>
            <a:lvl7pPr marL="1371600" indent="228600" defTabSz="457200" eaLnBrk="0" fontAlgn="base" hangingPunct="0">
              <a:spcBef>
                <a:spcPct val="0"/>
              </a:spcBef>
              <a:spcAft>
                <a:spcPct val="0"/>
              </a:spcAft>
              <a:buClr>
                <a:schemeClr val="tx2"/>
              </a:buClr>
              <a:buFont typeface="Lucida Grande" charset="0"/>
              <a:buChar char="-"/>
              <a:defRPr sz="2000">
                <a:solidFill>
                  <a:schemeClr val="tx2"/>
                </a:solidFill>
                <a:latin typeface="Arial" panose="020B0604020202020204" pitchFamily="34" charset="0"/>
                <a:ea typeface="ＭＳ Ｐゴシック" panose="020B0600070205080204" pitchFamily="34" charset="-128"/>
                <a:cs typeface="L Frutiger Light"/>
              </a:defRPr>
            </a:lvl7pPr>
            <a:lvl8pPr marL="1828800" indent="228600" defTabSz="457200" eaLnBrk="0" fontAlgn="base" hangingPunct="0">
              <a:spcBef>
                <a:spcPct val="0"/>
              </a:spcBef>
              <a:spcAft>
                <a:spcPct val="0"/>
              </a:spcAft>
              <a:buClr>
                <a:schemeClr val="tx2"/>
              </a:buClr>
              <a:buFont typeface="Lucida Grande" charset="0"/>
              <a:buChar char="-"/>
              <a:defRPr sz="2000">
                <a:solidFill>
                  <a:schemeClr val="tx2"/>
                </a:solidFill>
                <a:latin typeface="Arial" panose="020B0604020202020204" pitchFamily="34" charset="0"/>
                <a:ea typeface="ＭＳ Ｐゴシック" panose="020B0600070205080204" pitchFamily="34" charset="-128"/>
                <a:cs typeface="L Frutiger Light"/>
              </a:defRPr>
            </a:lvl8pPr>
            <a:lvl9pPr marL="2286000" indent="228600" defTabSz="457200" eaLnBrk="0" fontAlgn="base" hangingPunct="0">
              <a:spcBef>
                <a:spcPct val="0"/>
              </a:spcBef>
              <a:spcAft>
                <a:spcPct val="0"/>
              </a:spcAft>
              <a:buClr>
                <a:schemeClr val="tx2"/>
              </a:buClr>
              <a:buFont typeface="Lucida Grande" charset="0"/>
              <a:buChar char="-"/>
              <a:defRPr sz="2000">
                <a:solidFill>
                  <a:schemeClr val="tx2"/>
                </a:solidFill>
                <a:latin typeface="Arial" panose="020B0604020202020204" pitchFamily="34" charset="0"/>
                <a:ea typeface="ＭＳ Ｐゴシック" panose="020B0600070205080204" pitchFamily="34" charset="-128"/>
                <a:cs typeface="L Frutiger Light"/>
              </a:defRPr>
            </a:lvl9pPr>
          </a:lstStyle>
          <a:p>
            <a:pPr>
              <a:buNone/>
            </a:pPr>
            <a:r>
              <a:rPr lang="en-US" sz="900">
                <a:solidFill>
                  <a:schemeClr val="bg1"/>
                </a:solidFill>
                <a:latin typeface="Arial"/>
                <a:ea typeface="ＭＳ Ｐゴシック"/>
              </a:rPr>
              <a:t>Low proportion of</a:t>
            </a:r>
            <a:endParaRPr lang="en-US">
              <a:solidFill>
                <a:schemeClr val="bg1"/>
              </a:solidFill>
            </a:endParaRPr>
          </a:p>
          <a:p>
            <a:pPr>
              <a:buNone/>
            </a:pPr>
            <a:r>
              <a:rPr lang="en-US" sz="900">
                <a:solidFill>
                  <a:schemeClr val="bg1"/>
                </a:solidFill>
                <a:latin typeface="Arial"/>
                <a:ea typeface="ＭＳ Ｐゴシック"/>
              </a:rPr>
              <a:t>contrast-enhanced</a:t>
            </a:r>
            <a:endParaRPr lang="en-US">
              <a:solidFill>
                <a:schemeClr val="bg1"/>
              </a:solidFill>
            </a:endParaRPr>
          </a:p>
          <a:p>
            <a:pPr>
              <a:buNone/>
            </a:pPr>
            <a:r>
              <a:rPr lang="en-US" sz="900">
                <a:solidFill>
                  <a:schemeClr val="bg1"/>
                </a:solidFill>
                <a:latin typeface="Arial"/>
                <a:ea typeface="ＭＳ Ｐゴシック"/>
              </a:rPr>
              <a:t>MRIs performed in</a:t>
            </a:r>
          </a:p>
          <a:p>
            <a:pPr>
              <a:buNone/>
            </a:pPr>
            <a:r>
              <a:rPr lang="en-US" sz="900">
                <a:solidFill>
                  <a:schemeClr val="bg1"/>
                </a:solidFill>
                <a:latin typeface="Arial"/>
                <a:ea typeface="ＭＳ Ｐゴシック"/>
              </a:rPr>
              <a:t>CKD 4 patients with </a:t>
            </a:r>
          </a:p>
          <a:p>
            <a:pPr>
              <a:buNone/>
            </a:pPr>
            <a:r>
              <a:rPr lang="en-US" sz="900">
                <a:solidFill>
                  <a:schemeClr val="bg1"/>
                </a:solidFill>
                <a:latin typeface="Arial"/>
                <a:ea typeface="ＭＳ Ｐゴシック"/>
              </a:rPr>
              <a:t>indications requiring</a:t>
            </a:r>
          </a:p>
          <a:p>
            <a:pPr>
              <a:buNone/>
            </a:pPr>
            <a:r>
              <a:rPr lang="en-US" sz="900">
                <a:solidFill>
                  <a:schemeClr val="bg1"/>
                </a:solidFill>
                <a:latin typeface="Arial"/>
                <a:ea typeface="ＭＳ Ｐゴシック"/>
              </a:rPr>
              <a:t>IV contrast</a:t>
            </a:r>
          </a:p>
        </p:txBody>
      </p:sp>
      <p:sp>
        <p:nvSpPr>
          <p:cNvPr id="49" name="AutoShape 12">
            <a:extLst>
              <a:ext uri="{FF2B5EF4-FFF2-40B4-BE49-F238E27FC236}">
                <a16:creationId xmlns:a16="http://schemas.microsoft.com/office/drawing/2014/main" id="{9E5FC1AD-3968-5FDB-365C-9BB6E7731C00}"/>
              </a:ext>
            </a:extLst>
          </p:cNvPr>
          <p:cNvSpPr>
            <a:spLocks noChangeArrowheads="1"/>
          </p:cNvSpPr>
          <p:nvPr/>
        </p:nvSpPr>
        <p:spPr bwMode="auto">
          <a:xfrm>
            <a:off x="315333" y="3593888"/>
            <a:ext cx="725487" cy="1006475"/>
          </a:xfrm>
          <a:prstGeom prst="chevron">
            <a:avLst>
              <a:gd name="adj" fmla="val 25000"/>
            </a:avLst>
          </a:prstGeom>
          <a:solidFill>
            <a:schemeClr val="accent1"/>
          </a:solidFill>
          <a:ln>
            <a:noFill/>
          </a:ln>
          <a:effectLst>
            <a:outerShdw dist="35921" dir="2700000" algn="ctr" rotWithShape="0">
              <a:srgbClr val="EAEAEA"/>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defRPr/>
            </a:pPr>
            <a:endParaRPr lang="en-US">
              <a:latin typeface="Arial" charset="0"/>
              <a:cs typeface="ＭＳ Ｐゴシック" charset="-128"/>
            </a:endParaRPr>
          </a:p>
        </p:txBody>
      </p:sp>
      <p:sp>
        <p:nvSpPr>
          <p:cNvPr id="50" name="Line 134">
            <a:extLst>
              <a:ext uri="{FF2B5EF4-FFF2-40B4-BE49-F238E27FC236}">
                <a16:creationId xmlns:a16="http://schemas.microsoft.com/office/drawing/2014/main" id="{0CA138C5-E1E3-710B-4E96-276C925628D3}"/>
              </a:ext>
            </a:extLst>
          </p:cNvPr>
          <p:cNvSpPr>
            <a:spLocks noChangeShapeType="1"/>
          </p:cNvSpPr>
          <p:nvPr/>
        </p:nvSpPr>
        <p:spPr bwMode="auto">
          <a:xfrm flipH="1" flipV="1">
            <a:off x="2725954" y="2260162"/>
            <a:ext cx="66357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n-US"/>
          </a:p>
        </p:txBody>
      </p:sp>
      <p:sp>
        <p:nvSpPr>
          <p:cNvPr id="51" name="Line 135">
            <a:extLst>
              <a:ext uri="{FF2B5EF4-FFF2-40B4-BE49-F238E27FC236}">
                <a16:creationId xmlns:a16="http://schemas.microsoft.com/office/drawing/2014/main" id="{48B45E15-E151-1AC1-40CA-B432068D58D3}"/>
              </a:ext>
            </a:extLst>
          </p:cNvPr>
          <p:cNvSpPr>
            <a:spLocks noChangeShapeType="1"/>
          </p:cNvSpPr>
          <p:nvPr/>
        </p:nvSpPr>
        <p:spPr bwMode="auto">
          <a:xfrm flipH="1">
            <a:off x="2939406" y="1664852"/>
            <a:ext cx="237563" cy="59224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n-US"/>
          </a:p>
        </p:txBody>
      </p:sp>
      <p:sp>
        <p:nvSpPr>
          <p:cNvPr id="52" name="Line 138">
            <a:extLst>
              <a:ext uri="{FF2B5EF4-FFF2-40B4-BE49-F238E27FC236}">
                <a16:creationId xmlns:a16="http://schemas.microsoft.com/office/drawing/2014/main" id="{AE6461CF-4A74-C380-EA7D-F41CC6AA7AA6}"/>
              </a:ext>
            </a:extLst>
          </p:cNvPr>
          <p:cNvSpPr>
            <a:spLocks noChangeShapeType="1"/>
          </p:cNvSpPr>
          <p:nvPr/>
        </p:nvSpPr>
        <p:spPr bwMode="auto">
          <a:xfrm>
            <a:off x="2447687" y="2970962"/>
            <a:ext cx="936322" cy="45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n-US"/>
          </a:p>
        </p:txBody>
      </p:sp>
      <p:sp>
        <p:nvSpPr>
          <p:cNvPr id="53" name="Line 139">
            <a:extLst>
              <a:ext uri="{FF2B5EF4-FFF2-40B4-BE49-F238E27FC236}">
                <a16:creationId xmlns:a16="http://schemas.microsoft.com/office/drawing/2014/main" id="{C945A8FD-A702-B260-A890-1F8814B09B38}"/>
              </a:ext>
            </a:extLst>
          </p:cNvPr>
          <p:cNvSpPr>
            <a:spLocks noChangeShapeType="1"/>
          </p:cNvSpPr>
          <p:nvPr/>
        </p:nvSpPr>
        <p:spPr bwMode="auto">
          <a:xfrm>
            <a:off x="1725702" y="1935371"/>
            <a:ext cx="1143023" cy="103666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n-US"/>
          </a:p>
        </p:txBody>
      </p:sp>
      <p:sp>
        <p:nvSpPr>
          <p:cNvPr id="54" name="Text Box 150">
            <a:extLst>
              <a:ext uri="{FF2B5EF4-FFF2-40B4-BE49-F238E27FC236}">
                <a16:creationId xmlns:a16="http://schemas.microsoft.com/office/drawing/2014/main" id="{074071E5-5E7F-30E8-83E6-7A8CF3183EB8}"/>
              </a:ext>
            </a:extLst>
          </p:cNvPr>
          <p:cNvSpPr txBox="1">
            <a:spLocks noChangeArrowheads="1"/>
          </p:cNvSpPr>
          <p:nvPr/>
        </p:nvSpPr>
        <p:spPr bwMode="auto">
          <a:xfrm>
            <a:off x="1642056" y="1633427"/>
            <a:ext cx="1584325" cy="338554"/>
          </a:xfrm>
          <a:prstGeom prst="rect">
            <a:avLst/>
          </a:prstGeom>
          <a:noFill/>
          <a:ln>
            <a:noFill/>
          </a:ln>
          <a:effectLst>
            <a:outerShdw dist="107763" dir="2700000" algn="ctr" rotWithShape="0">
              <a:schemeClr val="bg2">
                <a:alpha val="50000"/>
              </a:scheme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buChar char="•"/>
              <a:defRPr sz="3200">
                <a:solidFill>
                  <a:schemeClr val="tx2"/>
                </a:solidFill>
                <a:latin typeface="Arial" panose="020B0604020202020204" pitchFamily="34" charset="0"/>
                <a:ea typeface="ＭＳ Ｐゴシック" panose="020B0600070205080204" pitchFamily="34" charset="-128"/>
                <a:cs typeface="B Frutiger Bold"/>
              </a:defRPr>
            </a:lvl1pPr>
            <a:lvl2pPr marL="37931725" indent="-37474525">
              <a:buClr>
                <a:schemeClr val="tx2"/>
              </a:buClr>
              <a:buChar char="–"/>
              <a:defRPr sz="2800">
                <a:solidFill>
                  <a:schemeClr val="tx2"/>
                </a:solidFill>
                <a:latin typeface="Arial" panose="020B0604020202020204" pitchFamily="34" charset="0"/>
                <a:ea typeface="ＭＳ Ｐゴシック" panose="020B0600070205080204" pitchFamily="34" charset="-128"/>
                <a:cs typeface="L Frutiger Light"/>
              </a:defRPr>
            </a:lvl2pPr>
            <a:lvl3pPr marL="1143000" indent="-914400">
              <a:buClr>
                <a:schemeClr val="tx2"/>
              </a:buClr>
              <a:buFont typeface="Lucida Grande" charset="0"/>
              <a:buChar char="-"/>
              <a:defRPr sz="2400">
                <a:solidFill>
                  <a:schemeClr val="tx2"/>
                </a:solidFill>
                <a:latin typeface="Arial" panose="020B0604020202020204" pitchFamily="34" charset="0"/>
                <a:ea typeface="ＭＳ Ｐゴシック" panose="020B0600070205080204" pitchFamily="34" charset="-128"/>
                <a:cs typeface="L Frutiger Light"/>
              </a:defRPr>
            </a:lvl3pPr>
            <a:lvl4pPr marL="228600" indent="228600">
              <a:buClr>
                <a:schemeClr val="tx2"/>
              </a:buClr>
              <a:buFont typeface="Lucida Grande" charset="0"/>
              <a:buChar char="-"/>
              <a:defRPr sz="2000">
                <a:solidFill>
                  <a:schemeClr val="tx2"/>
                </a:solidFill>
                <a:latin typeface="Arial" panose="020B0604020202020204" pitchFamily="34" charset="0"/>
                <a:ea typeface="ＭＳ Ｐゴシック" panose="020B0600070205080204" pitchFamily="34" charset="-128"/>
                <a:cs typeface="L Frutiger Light"/>
              </a:defRPr>
            </a:lvl4pPr>
            <a:lvl5pPr marL="457200" indent="228600">
              <a:buClr>
                <a:schemeClr val="tx2"/>
              </a:buClr>
              <a:buFont typeface="Lucida Grande" charset="0"/>
              <a:buChar char="-"/>
              <a:defRPr sz="2000">
                <a:solidFill>
                  <a:schemeClr val="tx2"/>
                </a:solidFill>
                <a:latin typeface="Arial" panose="020B0604020202020204" pitchFamily="34" charset="0"/>
                <a:ea typeface="ＭＳ Ｐゴシック" panose="020B0600070205080204" pitchFamily="34" charset="-128"/>
                <a:cs typeface="L Frutiger Light"/>
              </a:defRPr>
            </a:lvl5pPr>
            <a:lvl6pPr marL="914400" indent="228600" defTabSz="457200" eaLnBrk="0" fontAlgn="base" hangingPunct="0">
              <a:spcBef>
                <a:spcPct val="0"/>
              </a:spcBef>
              <a:spcAft>
                <a:spcPct val="0"/>
              </a:spcAft>
              <a:buClr>
                <a:schemeClr val="tx2"/>
              </a:buClr>
              <a:buFont typeface="Lucida Grande" charset="0"/>
              <a:buChar char="-"/>
              <a:defRPr sz="2000">
                <a:solidFill>
                  <a:schemeClr val="tx2"/>
                </a:solidFill>
                <a:latin typeface="Arial" panose="020B0604020202020204" pitchFamily="34" charset="0"/>
                <a:ea typeface="ＭＳ Ｐゴシック" panose="020B0600070205080204" pitchFamily="34" charset="-128"/>
                <a:cs typeface="L Frutiger Light"/>
              </a:defRPr>
            </a:lvl6pPr>
            <a:lvl7pPr marL="1371600" indent="228600" defTabSz="457200" eaLnBrk="0" fontAlgn="base" hangingPunct="0">
              <a:spcBef>
                <a:spcPct val="0"/>
              </a:spcBef>
              <a:spcAft>
                <a:spcPct val="0"/>
              </a:spcAft>
              <a:buClr>
                <a:schemeClr val="tx2"/>
              </a:buClr>
              <a:buFont typeface="Lucida Grande" charset="0"/>
              <a:buChar char="-"/>
              <a:defRPr sz="2000">
                <a:solidFill>
                  <a:schemeClr val="tx2"/>
                </a:solidFill>
                <a:latin typeface="Arial" panose="020B0604020202020204" pitchFamily="34" charset="0"/>
                <a:ea typeface="ＭＳ Ｐゴシック" panose="020B0600070205080204" pitchFamily="34" charset="-128"/>
                <a:cs typeface="L Frutiger Light"/>
              </a:defRPr>
            </a:lvl7pPr>
            <a:lvl8pPr marL="1828800" indent="228600" defTabSz="457200" eaLnBrk="0" fontAlgn="base" hangingPunct="0">
              <a:spcBef>
                <a:spcPct val="0"/>
              </a:spcBef>
              <a:spcAft>
                <a:spcPct val="0"/>
              </a:spcAft>
              <a:buClr>
                <a:schemeClr val="tx2"/>
              </a:buClr>
              <a:buFont typeface="Lucida Grande" charset="0"/>
              <a:buChar char="-"/>
              <a:defRPr sz="2000">
                <a:solidFill>
                  <a:schemeClr val="tx2"/>
                </a:solidFill>
                <a:latin typeface="Arial" panose="020B0604020202020204" pitchFamily="34" charset="0"/>
                <a:ea typeface="ＭＳ Ｐゴシック" panose="020B0600070205080204" pitchFamily="34" charset="-128"/>
                <a:cs typeface="L Frutiger Light"/>
              </a:defRPr>
            </a:lvl8pPr>
            <a:lvl9pPr marL="2286000" indent="228600" defTabSz="457200" eaLnBrk="0" fontAlgn="base" hangingPunct="0">
              <a:spcBef>
                <a:spcPct val="0"/>
              </a:spcBef>
              <a:spcAft>
                <a:spcPct val="0"/>
              </a:spcAft>
              <a:buClr>
                <a:schemeClr val="tx2"/>
              </a:buClr>
              <a:buFont typeface="Lucida Grande" charset="0"/>
              <a:buChar char="-"/>
              <a:defRPr sz="2000">
                <a:solidFill>
                  <a:schemeClr val="tx2"/>
                </a:solidFill>
                <a:latin typeface="Arial" panose="020B0604020202020204" pitchFamily="34" charset="0"/>
                <a:ea typeface="ＭＳ Ｐゴシック" panose="020B0600070205080204" pitchFamily="34" charset="-128"/>
                <a:cs typeface="L Frutiger Light"/>
              </a:defRPr>
            </a:lvl9pPr>
          </a:lstStyle>
          <a:p>
            <a:pPr algn="ctr" eaLnBrk="1" hangingPunct="1">
              <a:buFontTx/>
              <a:buNone/>
            </a:pPr>
            <a:r>
              <a:rPr lang="en-US" sz="1600" b="1">
                <a:solidFill>
                  <a:srgbClr val="7030A0"/>
                </a:solidFill>
              </a:rPr>
              <a:t>Staff</a:t>
            </a:r>
          </a:p>
        </p:txBody>
      </p:sp>
      <p:sp>
        <p:nvSpPr>
          <p:cNvPr id="55" name="Line 151">
            <a:extLst>
              <a:ext uri="{FF2B5EF4-FFF2-40B4-BE49-F238E27FC236}">
                <a16:creationId xmlns:a16="http://schemas.microsoft.com/office/drawing/2014/main" id="{45CE0703-10ED-86D3-7D45-AE7EA267D46D}"/>
              </a:ext>
            </a:extLst>
          </p:cNvPr>
          <p:cNvSpPr>
            <a:spLocks noChangeShapeType="1"/>
          </p:cNvSpPr>
          <p:nvPr/>
        </p:nvSpPr>
        <p:spPr bwMode="auto">
          <a:xfrm>
            <a:off x="6776826" y="1464779"/>
            <a:ext cx="2585182" cy="2525524"/>
          </a:xfrm>
          <a:prstGeom prst="line">
            <a:avLst/>
          </a:prstGeom>
          <a:noFill/>
          <a:ln w="28575">
            <a:solidFill>
              <a:srgbClr val="FF6600"/>
            </a:solidFill>
            <a:round/>
            <a:headEnd/>
            <a:tailEnd/>
          </a:ln>
          <a:effectLst>
            <a:outerShdw dist="35921" dir="2700000" algn="ctr" rotWithShape="0">
              <a:srgbClr val="EAEAEA"/>
            </a:outerShdw>
          </a:effectLst>
          <a:extLst>
            <a:ext uri="{909E8E84-426E-40DD-AFC4-6F175D3DCCD1}">
              <a14:hiddenFill xmlns:a14="http://schemas.microsoft.com/office/drawing/2010/main">
                <a:noFill/>
              </a14:hiddenFill>
            </a:ext>
          </a:extLst>
        </p:spPr>
        <p:txBody>
          <a:bodyPr/>
          <a:lstStyle/>
          <a:p>
            <a:endParaRPr lang="en-US"/>
          </a:p>
        </p:txBody>
      </p:sp>
      <p:sp>
        <p:nvSpPr>
          <p:cNvPr id="56" name="Line 152">
            <a:extLst>
              <a:ext uri="{FF2B5EF4-FFF2-40B4-BE49-F238E27FC236}">
                <a16:creationId xmlns:a16="http://schemas.microsoft.com/office/drawing/2014/main" id="{06781245-7E59-8230-B70E-9ED86FCE0B66}"/>
              </a:ext>
            </a:extLst>
          </p:cNvPr>
          <p:cNvSpPr>
            <a:spLocks noChangeShapeType="1"/>
          </p:cNvSpPr>
          <p:nvPr/>
        </p:nvSpPr>
        <p:spPr bwMode="auto">
          <a:xfrm>
            <a:off x="2463800" y="2024479"/>
            <a:ext cx="2000250" cy="2016125"/>
          </a:xfrm>
          <a:prstGeom prst="line">
            <a:avLst/>
          </a:prstGeom>
          <a:noFill/>
          <a:ln w="28575">
            <a:solidFill>
              <a:srgbClr val="7030A0"/>
            </a:solidFill>
            <a:round/>
            <a:headEnd/>
            <a:tailEnd/>
          </a:ln>
          <a:effectLst>
            <a:outerShdw dist="35921" dir="2700000" algn="ctr" rotWithShape="0">
              <a:srgbClr val="EAEAEA"/>
            </a:outerShdw>
          </a:effectLst>
          <a:extLst>
            <a:ext uri="{909E8E84-426E-40DD-AFC4-6F175D3DCCD1}">
              <a14:hiddenFill xmlns:a14="http://schemas.microsoft.com/office/drawing/2010/main">
                <a:noFill/>
              </a14:hiddenFill>
            </a:ext>
          </a:extLst>
        </p:spPr>
        <p:txBody>
          <a:bodyPr/>
          <a:lstStyle/>
          <a:p>
            <a:endParaRPr lang="en-US">
              <a:solidFill>
                <a:srgbClr val="7030A0"/>
              </a:solidFill>
            </a:endParaRPr>
          </a:p>
        </p:txBody>
      </p:sp>
      <p:sp>
        <p:nvSpPr>
          <p:cNvPr id="57" name="Line 180">
            <a:extLst>
              <a:ext uri="{FF2B5EF4-FFF2-40B4-BE49-F238E27FC236}">
                <a16:creationId xmlns:a16="http://schemas.microsoft.com/office/drawing/2014/main" id="{F17E42BA-78D6-D4FC-D27F-32BAA94A47D7}"/>
              </a:ext>
            </a:extLst>
          </p:cNvPr>
          <p:cNvSpPr>
            <a:spLocks noChangeShapeType="1"/>
          </p:cNvSpPr>
          <p:nvPr/>
        </p:nvSpPr>
        <p:spPr bwMode="auto">
          <a:xfrm flipV="1">
            <a:off x="903394" y="4323361"/>
            <a:ext cx="1991756" cy="1939490"/>
          </a:xfrm>
          <a:prstGeom prst="line">
            <a:avLst/>
          </a:prstGeom>
          <a:noFill/>
          <a:ln w="28575">
            <a:solidFill>
              <a:schemeClr val="accent1"/>
            </a:solidFill>
            <a:round/>
            <a:headEnd/>
            <a:tailEnd/>
          </a:ln>
          <a:effectLst>
            <a:outerShdw dist="35921" dir="2700000" algn="ctr" rotWithShape="0">
              <a:srgbClr val="EAEAEA"/>
            </a:outerShdw>
          </a:effectLst>
          <a:extLst>
            <a:ext uri="{909E8E84-426E-40DD-AFC4-6F175D3DCCD1}">
              <a14:hiddenFill xmlns:a14="http://schemas.microsoft.com/office/drawing/2010/main">
                <a:noFill/>
              </a14:hiddenFill>
            </a:ext>
          </a:extLst>
        </p:spPr>
        <p:txBody>
          <a:bodyPr/>
          <a:lstStyle/>
          <a:p>
            <a:endParaRPr lang="en-US">
              <a:solidFill>
                <a:schemeClr val="accent1"/>
              </a:solidFill>
            </a:endParaRPr>
          </a:p>
        </p:txBody>
      </p:sp>
      <p:sp>
        <p:nvSpPr>
          <p:cNvPr id="58" name="Line 181">
            <a:extLst>
              <a:ext uri="{FF2B5EF4-FFF2-40B4-BE49-F238E27FC236}">
                <a16:creationId xmlns:a16="http://schemas.microsoft.com/office/drawing/2014/main" id="{D2FC663D-1DDB-3D91-DA1F-BC63395CDEA8}"/>
              </a:ext>
            </a:extLst>
          </p:cNvPr>
          <p:cNvSpPr>
            <a:spLocks noChangeShapeType="1"/>
          </p:cNvSpPr>
          <p:nvPr/>
        </p:nvSpPr>
        <p:spPr bwMode="auto">
          <a:xfrm flipV="1">
            <a:off x="6794638" y="4335715"/>
            <a:ext cx="1701650" cy="2088106"/>
          </a:xfrm>
          <a:prstGeom prst="line">
            <a:avLst/>
          </a:prstGeom>
          <a:noFill/>
          <a:ln w="28575">
            <a:solidFill>
              <a:schemeClr val="accent6"/>
            </a:solidFill>
            <a:round/>
            <a:headEnd/>
            <a:tailEnd/>
          </a:ln>
          <a:effectLst>
            <a:outerShdw dist="35921" dir="2700000" algn="ctr" rotWithShape="0">
              <a:srgbClr val="EAEAEA"/>
            </a:outerShdw>
          </a:effectLst>
          <a:extLst>
            <a:ext uri="{909E8E84-426E-40DD-AFC4-6F175D3DCCD1}">
              <a14:hiddenFill xmlns:a14="http://schemas.microsoft.com/office/drawing/2010/main">
                <a:noFill/>
              </a14:hiddenFill>
            </a:ext>
          </a:extLst>
        </p:spPr>
        <p:txBody>
          <a:bodyPr/>
          <a:lstStyle/>
          <a:p>
            <a:endParaRPr lang="en-US">
              <a:solidFill>
                <a:schemeClr val="accent6"/>
              </a:solidFill>
            </a:endParaRPr>
          </a:p>
        </p:txBody>
      </p:sp>
      <p:sp>
        <p:nvSpPr>
          <p:cNvPr id="59" name="Line 206">
            <a:extLst>
              <a:ext uri="{FF2B5EF4-FFF2-40B4-BE49-F238E27FC236}">
                <a16:creationId xmlns:a16="http://schemas.microsoft.com/office/drawing/2014/main" id="{AACD3385-79F7-AA15-8E75-34F3F95D0E87}"/>
              </a:ext>
            </a:extLst>
          </p:cNvPr>
          <p:cNvSpPr>
            <a:spLocks noChangeShapeType="1"/>
          </p:cNvSpPr>
          <p:nvPr/>
        </p:nvSpPr>
        <p:spPr bwMode="auto">
          <a:xfrm flipV="1">
            <a:off x="5255660" y="5332889"/>
            <a:ext cx="2385428" cy="112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n-US"/>
          </a:p>
        </p:txBody>
      </p:sp>
      <p:sp>
        <p:nvSpPr>
          <p:cNvPr id="60" name="Text Box 221">
            <a:extLst>
              <a:ext uri="{FF2B5EF4-FFF2-40B4-BE49-F238E27FC236}">
                <a16:creationId xmlns:a16="http://schemas.microsoft.com/office/drawing/2014/main" id="{73A92615-856C-3CAE-9EC1-2B68B07F19C0}"/>
              </a:ext>
            </a:extLst>
          </p:cNvPr>
          <p:cNvSpPr txBox="1">
            <a:spLocks noChangeArrowheads="1"/>
          </p:cNvSpPr>
          <p:nvPr/>
        </p:nvSpPr>
        <p:spPr bwMode="auto">
          <a:xfrm>
            <a:off x="6009110" y="1103326"/>
            <a:ext cx="1584325" cy="581025"/>
          </a:xfrm>
          <a:prstGeom prst="rect">
            <a:avLst/>
          </a:prstGeom>
          <a:noFill/>
          <a:ln>
            <a:noFill/>
          </a:ln>
          <a:effectLst>
            <a:outerShdw dist="107763" dir="2700000" algn="ctr" rotWithShape="0">
              <a:schemeClr val="bg2">
                <a:alpha val="50000"/>
              </a:scheme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buChar char="•"/>
              <a:defRPr sz="3200">
                <a:solidFill>
                  <a:schemeClr val="tx2"/>
                </a:solidFill>
                <a:latin typeface="Arial" panose="020B0604020202020204" pitchFamily="34" charset="0"/>
                <a:ea typeface="ＭＳ Ｐゴシック" panose="020B0600070205080204" pitchFamily="34" charset="-128"/>
                <a:cs typeface="B Frutiger Bold"/>
              </a:defRPr>
            </a:lvl1pPr>
            <a:lvl2pPr marL="37931725" indent="-37474525">
              <a:buClr>
                <a:schemeClr val="tx2"/>
              </a:buClr>
              <a:buChar char="–"/>
              <a:defRPr sz="2800">
                <a:solidFill>
                  <a:schemeClr val="tx2"/>
                </a:solidFill>
                <a:latin typeface="Arial" panose="020B0604020202020204" pitchFamily="34" charset="0"/>
                <a:ea typeface="ＭＳ Ｐゴシック" panose="020B0600070205080204" pitchFamily="34" charset="-128"/>
                <a:cs typeface="L Frutiger Light"/>
              </a:defRPr>
            </a:lvl2pPr>
            <a:lvl3pPr marL="1143000" indent="-914400">
              <a:buClr>
                <a:schemeClr val="tx2"/>
              </a:buClr>
              <a:buFont typeface="Lucida Grande" charset="0"/>
              <a:buChar char="-"/>
              <a:defRPr sz="2400">
                <a:solidFill>
                  <a:schemeClr val="tx2"/>
                </a:solidFill>
                <a:latin typeface="Arial" panose="020B0604020202020204" pitchFamily="34" charset="0"/>
                <a:ea typeface="ＭＳ Ｐゴシック" panose="020B0600070205080204" pitchFamily="34" charset="-128"/>
                <a:cs typeface="L Frutiger Light"/>
              </a:defRPr>
            </a:lvl3pPr>
            <a:lvl4pPr marL="228600" indent="228600">
              <a:buClr>
                <a:schemeClr val="tx2"/>
              </a:buClr>
              <a:buFont typeface="Lucida Grande" charset="0"/>
              <a:buChar char="-"/>
              <a:defRPr sz="2000">
                <a:solidFill>
                  <a:schemeClr val="tx2"/>
                </a:solidFill>
                <a:latin typeface="Arial" panose="020B0604020202020204" pitchFamily="34" charset="0"/>
                <a:ea typeface="ＭＳ Ｐゴシック" panose="020B0600070205080204" pitchFamily="34" charset="-128"/>
                <a:cs typeface="L Frutiger Light"/>
              </a:defRPr>
            </a:lvl4pPr>
            <a:lvl5pPr marL="457200" indent="228600">
              <a:buClr>
                <a:schemeClr val="tx2"/>
              </a:buClr>
              <a:buFont typeface="Lucida Grande" charset="0"/>
              <a:buChar char="-"/>
              <a:defRPr sz="2000">
                <a:solidFill>
                  <a:schemeClr val="tx2"/>
                </a:solidFill>
                <a:latin typeface="Arial" panose="020B0604020202020204" pitchFamily="34" charset="0"/>
                <a:ea typeface="ＭＳ Ｐゴシック" panose="020B0600070205080204" pitchFamily="34" charset="-128"/>
                <a:cs typeface="L Frutiger Light"/>
              </a:defRPr>
            </a:lvl5pPr>
            <a:lvl6pPr marL="914400" indent="228600" defTabSz="457200" eaLnBrk="0" fontAlgn="base" hangingPunct="0">
              <a:spcBef>
                <a:spcPct val="0"/>
              </a:spcBef>
              <a:spcAft>
                <a:spcPct val="0"/>
              </a:spcAft>
              <a:buClr>
                <a:schemeClr val="tx2"/>
              </a:buClr>
              <a:buFont typeface="Lucida Grande" charset="0"/>
              <a:buChar char="-"/>
              <a:defRPr sz="2000">
                <a:solidFill>
                  <a:schemeClr val="tx2"/>
                </a:solidFill>
                <a:latin typeface="Arial" panose="020B0604020202020204" pitchFamily="34" charset="0"/>
                <a:ea typeface="ＭＳ Ｐゴシック" panose="020B0600070205080204" pitchFamily="34" charset="-128"/>
                <a:cs typeface="L Frutiger Light"/>
              </a:defRPr>
            </a:lvl6pPr>
            <a:lvl7pPr marL="1371600" indent="228600" defTabSz="457200" eaLnBrk="0" fontAlgn="base" hangingPunct="0">
              <a:spcBef>
                <a:spcPct val="0"/>
              </a:spcBef>
              <a:spcAft>
                <a:spcPct val="0"/>
              </a:spcAft>
              <a:buClr>
                <a:schemeClr val="tx2"/>
              </a:buClr>
              <a:buFont typeface="Lucida Grande" charset="0"/>
              <a:buChar char="-"/>
              <a:defRPr sz="2000">
                <a:solidFill>
                  <a:schemeClr val="tx2"/>
                </a:solidFill>
                <a:latin typeface="Arial" panose="020B0604020202020204" pitchFamily="34" charset="0"/>
                <a:ea typeface="ＭＳ Ｐゴシック" panose="020B0600070205080204" pitchFamily="34" charset="-128"/>
                <a:cs typeface="L Frutiger Light"/>
              </a:defRPr>
            </a:lvl7pPr>
            <a:lvl8pPr marL="1828800" indent="228600" defTabSz="457200" eaLnBrk="0" fontAlgn="base" hangingPunct="0">
              <a:spcBef>
                <a:spcPct val="0"/>
              </a:spcBef>
              <a:spcAft>
                <a:spcPct val="0"/>
              </a:spcAft>
              <a:buClr>
                <a:schemeClr val="tx2"/>
              </a:buClr>
              <a:buFont typeface="Lucida Grande" charset="0"/>
              <a:buChar char="-"/>
              <a:defRPr sz="2000">
                <a:solidFill>
                  <a:schemeClr val="tx2"/>
                </a:solidFill>
                <a:latin typeface="Arial" panose="020B0604020202020204" pitchFamily="34" charset="0"/>
                <a:ea typeface="ＭＳ Ｐゴシック" panose="020B0600070205080204" pitchFamily="34" charset="-128"/>
                <a:cs typeface="L Frutiger Light"/>
              </a:defRPr>
            </a:lvl8pPr>
            <a:lvl9pPr marL="2286000" indent="228600" defTabSz="457200" eaLnBrk="0" fontAlgn="base" hangingPunct="0">
              <a:spcBef>
                <a:spcPct val="0"/>
              </a:spcBef>
              <a:spcAft>
                <a:spcPct val="0"/>
              </a:spcAft>
              <a:buClr>
                <a:schemeClr val="tx2"/>
              </a:buClr>
              <a:buFont typeface="Lucida Grande" charset="0"/>
              <a:buChar char="-"/>
              <a:defRPr sz="2000">
                <a:solidFill>
                  <a:schemeClr val="tx2"/>
                </a:solidFill>
                <a:latin typeface="Arial" panose="020B0604020202020204" pitchFamily="34" charset="0"/>
                <a:ea typeface="ＭＳ Ｐゴシック" panose="020B0600070205080204" pitchFamily="34" charset="-128"/>
                <a:cs typeface="L Frutiger Light"/>
              </a:defRPr>
            </a:lvl9pPr>
          </a:lstStyle>
          <a:p>
            <a:pPr algn="ctr" eaLnBrk="1" hangingPunct="1">
              <a:buFontTx/>
              <a:buNone/>
            </a:pPr>
            <a:r>
              <a:rPr lang="en-US" sz="1600" b="1">
                <a:solidFill>
                  <a:srgbClr val="FF6600"/>
                </a:solidFill>
              </a:rPr>
              <a:t>System</a:t>
            </a:r>
          </a:p>
          <a:p>
            <a:pPr algn="ctr" eaLnBrk="1" hangingPunct="1">
              <a:buFontTx/>
              <a:buNone/>
            </a:pPr>
            <a:endParaRPr lang="en-US" sz="1600" b="1">
              <a:solidFill>
                <a:srgbClr val="FF6600"/>
              </a:solidFill>
            </a:endParaRPr>
          </a:p>
        </p:txBody>
      </p:sp>
      <p:sp>
        <p:nvSpPr>
          <p:cNvPr id="61" name="TextBox 60">
            <a:extLst>
              <a:ext uri="{FF2B5EF4-FFF2-40B4-BE49-F238E27FC236}">
                <a16:creationId xmlns:a16="http://schemas.microsoft.com/office/drawing/2014/main" id="{34ECDF6A-E2CB-762C-C37C-F216FA82D752}"/>
              </a:ext>
            </a:extLst>
          </p:cNvPr>
          <p:cNvSpPr txBox="1"/>
          <p:nvPr/>
        </p:nvSpPr>
        <p:spPr>
          <a:xfrm>
            <a:off x="3146816" y="2149966"/>
            <a:ext cx="1813328" cy="307777"/>
          </a:xfrm>
          <a:prstGeom prst="rect">
            <a:avLst/>
          </a:prstGeom>
          <a:noFill/>
        </p:spPr>
        <p:txBody>
          <a:bodyPr wrap="square" rtlCol="0">
            <a:spAutoFit/>
          </a:bodyPr>
          <a:lstStyle/>
          <a:p>
            <a:pPr algn="r"/>
            <a:r>
              <a:rPr lang="en-US" sz="700"/>
              <a:t>Referring clinicians facing difficulties in convincing their patients to agree to CE MRI</a:t>
            </a:r>
            <a:endParaRPr lang="en-SG" sz="700"/>
          </a:p>
        </p:txBody>
      </p:sp>
      <p:sp>
        <p:nvSpPr>
          <p:cNvPr id="62" name="Line 131">
            <a:extLst>
              <a:ext uri="{FF2B5EF4-FFF2-40B4-BE49-F238E27FC236}">
                <a16:creationId xmlns:a16="http://schemas.microsoft.com/office/drawing/2014/main" id="{28E9DC68-10F6-74BF-84F0-E1E1E20DE311}"/>
              </a:ext>
            </a:extLst>
          </p:cNvPr>
          <p:cNvSpPr>
            <a:spLocks noChangeShapeType="1"/>
          </p:cNvSpPr>
          <p:nvPr/>
        </p:nvSpPr>
        <p:spPr bwMode="auto">
          <a:xfrm flipH="1">
            <a:off x="3083142" y="1921641"/>
            <a:ext cx="278574" cy="7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n-US"/>
          </a:p>
        </p:txBody>
      </p:sp>
      <p:sp>
        <p:nvSpPr>
          <p:cNvPr id="63" name="TextBox 62">
            <a:extLst>
              <a:ext uri="{FF2B5EF4-FFF2-40B4-BE49-F238E27FC236}">
                <a16:creationId xmlns:a16="http://schemas.microsoft.com/office/drawing/2014/main" id="{5E02FA4B-AB16-89C0-0B2A-6870C51FC3AB}"/>
              </a:ext>
            </a:extLst>
          </p:cNvPr>
          <p:cNvSpPr txBox="1"/>
          <p:nvPr/>
        </p:nvSpPr>
        <p:spPr>
          <a:xfrm>
            <a:off x="1319465" y="2758408"/>
            <a:ext cx="1199521" cy="415498"/>
          </a:xfrm>
          <a:prstGeom prst="rect">
            <a:avLst/>
          </a:prstGeom>
          <a:noFill/>
        </p:spPr>
        <p:txBody>
          <a:bodyPr wrap="square" rtlCol="0">
            <a:spAutoFit/>
          </a:bodyPr>
          <a:lstStyle/>
          <a:p>
            <a:r>
              <a:rPr lang="en-SG" sz="700"/>
              <a:t>Referring clinicians not aware that NUH is allowing CE MRI for CKD 4 patients </a:t>
            </a:r>
          </a:p>
        </p:txBody>
      </p:sp>
      <p:sp>
        <p:nvSpPr>
          <p:cNvPr id="64" name="TextBox 63">
            <a:extLst>
              <a:ext uri="{FF2B5EF4-FFF2-40B4-BE49-F238E27FC236}">
                <a16:creationId xmlns:a16="http://schemas.microsoft.com/office/drawing/2014/main" id="{4ED10A4F-D550-33B9-CA14-01CFC1ACD9D9}"/>
              </a:ext>
            </a:extLst>
          </p:cNvPr>
          <p:cNvSpPr txBox="1"/>
          <p:nvPr/>
        </p:nvSpPr>
        <p:spPr>
          <a:xfrm>
            <a:off x="2982057" y="1150154"/>
            <a:ext cx="1255643" cy="523220"/>
          </a:xfrm>
          <a:prstGeom prst="rect">
            <a:avLst/>
          </a:prstGeom>
          <a:noFill/>
        </p:spPr>
        <p:txBody>
          <a:bodyPr wrap="square" rtlCol="0">
            <a:spAutoFit/>
          </a:bodyPr>
          <a:lstStyle/>
          <a:p>
            <a:r>
              <a:rPr lang="en-US" sz="700"/>
              <a:t>Referring clinicians unaware of new safety data on current-generation GBCAs in CKD 4 patients</a:t>
            </a:r>
            <a:endParaRPr lang="en-SG" sz="700"/>
          </a:p>
        </p:txBody>
      </p:sp>
      <p:sp>
        <p:nvSpPr>
          <p:cNvPr id="65" name="Line 177">
            <a:extLst>
              <a:ext uri="{FF2B5EF4-FFF2-40B4-BE49-F238E27FC236}">
                <a16:creationId xmlns:a16="http://schemas.microsoft.com/office/drawing/2014/main" id="{BBE43161-EBC5-349E-875D-AAFF5B00A561}"/>
              </a:ext>
            </a:extLst>
          </p:cNvPr>
          <p:cNvSpPr>
            <a:spLocks noChangeShapeType="1"/>
          </p:cNvSpPr>
          <p:nvPr/>
        </p:nvSpPr>
        <p:spPr bwMode="auto">
          <a:xfrm flipH="1" flipV="1">
            <a:off x="4238381" y="3800845"/>
            <a:ext cx="508506"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n-US"/>
          </a:p>
        </p:txBody>
      </p:sp>
      <p:sp>
        <p:nvSpPr>
          <p:cNvPr id="66" name="Line 217">
            <a:extLst>
              <a:ext uri="{FF2B5EF4-FFF2-40B4-BE49-F238E27FC236}">
                <a16:creationId xmlns:a16="http://schemas.microsoft.com/office/drawing/2014/main" id="{49330D21-73DF-A5A9-3CEC-379B7AE3C7D0}"/>
              </a:ext>
            </a:extLst>
          </p:cNvPr>
          <p:cNvSpPr>
            <a:spLocks noChangeShapeType="1"/>
          </p:cNvSpPr>
          <p:nvPr/>
        </p:nvSpPr>
        <p:spPr bwMode="auto">
          <a:xfrm>
            <a:off x="3980919" y="2848795"/>
            <a:ext cx="404869" cy="95723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n-US"/>
          </a:p>
        </p:txBody>
      </p:sp>
      <p:sp>
        <p:nvSpPr>
          <p:cNvPr id="67" name="TextBox 66">
            <a:extLst>
              <a:ext uri="{FF2B5EF4-FFF2-40B4-BE49-F238E27FC236}">
                <a16:creationId xmlns:a16="http://schemas.microsoft.com/office/drawing/2014/main" id="{DE7842CE-E8A0-4459-81C3-B815D0B0B658}"/>
              </a:ext>
            </a:extLst>
          </p:cNvPr>
          <p:cNvSpPr txBox="1"/>
          <p:nvPr/>
        </p:nvSpPr>
        <p:spPr>
          <a:xfrm>
            <a:off x="4680974" y="3649346"/>
            <a:ext cx="837432" cy="307777"/>
          </a:xfrm>
          <a:prstGeom prst="rect">
            <a:avLst/>
          </a:prstGeom>
          <a:noFill/>
        </p:spPr>
        <p:txBody>
          <a:bodyPr wrap="square" rtlCol="0">
            <a:spAutoFit/>
          </a:bodyPr>
          <a:lstStyle/>
          <a:p>
            <a:r>
              <a:rPr lang="en-SG" sz="700"/>
              <a:t>Fear of causing harm to patient </a:t>
            </a:r>
          </a:p>
        </p:txBody>
      </p:sp>
      <p:sp>
        <p:nvSpPr>
          <p:cNvPr id="68" name="Line 177">
            <a:extLst>
              <a:ext uri="{FF2B5EF4-FFF2-40B4-BE49-F238E27FC236}">
                <a16:creationId xmlns:a16="http://schemas.microsoft.com/office/drawing/2014/main" id="{374F43E5-49E5-9EE4-BB92-6FACDF2C03BB}"/>
              </a:ext>
            </a:extLst>
          </p:cNvPr>
          <p:cNvSpPr>
            <a:spLocks noChangeShapeType="1"/>
          </p:cNvSpPr>
          <p:nvPr/>
        </p:nvSpPr>
        <p:spPr bwMode="auto">
          <a:xfrm flipH="1">
            <a:off x="4137231" y="3242121"/>
            <a:ext cx="385982" cy="114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n-US"/>
          </a:p>
        </p:txBody>
      </p:sp>
      <p:sp>
        <p:nvSpPr>
          <p:cNvPr id="69" name="Line 177">
            <a:extLst>
              <a:ext uri="{FF2B5EF4-FFF2-40B4-BE49-F238E27FC236}">
                <a16:creationId xmlns:a16="http://schemas.microsoft.com/office/drawing/2014/main" id="{6A83D6FA-5733-370C-D646-286C7ED14741}"/>
              </a:ext>
            </a:extLst>
          </p:cNvPr>
          <p:cNvSpPr>
            <a:spLocks noChangeShapeType="1"/>
          </p:cNvSpPr>
          <p:nvPr/>
        </p:nvSpPr>
        <p:spPr bwMode="auto">
          <a:xfrm flipH="1">
            <a:off x="7352629" y="5747498"/>
            <a:ext cx="1143659" cy="5649"/>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n-US"/>
          </a:p>
        </p:txBody>
      </p:sp>
      <p:sp>
        <p:nvSpPr>
          <p:cNvPr id="70" name="TextBox 69">
            <a:extLst>
              <a:ext uri="{FF2B5EF4-FFF2-40B4-BE49-F238E27FC236}">
                <a16:creationId xmlns:a16="http://schemas.microsoft.com/office/drawing/2014/main" id="{480C6A23-0138-07C1-8B38-26BCF16EE00C}"/>
              </a:ext>
            </a:extLst>
          </p:cNvPr>
          <p:cNvSpPr txBox="1"/>
          <p:nvPr/>
        </p:nvSpPr>
        <p:spPr>
          <a:xfrm>
            <a:off x="6070935" y="4720436"/>
            <a:ext cx="1232983" cy="415498"/>
          </a:xfrm>
          <a:prstGeom prst="rect">
            <a:avLst/>
          </a:prstGeom>
          <a:noFill/>
        </p:spPr>
        <p:txBody>
          <a:bodyPr wrap="square" rtlCol="0">
            <a:spAutoFit/>
          </a:bodyPr>
          <a:lstStyle/>
          <a:p>
            <a:r>
              <a:rPr lang="en-SG" sz="700"/>
              <a:t>No reminders about steps needed to arrange CE MRI for CKD 4 patient</a:t>
            </a:r>
          </a:p>
        </p:txBody>
      </p:sp>
      <p:sp>
        <p:nvSpPr>
          <p:cNvPr id="71" name="Line 209">
            <a:extLst>
              <a:ext uri="{FF2B5EF4-FFF2-40B4-BE49-F238E27FC236}">
                <a16:creationId xmlns:a16="http://schemas.microsoft.com/office/drawing/2014/main" id="{23EC3E2A-DF73-84DD-9971-17CA029FC951}"/>
              </a:ext>
            </a:extLst>
          </p:cNvPr>
          <p:cNvSpPr>
            <a:spLocks noChangeShapeType="1"/>
          </p:cNvSpPr>
          <p:nvPr/>
        </p:nvSpPr>
        <p:spPr bwMode="auto">
          <a:xfrm flipH="1">
            <a:off x="9726897" y="5047405"/>
            <a:ext cx="869968" cy="48621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n-US"/>
          </a:p>
        </p:txBody>
      </p:sp>
      <p:sp>
        <p:nvSpPr>
          <p:cNvPr id="72" name="Line 176">
            <a:extLst>
              <a:ext uri="{FF2B5EF4-FFF2-40B4-BE49-F238E27FC236}">
                <a16:creationId xmlns:a16="http://schemas.microsoft.com/office/drawing/2014/main" id="{E9A05B06-DA5B-F790-B898-DAEF6CFCFFAB}"/>
              </a:ext>
            </a:extLst>
          </p:cNvPr>
          <p:cNvSpPr>
            <a:spLocks noChangeShapeType="1"/>
          </p:cNvSpPr>
          <p:nvPr/>
        </p:nvSpPr>
        <p:spPr bwMode="auto">
          <a:xfrm flipH="1">
            <a:off x="7975950" y="5381137"/>
            <a:ext cx="361546" cy="37623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n-US"/>
          </a:p>
        </p:txBody>
      </p:sp>
      <p:sp>
        <p:nvSpPr>
          <p:cNvPr id="73" name="TextBox 72">
            <a:extLst>
              <a:ext uri="{FF2B5EF4-FFF2-40B4-BE49-F238E27FC236}">
                <a16:creationId xmlns:a16="http://schemas.microsoft.com/office/drawing/2014/main" id="{096E8D53-9AF9-F0A2-67FA-7E8A2B534E18}"/>
              </a:ext>
            </a:extLst>
          </p:cNvPr>
          <p:cNvSpPr txBox="1"/>
          <p:nvPr/>
        </p:nvSpPr>
        <p:spPr>
          <a:xfrm>
            <a:off x="8084219" y="5019447"/>
            <a:ext cx="1121731" cy="415498"/>
          </a:xfrm>
          <a:prstGeom prst="rect">
            <a:avLst/>
          </a:prstGeom>
          <a:noFill/>
        </p:spPr>
        <p:txBody>
          <a:bodyPr wrap="square" rtlCol="0">
            <a:spAutoFit/>
          </a:bodyPr>
          <a:lstStyle/>
          <a:p>
            <a:r>
              <a:rPr lang="en-SG" sz="700"/>
              <a:t>Referring clinicians unsure of whom to discuss case with</a:t>
            </a:r>
          </a:p>
        </p:txBody>
      </p:sp>
      <p:sp>
        <p:nvSpPr>
          <p:cNvPr id="74" name="Line 176">
            <a:extLst>
              <a:ext uri="{FF2B5EF4-FFF2-40B4-BE49-F238E27FC236}">
                <a16:creationId xmlns:a16="http://schemas.microsoft.com/office/drawing/2014/main" id="{34F5EF39-A293-91C8-6BC6-3BE393971916}"/>
              </a:ext>
            </a:extLst>
          </p:cNvPr>
          <p:cNvSpPr>
            <a:spLocks noChangeShapeType="1"/>
          </p:cNvSpPr>
          <p:nvPr/>
        </p:nvSpPr>
        <p:spPr bwMode="auto">
          <a:xfrm flipH="1">
            <a:off x="8190472" y="5540696"/>
            <a:ext cx="1808115" cy="49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n-US"/>
          </a:p>
        </p:txBody>
      </p:sp>
      <p:sp>
        <p:nvSpPr>
          <p:cNvPr id="80" name="TextBox 79">
            <a:extLst>
              <a:ext uri="{FF2B5EF4-FFF2-40B4-BE49-F238E27FC236}">
                <a16:creationId xmlns:a16="http://schemas.microsoft.com/office/drawing/2014/main" id="{5AF850EE-DF32-923A-E797-679ADDF472ED}"/>
              </a:ext>
            </a:extLst>
          </p:cNvPr>
          <p:cNvSpPr txBox="1"/>
          <p:nvPr/>
        </p:nvSpPr>
        <p:spPr>
          <a:xfrm>
            <a:off x="10010620" y="5341822"/>
            <a:ext cx="904353" cy="415498"/>
          </a:xfrm>
          <a:prstGeom prst="rect">
            <a:avLst/>
          </a:prstGeom>
          <a:noFill/>
        </p:spPr>
        <p:txBody>
          <a:bodyPr wrap="square" rtlCol="0">
            <a:spAutoFit/>
          </a:bodyPr>
          <a:lstStyle/>
          <a:p>
            <a:r>
              <a:rPr lang="en-SG" sz="700"/>
              <a:t>No clear designation of responsibilities</a:t>
            </a:r>
          </a:p>
        </p:txBody>
      </p:sp>
      <p:sp>
        <p:nvSpPr>
          <p:cNvPr id="81" name="TextBox 80">
            <a:extLst>
              <a:ext uri="{FF2B5EF4-FFF2-40B4-BE49-F238E27FC236}">
                <a16:creationId xmlns:a16="http://schemas.microsoft.com/office/drawing/2014/main" id="{CC8E661E-4EB3-A755-8650-0E6C8AFCF068}"/>
              </a:ext>
            </a:extLst>
          </p:cNvPr>
          <p:cNvSpPr txBox="1"/>
          <p:nvPr/>
        </p:nvSpPr>
        <p:spPr>
          <a:xfrm>
            <a:off x="10508258" y="4874618"/>
            <a:ext cx="958917" cy="200055"/>
          </a:xfrm>
          <a:prstGeom prst="rect">
            <a:avLst/>
          </a:prstGeom>
          <a:noFill/>
        </p:spPr>
        <p:txBody>
          <a:bodyPr wrap="none" rtlCol="0">
            <a:spAutoFit/>
          </a:bodyPr>
          <a:lstStyle/>
          <a:p>
            <a:r>
              <a:rPr lang="en-SG" sz="700">
                <a:solidFill>
                  <a:srgbClr val="92D050"/>
                </a:solidFill>
              </a:rPr>
              <a:t>No workflow in place</a:t>
            </a:r>
          </a:p>
        </p:txBody>
      </p:sp>
      <p:sp>
        <p:nvSpPr>
          <p:cNvPr id="82" name="Line 177">
            <a:extLst>
              <a:ext uri="{FF2B5EF4-FFF2-40B4-BE49-F238E27FC236}">
                <a16:creationId xmlns:a16="http://schemas.microsoft.com/office/drawing/2014/main" id="{8A67DF27-7FC2-FAC9-F134-21986B00CDE8}"/>
              </a:ext>
            </a:extLst>
          </p:cNvPr>
          <p:cNvSpPr>
            <a:spLocks noChangeShapeType="1"/>
          </p:cNvSpPr>
          <p:nvPr/>
        </p:nvSpPr>
        <p:spPr bwMode="auto">
          <a:xfrm flipH="1">
            <a:off x="6333974" y="5577278"/>
            <a:ext cx="308082" cy="632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n-US"/>
          </a:p>
        </p:txBody>
      </p:sp>
      <p:sp>
        <p:nvSpPr>
          <p:cNvPr id="83" name="Line 176">
            <a:extLst>
              <a:ext uri="{FF2B5EF4-FFF2-40B4-BE49-F238E27FC236}">
                <a16:creationId xmlns:a16="http://schemas.microsoft.com/office/drawing/2014/main" id="{A9FDDEE0-4A27-6FBD-4779-513916609F21}"/>
              </a:ext>
            </a:extLst>
          </p:cNvPr>
          <p:cNvSpPr>
            <a:spLocks noChangeShapeType="1"/>
          </p:cNvSpPr>
          <p:nvPr/>
        </p:nvSpPr>
        <p:spPr bwMode="auto">
          <a:xfrm flipV="1">
            <a:off x="6170374" y="5344917"/>
            <a:ext cx="362311" cy="41642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n-US"/>
          </a:p>
        </p:txBody>
      </p:sp>
      <p:sp>
        <p:nvSpPr>
          <p:cNvPr id="84" name="Line 206">
            <a:extLst>
              <a:ext uri="{FF2B5EF4-FFF2-40B4-BE49-F238E27FC236}">
                <a16:creationId xmlns:a16="http://schemas.microsoft.com/office/drawing/2014/main" id="{57AA3FE2-F92D-18E7-A21C-AF1608CA77DF}"/>
              </a:ext>
            </a:extLst>
          </p:cNvPr>
          <p:cNvSpPr>
            <a:spLocks noChangeShapeType="1"/>
          </p:cNvSpPr>
          <p:nvPr/>
        </p:nvSpPr>
        <p:spPr bwMode="auto">
          <a:xfrm>
            <a:off x="6867419" y="5003612"/>
            <a:ext cx="197270" cy="33313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n-US"/>
          </a:p>
        </p:txBody>
      </p:sp>
      <p:sp>
        <p:nvSpPr>
          <p:cNvPr id="85" name="Line 177">
            <a:extLst>
              <a:ext uri="{FF2B5EF4-FFF2-40B4-BE49-F238E27FC236}">
                <a16:creationId xmlns:a16="http://schemas.microsoft.com/office/drawing/2014/main" id="{A6BC8287-9BCC-1A78-5FE9-2612526A60A2}"/>
              </a:ext>
            </a:extLst>
          </p:cNvPr>
          <p:cNvSpPr>
            <a:spLocks noChangeShapeType="1"/>
          </p:cNvSpPr>
          <p:nvPr/>
        </p:nvSpPr>
        <p:spPr bwMode="auto">
          <a:xfrm flipH="1" flipV="1">
            <a:off x="6943052" y="5132242"/>
            <a:ext cx="24327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n-US"/>
          </a:p>
        </p:txBody>
      </p:sp>
      <p:sp>
        <p:nvSpPr>
          <p:cNvPr id="86" name="Line 139">
            <a:extLst>
              <a:ext uri="{FF2B5EF4-FFF2-40B4-BE49-F238E27FC236}">
                <a16:creationId xmlns:a16="http://schemas.microsoft.com/office/drawing/2014/main" id="{90F4360C-6C3E-C562-F37A-AE458816ED8B}"/>
              </a:ext>
            </a:extLst>
          </p:cNvPr>
          <p:cNvSpPr>
            <a:spLocks noChangeShapeType="1"/>
          </p:cNvSpPr>
          <p:nvPr/>
        </p:nvSpPr>
        <p:spPr bwMode="auto">
          <a:xfrm>
            <a:off x="1201504" y="2553206"/>
            <a:ext cx="1195284" cy="1279"/>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n-US"/>
          </a:p>
        </p:txBody>
      </p:sp>
      <p:sp>
        <p:nvSpPr>
          <p:cNvPr id="87" name="TextBox 86">
            <a:extLst>
              <a:ext uri="{FF2B5EF4-FFF2-40B4-BE49-F238E27FC236}">
                <a16:creationId xmlns:a16="http://schemas.microsoft.com/office/drawing/2014/main" id="{27C8142B-9E26-C85F-727F-94555412E981}"/>
              </a:ext>
            </a:extLst>
          </p:cNvPr>
          <p:cNvSpPr txBox="1"/>
          <p:nvPr/>
        </p:nvSpPr>
        <p:spPr>
          <a:xfrm>
            <a:off x="739777" y="1336571"/>
            <a:ext cx="1125344" cy="630942"/>
          </a:xfrm>
          <a:prstGeom prst="rect">
            <a:avLst/>
          </a:prstGeom>
          <a:noFill/>
        </p:spPr>
        <p:txBody>
          <a:bodyPr wrap="square" rtlCol="0">
            <a:spAutoFit/>
          </a:bodyPr>
          <a:lstStyle/>
          <a:p>
            <a:r>
              <a:rPr lang="en-SG" sz="700"/>
              <a:t>Referring clinicians unaware of benefits of CE MRI vs other imaging modalities they are more accustomed to ordering</a:t>
            </a:r>
          </a:p>
        </p:txBody>
      </p:sp>
      <p:sp>
        <p:nvSpPr>
          <p:cNvPr id="88" name="TextBox 87">
            <a:extLst>
              <a:ext uri="{FF2B5EF4-FFF2-40B4-BE49-F238E27FC236}">
                <a16:creationId xmlns:a16="http://schemas.microsoft.com/office/drawing/2014/main" id="{981BF091-E45A-CEA6-EB8B-1A9ED09F7EE5}"/>
              </a:ext>
            </a:extLst>
          </p:cNvPr>
          <p:cNvSpPr txBox="1"/>
          <p:nvPr/>
        </p:nvSpPr>
        <p:spPr>
          <a:xfrm>
            <a:off x="189763" y="2227367"/>
            <a:ext cx="1255643" cy="415498"/>
          </a:xfrm>
          <a:prstGeom prst="rect">
            <a:avLst/>
          </a:prstGeom>
          <a:noFill/>
        </p:spPr>
        <p:txBody>
          <a:bodyPr wrap="square" rtlCol="0">
            <a:spAutoFit/>
          </a:bodyPr>
          <a:lstStyle/>
          <a:p>
            <a:r>
              <a:rPr lang="en-US" sz="700"/>
              <a:t>Referring clinicians unaware of increased sensitivity of CE MRI vs unenhanced MRI</a:t>
            </a:r>
            <a:endParaRPr lang="en-SG" sz="700"/>
          </a:p>
        </p:txBody>
      </p:sp>
      <p:sp>
        <p:nvSpPr>
          <p:cNvPr id="89" name="Line 131">
            <a:extLst>
              <a:ext uri="{FF2B5EF4-FFF2-40B4-BE49-F238E27FC236}">
                <a16:creationId xmlns:a16="http://schemas.microsoft.com/office/drawing/2014/main" id="{E02B6712-7DB6-1782-7D1D-6E87F56329C6}"/>
              </a:ext>
            </a:extLst>
          </p:cNvPr>
          <p:cNvSpPr>
            <a:spLocks noChangeShapeType="1"/>
          </p:cNvSpPr>
          <p:nvPr/>
        </p:nvSpPr>
        <p:spPr bwMode="auto">
          <a:xfrm flipV="1">
            <a:off x="997547" y="2553206"/>
            <a:ext cx="454402" cy="41762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n-US"/>
          </a:p>
        </p:txBody>
      </p:sp>
      <p:sp>
        <p:nvSpPr>
          <p:cNvPr id="90" name="TextBox 89">
            <a:extLst>
              <a:ext uri="{FF2B5EF4-FFF2-40B4-BE49-F238E27FC236}">
                <a16:creationId xmlns:a16="http://schemas.microsoft.com/office/drawing/2014/main" id="{59FBD299-2E09-A15A-98AC-1716DB6E2539}"/>
              </a:ext>
            </a:extLst>
          </p:cNvPr>
          <p:cNvSpPr txBox="1"/>
          <p:nvPr/>
        </p:nvSpPr>
        <p:spPr>
          <a:xfrm>
            <a:off x="4549" y="2912296"/>
            <a:ext cx="1347057" cy="415498"/>
          </a:xfrm>
          <a:prstGeom prst="rect">
            <a:avLst/>
          </a:prstGeom>
          <a:noFill/>
        </p:spPr>
        <p:txBody>
          <a:bodyPr wrap="square" rtlCol="0">
            <a:spAutoFit/>
          </a:bodyPr>
          <a:lstStyle/>
          <a:p>
            <a:r>
              <a:rPr lang="en-US" sz="700">
                <a:solidFill>
                  <a:srgbClr val="7030A0"/>
                </a:solidFill>
              </a:rPr>
              <a:t>No discussion with radiologist and referring clinician on utility of IV contrast</a:t>
            </a:r>
            <a:endParaRPr lang="en-SG" sz="700">
              <a:solidFill>
                <a:srgbClr val="7030A0"/>
              </a:solidFill>
            </a:endParaRPr>
          </a:p>
        </p:txBody>
      </p:sp>
      <p:sp>
        <p:nvSpPr>
          <p:cNvPr id="91" name="TextBox 90">
            <a:extLst>
              <a:ext uri="{FF2B5EF4-FFF2-40B4-BE49-F238E27FC236}">
                <a16:creationId xmlns:a16="http://schemas.microsoft.com/office/drawing/2014/main" id="{3A38FCE1-8F16-E1FA-AE35-25B01A555FC3}"/>
              </a:ext>
            </a:extLst>
          </p:cNvPr>
          <p:cNvSpPr txBox="1"/>
          <p:nvPr/>
        </p:nvSpPr>
        <p:spPr>
          <a:xfrm>
            <a:off x="3416588" y="1803285"/>
            <a:ext cx="1631487" cy="307777"/>
          </a:xfrm>
          <a:prstGeom prst="rect">
            <a:avLst/>
          </a:prstGeom>
          <a:noFill/>
        </p:spPr>
        <p:txBody>
          <a:bodyPr wrap="square" lIns="91440" tIns="45720" rIns="91440" bIns="45720" rtlCol="0" anchor="t">
            <a:spAutoFit/>
          </a:bodyPr>
          <a:lstStyle/>
          <a:p>
            <a:r>
              <a:rPr lang="en-US" sz="700">
                <a:solidFill>
                  <a:srgbClr val="7030A0"/>
                </a:solidFill>
              </a:rPr>
              <a:t>No updates to doctors on new safety data</a:t>
            </a:r>
            <a:endParaRPr lang="en-SG" sz="700">
              <a:solidFill>
                <a:srgbClr val="7030A0"/>
              </a:solidFill>
            </a:endParaRPr>
          </a:p>
        </p:txBody>
      </p:sp>
      <p:sp>
        <p:nvSpPr>
          <p:cNvPr id="92" name="TextBox 91">
            <a:extLst>
              <a:ext uri="{FF2B5EF4-FFF2-40B4-BE49-F238E27FC236}">
                <a16:creationId xmlns:a16="http://schemas.microsoft.com/office/drawing/2014/main" id="{E92E702D-0371-3B52-C18C-7CF0BB4D02DD}"/>
              </a:ext>
            </a:extLst>
          </p:cNvPr>
          <p:cNvSpPr txBox="1"/>
          <p:nvPr/>
        </p:nvSpPr>
        <p:spPr>
          <a:xfrm>
            <a:off x="3337002" y="2598395"/>
            <a:ext cx="1500493" cy="307777"/>
          </a:xfrm>
          <a:prstGeom prst="rect">
            <a:avLst/>
          </a:prstGeom>
          <a:noFill/>
        </p:spPr>
        <p:txBody>
          <a:bodyPr wrap="square" rtlCol="0">
            <a:spAutoFit/>
          </a:bodyPr>
          <a:lstStyle/>
          <a:p>
            <a:r>
              <a:rPr lang="en-US" sz="700"/>
              <a:t>Referring clinicians AND radiologists unaware of new safety data</a:t>
            </a:r>
            <a:endParaRPr lang="en-SG" sz="700"/>
          </a:p>
        </p:txBody>
      </p:sp>
      <p:sp>
        <p:nvSpPr>
          <p:cNvPr id="93" name="TextBox 92">
            <a:extLst>
              <a:ext uri="{FF2B5EF4-FFF2-40B4-BE49-F238E27FC236}">
                <a16:creationId xmlns:a16="http://schemas.microsoft.com/office/drawing/2014/main" id="{F27770CA-B1D2-B0F5-7AB4-061316B57387}"/>
              </a:ext>
            </a:extLst>
          </p:cNvPr>
          <p:cNvSpPr txBox="1"/>
          <p:nvPr/>
        </p:nvSpPr>
        <p:spPr>
          <a:xfrm>
            <a:off x="4482781" y="3077474"/>
            <a:ext cx="835018" cy="307777"/>
          </a:xfrm>
          <a:prstGeom prst="rect">
            <a:avLst/>
          </a:prstGeom>
          <a:noFill/>
        </p:spPr>
        <p:txBody>
          <a:bodyPr wrap="square" rtlCol="0">
            <a:spAutoFit/>
          </a:bodyPr>
          <a:lstStyle/>
          <a:p>
            <a:r>
              <a:rPr lang="en-US" sz="700">
                <a:solidFill>
                  <a:srgbClr val="7030A0"/>
                </a:solidFill>
              </a:rPr>
              <a:t>No updates on new safety data</a:t>
            </a:r>
            <a:endParaRPr lang="en-SG" sz="700">
              <a:solidFill>
                <a:srgbClr val="7030A0"/>
              </a:solidFill>
            </a:endParaRPr>
          </a:p>
        </p:txBody>
      </p:sp>
      <p:sp>
        <p:nvSpPr>
          <p:cNvPr id="94" name="Line 175">
            <a:extLst>
              <a:ext uri="{FF2B5EF4-FFF2-40B4-BE49-F238E27FC236}">
                <a16:creationId xmlns:a16="http://schemas.microsoft.com/office/drawing/2014/main" id="{58A02F9B-8B09-7B62-5B98-67F03D89DD98}"/>
              </a:ext>
            </a:extLst>
          </p:cNvPr>
          <p:cNvSpPr>
            <a:spLocks noChangeShapeType="1"/>
          </p:cNvSpPr>
          <p:nvPr/>
        </p:nvSpPr>
        <p:spPr bwMode="auto">
          <a:xfrm>
            <a:off x="1712217" y="4783299"/>
            <a:ext cx="655157" cy="444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n-US"/>
          </a:p>
        </p:txBody>
      </p:sp>
      <p:sp>
        <p:nvSpPr>
          <p:cNvPr id="95" name="Line 177">
            <a:extLst>
              <a:ext uri="{FF2B5EF4-FFF2-40B4-BE49-F238E27FC236}">
                <a16:creationId xmlns:a16="http://schemas.microsoft.com/office/drawing/2014/main" id="{64F6B8EE-8B9C-B5B8-B255-39DA23C81A0E}"/>
              </a:ext>
            </a:extLst>
          </p:cNvPr>
          <p:cNvSpPr>
            <a:spLocks noChangeShapeType="1"/>
          </p:cNvSpPr>
          <p:nvPr/>
        </p:nvSpPr>
        <p:spPr bwMode="auto">
          <a:xfrm flipH="1">
            <a:off x="1981733" y="5169312"/>
            <a:ext cx="565611" cy="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n-US"/>
          </a:p>
        </p:txBody>
      </p:sp>
      <p:sp>
        <p:nvSpPr>
          <p:cNvPr id="96" name="TextBox 95">
            <a:extLst>
              <a:ext uri="{FF2B5EF4-FFF2-40B4-BE49-F238E27FC236}">
                <a16:creationId xmlns:a16="http://schemas.microsoft.com/office/drawing/2014/main" id="{72546428-E974-01E0-0197-E68D67421703}"/>
              </a:ext>
            </a:extLst>
          </p:cNvPr>
          <p:cNvSpPr txBox="1"/>
          <p:nvPr/>
        </p:nvSpPr>
        <p:spPr>
          <a:xfrm>
            <a:off x="2514890" y="4651134"/>
            <a:ext cx="868979" cy="738664"/>
          </a:xfrm>
          <a:prstGeom prst="rect">
            <a:avLst/>
          </a:prstGeom>
          <a:noFill/>
        </p:spPr>
        <p:txBody>
          <a:bodyPr wrap="square" rtlCol="0">
            <a:spAutoFit/>
          </a:bodyPr>
          <a:lstStyle/>
          <a:p>
            <a:r>
              <a:rPr lang="en-SG" sz="700"/>
              <a:t>Unwilling to have scan appointment rescheduled to a later date for renal function to improve</a:t>
            </a:r>
          </a:p>
        </p:txBody>
      </p:sp>
      <p:sp>
        <p:nvSpPr>
          <p:cNvPr id="98" name="TextBox 97">
            <a:extLst>
              <a:ext uri="{FF2B5EF4-FFF2-40B4-BE49-F238E27FC236}">
                <a16:creationId xmlns:a16="http://schemas.microsoft.com/office/drawing/2014/main" id="{028B839C-28A6-885F-6612-B09B4F738828}"/>
              </a:ext>
            </a:extLst>
          </p:cNvPr>
          <p:cNvSpPr txBox="1"/>
          <p:nvPr/>
        </p:nvSpPr>
        <p:spPr>
          <a:xfrm>
            <a:off x="439001" y="4666251"/>
            <a:ext cx="1356462" cy="200055"/>
          </a:xfrm>
          <a:prstGeom prst="rect">
            <a:avLst/>
          </a:prstGeom>
          <a:noFill/>
        </p:spPr>
        <p:txBody>
          <a:bodyPr wrap="none" rtlCol="0">
            <a:spAutoFit/>
          </a:bodyPr>
          <a:lstStyle/>
          <a:p>
            <a:r>
              <a:rPr lang="en-SG" sz="700"/>
              <a:t>Unable to accept the risk of NSF</a:t>
            </a:r>
            <a:endParaRPr lang="en-SG" sz="600"/>
          </a:p>
        </p:txBody>
      </p:sp>
      <p:sp>
        <p:nvSpPr>
          <p:cNvPr id="99" name="Line 176">
            <a:extLst>
              <a:ext uri="{FF2B5EF4-FFF2-40B4-BE49-F238E27FC236}">
                <a16:creationId xmlns:a16="http://schemas.microsoft.com/office/drawing/2014/main" id="{5D8A37E7-30E4-E325-700B-BB89ADC296BC}"/>
              </a:ext>
            </a:extLst>
          </p:cNvPr>
          <p:cNvSpPr>
            <a:spLocks noChangeShapeType="1"/>
          </p:cNvSpPr>
          <p:nvPr/>
        </p:nvSpPr>
        <p:spPr bwMode="auto">
          <a:xfrm flipV="1">
            <a:off x="1707657" y="4785083"/>
            <a:ext cx="366840" cy="32414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n-US"/>
          </a:p>
        </p:txBody>
      </p:sp>
      <p:sp>
        <p:nvSpPr>
          <p:cNvPr id="101" name="TextBox 100">
            <a:extLst>
              <a:ext uri="{FF2B5EF4-FFF2-40B4-BE49-F238E27FC236}">
                <a16:creationId xmlns:a16="http://schemas.microsoft.com/office/drawing/2014/main" id="{3BCA44FF-0202-8658-233C-5A1717858302}"/>
              </a:ext>
            </a:extLst>
          </p:cNvPr>
          <p:cNvSpPr txBox="1"/>
          <p:nvPr/>
        </p:nvSpPr>
        <p:spPr>
          <a:xfrm>
            <a:off x="710372" y="5055368"/>
            <a:ext cx="1068351" cy="415498"/>
          </a:xfrm>
          <a:prstGeom prst="rect">
            <a:avLst/>
          </a:prstGeom>
          <a:noFill/>
        </p:spPr>
        <p:txBody>
          <a:bodyPr wrap="square" rtlCol="0">
            <a:spAutoFit/>
          </a:bodyPr>
          <a:lstStyle/>
          <a:p>
            <a:pPr algn="r"/>
            <a:r>
              <a:rPr lang="en-SG" sz="700"/>
              <a:t>Unaware of implications of IV contrast on diagnosis of condition</a:t>
            </a:r>
          </a:p>
        </p:txBody>
      </p:sp>
      <p:sp>
        <p:nvSpPr>
          <p:cNvPr id="102" name="Line 175">
            <a:extLst>
              <a:ext uri="{FF2B5EF4-FFF2-40B4-BE49-F238E27FC236}">
                <a16:creationId xmlns:a16="http://schemas.microsoft.com/office/drawing/2014/main" id="{E860C2C4-1C29-26BF-4C4F-00665BDC8B7F}"/>
              </a:ext>
            </a:extLst>
          </p:cNvPr>
          <p:cNvSpPr>
            <a:spLocks noChangeShapeType="1"/>
          </p:cNvSpPr>
          <p:nvPr/>
        </p:nvSpPr>
        <p:spPr bwMode="auto">
          <a:xfrm>
            <a:off x="690450" y="4980475"/>
            <a:ext cx="1154916" cy="657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n-US"/>
          </a:p>
        </p:txBody>
      </p:sp>
      <p:sp>
        <p:nvSpPr>
          <p:cNvPr id="103" name="TextBox 102">
            <a:extLst>
              <a:ext uri="{FF2B5EF4-FFF2-40B4-BE49-F238E27FC236}">
                <a16:creationId xmlns:a16="http://schemas.microsoft.com/office/drawing/2014/main" id="{45C6B90F-CC5C-38C5-CA4B-72013A816444}"/>
              </a:ext>
            </a:extLst>
          </p:cNvPr>
          <p:cNvSpPr txBox="1"/>
          <p:nvPr/>
        </p:nvSpPr>
        <p:spPr>
          <a:xfrm>
            <a:off x="30224" y="4866457"/>
            <a:ext cx="724878" cy="307777"/>
          </a:xfrm>
          <a:prstGeom prst="rect">
            <a:avLst/>
          </a:prstGeom>
          <a:noFill/>
        </p:spPr>
        <p:txBody>
          <a:bodyPr wrap="none" rtlCol="0">
            <a:spAutoFit/>
          </a:bodyPr>
          <a:lstStyle/>
          <a:p>
            <a:r>
              <a:rPr lang="en-SG" sz="700"/>
              <a:t>Lack of patient</a:t>
            </a:r>
            <a:br>
              <a:rPr lang="en-SG" sz="700"/>
            </a:br>
            <a:r>
              <a:rPr lang="en-SG" sz="700"/>
              <a:t>education</a:t>
            </a:r>
          </a:p>
        </p:txBody>
      </p:sp>
      <p:sp>
        <p:nvSpPr>
          <p:cNvPr id="104" name="Line 176">
            <a:extLst>
              <a:ext uri="{FF2B5EF4-FFF2-40B4-BE49-F238E27FC236}">
                <a16:creationId xmlns:a16="http://schemas.microsoft.com/office/drawing/2014/main" id="{6BC5F841-DE41-F82D-7677-DA8E2AC808A6}"/>
              </a:ext>
            </a:extLst>
          </p:cNvPr>
          <p:cNvSpPr>
            <a:spLocks noChangeShapeType="1"/>
          </p:cNvSpPr>
          <p:nvPr/>
        </p:nvSpPr>
        <p:spPr bwMode="auto">
          <a:xfrm flipH="1" flipV="1">
            <a:off x="2226506" y="5169312"/>
            <a:ext cx="53663" cy="55545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n-US"/>
          </a:p>
        </p:txBody>
      </p:sp>
      <p:sp>
        <p:nvSpPr>
          <p:cNvPr id="106" name="TextBox 105">
            <a:extLst>
              <a:ext uri="{FF2B5EF4-FFF2-40B4-BE49-F238E27FC236}">
                <a16:creationId xmlns:a16="http://schemas.microsoft.com/office/drawing/2014/main" id="{AA7BF3F1-5E65-EBE3-A2C5-6A7DC75C1C10}"/>
              </a:ext>
            </a:extLst>
          </p:cNvPr>
          <p:cNvSpPr txBox="1"/>
          <p:nvPr/>
        </p:nvSpPr>
        <p:spPr>
          <a:xfrm>
            <a:off x="2020509" y="5680332"/>
            <a:ext cx="1344978" cy="415498"/>
          </a:xfrm>
          <a:prstGeom prst="rect">
            <a:avLst/>
          </a:prstGeom>
          <a:noFill/>
        </p:spPr>
        <p:txBody>
          <a:bodyPr wrap="square" rtlCol="0">
            <a:spAutoFit/>
          </a:bodyPr>
          <a:lstStyle/>
          <a:p>
            <a:r>
              <a:rPr lang="en-SG" sz="700"/>
              <a:t>Unaware of implications of IV contrast on diagnosis of condition</a:t>
            </a:r>
          </a:p>
        </p:txBody>
      </p:sp>
      <p:sp>
        <p:nvSpPr>
          <p:cNvPr id="107" name="Line 175">
            <a:extLst>
              <a:ext uri="{FF2B5EF4-FFF2-40B4-BE49-F238E27FC236}">
                <a16:creationId xmlns:a16="http://schemas.microsoft.com/office/drawing/2014/main" id="{A8A270F7-B3DE-04E0-7B15-FCE169CFAC9B}"/>
              </a:ext>
            </a:extLst>
          </p:cNvPr>
          <p:cNvSpPr>
            <a:spLocks noChangeShapeType="1"/>
          </p:cNvSpPr>
          <p:nvPr/>
        </p:nvSpPr>
        <p:spPr bwMode="auto">
          <a:xfrm flipH="1" flipV="1">
            <a:off x="2266983" y="5470865"/>
            <a:ext cx="635225" cy="80019"/>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n-US"/>
          </a:p>
        </p:txBody>
      </p:sp>
      <p:sp>
        <p:nvSpPr>
          <p:cNvPr id="109" name="TextBox 108">
            <a:extLst>
              <a:ext uri="{FF2B5EF4-FFF2-40B4-BE49-F238E27FC236}">
                <a16:creationId xmlns:a16="http://schemas.microsoft.com/office/drawing/2014/main" id="{4B2DF6ED-E3E5-03C0-A994-BC4F866C2BE3}"/>
              </a:ext>
            </a:extLst>
          </p:cNvPr>
          <p:cNvSpPr txBox="1"/>
          <p:nvPr/>
        </p:nvSpPr>
        <p:spPr>
          <a:xfrm>
            <a:off x="2825100" y="5472319"/>
            <a:ext cx="1384179" cy="200055"/>
          </a:xfrm>
          <a:prstGeom prst="rect">
            <a:avLst/>
          </a:prstGeom>
          <a:noFill/>
        </p:spPr>
        <p:txBody>
          <a:bodyPr wrap="square" rtlCol="0">
            <a:spAutoFit/>
          </a:bodyPr>
          <a:lstStyle/>
          <a:p>
            <a:r>
              <a:rPr lang="en-SG" sz="700"/>
              <a:t>Lack of patient education</a:t>
            </a:r>
          </a:p>
        </p:txBody>
      </p:sp>
      <p:sp>
        <p:nvSpPr>
          <p:cNvPr id="110" name="Line 184">
            <a:extLst>
              <a:ext uri="{FF2B5EF4-FFF2-40B4-BE49-F238E27FC236}">
                <a16:creationId xmlns:a16="http://schemas.microsoft.com/office/drawing/2014/main" id="{483B0BCF-EFC7-7D3D-F7B8-0BB9E9420C70}"/>
              </a:ext>
            </a:extLst>
          </p:cNvPr>
          <p:cNvSpPr>
            <a:spLocks noChangeShapeType="1"/>
          </p:cNvSpPr>
          <p:nvPr/>
        </p:nvSpPr>
        <p:spPr bwMode="auto">
          <a:xfrm flipH="1">
            <a:off x="8788157" y="3400722"/>
            <a:ext cx="348223" cy="16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n-US"/>
          </a:p>
        </p:txBody>
      </p:sp>
      <p:sp>
        <p:nvSpPr>
          <p:cNvPr id="111" name="Line 193">
            <a:extLst>
              <a:ext uri="{FF2B5EF4-FFF2-40B4-BE49-F238E27FC236}">
                <a16:creationId xmlns:a16="http://schemas.microsoft.com/office/drawing/2014/main" id="{EA6D267A-E770-91F5-472B-6ADB21B06D6A}"/>
              </a:ext>
            </a:extLst>
          </p:cNvPr>
          <p:cNvSpPr>
            <a:spLocks noChangeShapeType="1"/>
          </p:cNvSpPr>
          <p:nvPr/>
        </p:nvSpPr>
        <p:spPr bwMode="auto">
          <a:xfrm flipH="1">
            <a:off x="9071551" y="3220204"/>
            <a:ext cx="1587559" cy="690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n-US"/>
          </a:p>
        </p:txBody>
      </p:sp>
      <p:sp>
        <p:nvSpPr>
          <p:cNvPr id="112" name="TextBox 111">
            <a:extLst>
              <a:ext uri="{FF2B5EF4-FFF2-40B4-BE49-F238E27FC236}">
                <a16:creationId xmlns:a16="http://schemas.microsoft.com/office/drawing/2014/main" id="{4BB8291B-C3EE-C1F6-975E-09944C546D99}"/>
              </a:ext>
            </a:extLst>
          </p:cNvPr>
          <p:cNvSpPr txBox="1"/>
          <p:nvPr/>
        </p:nvSpPr>
        <p:spPr>
          <a:xfrm>
            <a:off x="9048894" y="3309111"/>
            <a:ext cx="1677623" cy="307777"/>
          </a:xfrm>
          <a:prstGeom prst="rect">
            <a:avLst/>
          </a:prstGeom>
          <a:noFill/>
        </p:spPr>
        <p:txBody>
          <a:bodyPr wrap="square" rtlCol="0">
            <a:spAutoFit/>
          </a:bodyPr>
          <a:lstStyle/>
          <a:p>
            <a:r>
              <a:rPr lang="en-SG" sz="700"/>
              <a:t>Lack of publicity on new safety data related to CE MRI in CKD 4 patients</a:t>
            </a:r>
          </a:p>
        </p:txBody>
      </p:sp>
      <p:sp>
        <p:nvSpPr>
          <p:cNvPr id="114" name="TextBox 113">
            <a:extLst>
              <a:ext uri="{FF2B5EF4-FFF2-40B4-BE49-F238E27FC236}">
                <a16:creationId xmlns:a16="http://schemas.microsoft.com/office/drawing/2014/main" id="{1C7872FD-4D04-18AC-B7B6-EF058F02A32A}"/>
              </a:ext>
            </a:extLst>
          </p:cNvPr>
          <p:cNvSpPr txBox="1"/>
          <p:nvPr/>
        </p:nvSpPr>
        <p:spPr>
          <a:xfrm>
            <a:off x="10604746" y="3239503"/>
            <a:ext cx="1406306" cy="307777"/>
          </a:xfrm>
          <a:prstGeom prst="rect">
            <a:avLst/>
          </a:prstGeom>
          <a:noFill/>
        </p:spPr>
        <p:txBody>
          <a:bodyPr wrap="square" rtlCol="0">
            <a:spAutoFit/>
          </a:bodyPr>
          <a:lstStyle/>
          <a:p>
            <a:r>
              <a:rPr lang="en-SG" sz="700">
                <a:solidFill>
                  <a:schemeClr val="accent2"/>
                </a:solidFill>
              </a:rPr>
              <a:t>No updates to doctors on new safety data</a:t>
            </a:r>
          </a:p>
        </p:txBody>
      </p:sp>
      <p:sp>
        <p:nvSpPr>
          <p:cNvPr id="115" name="TextBox 114">
            <a:extLst>
              <a:ext uri="{FF2B5EF4-FFF2-40B4-BE49-F238E27FC236}">
                <a16:creationId xmlns:a16="http://schemas.microsoft.com/office/drawing/2014/main" id="{4A51BF41-09C0-03C2-352B-56CCF0FB35BE}"/>
              </a:ext>
            </a:extLst>
          </p:cNvPr>
          <p:cNvSpPr txBox="1"/>
          <p:nvPr/>
        </p:nvSpPr>
        <p:spPr>
          <a:xfrm>
            <a:off x="8918153" y="2826626"/>
            <a:ext cx="1205375" cy="307777"/>
          </a:xfrm>
          <a:prstGeom prst="rect">
            <a:avLst/>
          </a:prstGeom>
          <a:noFill/>
        </p:spPr>
        <p:txBody>
          <a:bodyPr wrap="square" rtlCol="0">
            <a:spAutoFit/>
          </a:bodyPr>
          <a:lstStyle/>
          <a:p>
            <a:r>
              <a:rPr lang="en-SG" sz="700"/>
              <a:t>Radiologists not reaching out to clinicians</a:t>
            </a:r>
          </a:p>
        </p:txBody>
      </p:sp>
      <p:sp>
        <p:nvSpPr>
          <p:cNvPr id="116" name="TextBox 115">
            <a:extLst>
              <a:ext uri="{FF2B5EF4-FFF2-40B4-BE49-F238E27FC236}">
                <a16:creationId xmlns:a16="http://schemas.microsoft.com/office/drawing/2014/main" id="{274560E2-7396-18FD-5AB0-1DB4768C68CC}"/>
              </a:ext>
            </a:extLst>
          </p:cNvPr>
          <p:cNvSpPr txBox="1"/>
          <p:nvPr/>
        </p:nvSpPr>
        <p:spPr>
          <a:xfrm>
            <a:off x="4802419" y="1878841"/>
            <a:ext cx="1966935" cy="307777"/>
          </a:xfrm>
          <a:prstGeom prst="rect">
            <a:avLst/>
          </a:prstGeom>
          <a:noFill/>
        </p:spPr>
        <p:txBody>
          <a:bodyPr wrap="square" rtlCol="0">
            <a:spAutoFit/>
          </a:bodyPr>
          <a:lstStyle/>
          <a:p>
            <a:pPr algn="r"/>
            <a:r>
              <a:rPr lang="en-SG" sz="700"/>
              <a:t>Difficult for referring clinicians to get in touch with radiologist to discuss a scan indication</a:t>
            </a:r>
          </a:p>
        </p:txBody>
      </p:sp>
      <p:sp>
        <p:nvSpPr>
          <p:cNvPr id="117" name="Line 202">
            <a:extLst>
              <a:ext uri="{FF2B5EF4-FFF2-40B4-BE49-F238E27FC236}">
                <a16:creationId xmlns:a16="http://schemas.microsoft.com/office/drawing/2014/main" id="{390A0523-8496-470E-2359-6BB0B2A37B96}"/>
              </a:ext>
            </a:extLst>
          </p:cNvPr>
          <p:cNvSpPr>
            <a:spLocks noChangeShapeType="1"/>
          </p:cNvSpPr>
          <p:nvPr/>
        </p:nvSpPr>
        <p:spPr bwMode="auto">
          <a:xfrm>
            <a:off x="6769353" y="2055183"/>
            <a:ext cx="663349" cy="10008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n-US"/>
          </a:p>
        </p:txBody>
      </p:sp>
      <p:sp>
        <p:nvSpPr>
          <p:cNvPr id="120" name="Line 188">
            <a:extLst>
              <a:ext uri="{FF2B5EF4-FFF2-40B4-BE49-F238E27FC236}">
                <a16:creationId xmlns:a16="http://schemas.microsoft.com/office/drawing/2014/main" id="{B93CA3D3-F1F7-AFAD-4AD6-2524C71A99B9}"/>
              </a:ext>
            </a:extLst>
          </p:cNvPr>
          <p:cNvSpPr>
            <a:spLocks noChangeShapeType="1"/>
          </p:cNvSpPr>
          <p:nvPr/>
        </p:nvSpPr>
        <p:spPr bwMode="auto">
          <a:xfrm flipV="1">
            <a:off x="7161001" y="2168983"/>
            <a:ext cx="95946" cy="39808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n-US"/>
          </a:p>
        </p:txBody>
      </p:sp>
      <p:sp>
        <p:nvSpPr>
          <p:cNvPr id="121" name="TextBox 120">
            <a:extLst>
              <a:ext uri="{FF2B5EF4-FFF2-40B4-BE49-F238E27FC236}">
                <a16:creationId xmlns:a16="http://schemas.microsoft.com/office/drawing/2014/main" id="{3FFF5D30-CAD2-DD85-E547-24A299E98CB6}"/>
              </a:ext>
            </a:extLst>
          </p:cNvPr>
          <p:cNvSpPr txBox="1"/>
          <p:nvPr/>
        </p:nvSpPr>
        <p:spPr>
          <a:xfrm>
            <a:off x="5317799" y="2629198"/>
            <a:ext cx="1555169" cy="307777"/>
          </a:xfrm>
          <a:prstGeom prst="rect">
            <a:avLst/>
          </a:prstGeom>
          <a:noFill/>
        </p:spPr>
        <p:txBody>
          <a:bodyPr wrap="square" rtlCol="0">
            <a:spAutoFit/>
          </a:bodyPr>
          <a:lstStyle/>
          <a:p>
            <a:pPr algn="r"/>
            <a:r>
              <a:rPr lang="en-US" sz="700"/>
              <a:t>Clinicians unaware of how to interpret radiologist roster</a:t>
            </a:r>
            <a:endParaRPr lang="en-SG" sz="700"/>
          </a:p>
        </p:txBody>
      </p:sp>
      <p:sp>
        <p:nvSpPr>
          <p:cNvPr id="123" name="Line 184">
            <a:extLst>
              <a:ext uri="{FF2B5EF4-FFF2-40B4-BE49-F238E27FC236}">
                <a16:creationId xmlns:a16="http://schemas.microsoft.com/office/drawing/2014/main" id="{43B184EA-8C9F-A589-BA23-71798A8CFF68}"/>
              </a:ext>
            </a:extLst>
          </p:cNvPr>
          <p:cNvSpPr>
            <a:spLocks noChangeShapeType="1"/>
          </p:cNvSpPr>
          <p:nvPr/>
        </p:nvSpPr>
        <p:spPr bwMode="auto">
          <a:xfrm flipH="1">
            <a:off x="7389106" y="2032949"/>
            <a:ext cx="348223" cy="16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n-US"/>
          </a:p>
        </p:txBody>
      </p:sp>
      <p:sp>
        <p:nvSpPr>
          <p:cNvPr id="124" name="TextBox 123">
            <a:extLst>
              <a:ext uri="{FF2B5EF4-FFF2-40B4-BE49-F238E27FC236}">
                <a16:creationId xmlns:a16="http://schemas.microsoft.com/office/drawing/2014/main" id="{2C305145-9C00-7F76-6A51-74EC0C6BCFCF}"/>
              </a:ext>
            </a:extLst>
          </p:cNvPr>
          <p:cNvSpPr txBox="1"/>
          <p:nvPr/>
        </p:nvSpPr>
        <p:spPr>
          <a:xfrm>
            <a:off x="7705473" y="1732976"/>
            <a:ext cx="1690732" cy="415498"/>
          </a:xfrm>
          <a:prstGeom prst="rect">
            <a:avLst/>
          </a:prstGeom>
          <a:noFill/>
        </p:spPr>
        <p:txBody>
          <a:bodyPr wrap="square" rtlCol="0">
            <a:spAutoFit/>
          </a:bodyPr>
          <a:lstStyle/>
          <a:p>
            <a:r>
              <a:rPr lang="en-US" sz="700"/>
              <a:t>Clinicians face difficulty contacting patients in clinic setting if decision for IV contrast is made after the consult is over</a:t>
            </a:r>
            <a:endParaRPr lang="en-SG" sz="700"/>
          </a:p>
        </p:txBody>
      </p:sp>
      <p:sp>
        <p:nvSpPr>
          <p:cNvPr id="125" name="Line 188">
            <a:extLst>
              <a:ext uri="{FF2B5EF4-FFF2-40B4-BE49-F238E27FC236}">
                <a16:creationId xmlns:a16="http://schemas.microsoft.com/office/drawing/2014/main" id="{A11D7113-0A96-5C7D-1FD0-146F0CD20460}"/>
              </a:ext>
            </a:extLst>
          </p:cNvPr>
          <p:cNvSpPr>
            <a:spLocks noChangeShapeType="1"/>
          </p:cNvSpPr>
          <p:nvPr/>
        </p:nvSpPr>
        <p:spPr bwMode="auto">
          <a:xfrm flipH="1" flipV="1">
            <a:off x="7589272" y="2081730"/>
            <a:ext cx="1616678" cy="38340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n-US"/>
          </a:p>
        </p:txBody>
      </p:sp>
      <p:sp>
        <p:nvSpPr>
          <p:cNvPr id="126" name="TextBox 125">
            <a:extLst>
              <a:ext uri="{FF2B5EF4-FFF2-40B4-BE49-F238E27FC236}">
                <a16:creationId xmlns:a16="http://schemas.microsoft.com/office/drawing/2014/main" id="{04B083E5-803F-1195-50FC-9B5BF6B7640B}"/>
              </a:ext>
            </a:extLst>
          </p:cNvPr>
          <p:cNvSpPr txBox="1"/>
          <p:nvPr/>
        </p:nvSpPr>
        <p:spPr>
          <a:xfrm>
            <a:off x="9175929" y="2363278"/>
            <a:ext cx="2303375" cy="307777"/>
          </a:xfrm>
          <a:prstGeom prst="rect">
            <a:avLst/>
          </a:prstGeom>
          <a:noFill/>
        </p:spPr>
        <p:txBody>
          <a:bodyPr wrap="square" rtlCol="0">
            <a:spAutoFit/>
          </a:bodyPr>
          <a:lstStyle/>
          <a:p>
            <a:r>
              <a:rPr lang="en-US" sz="700"/>
              <a:t>Clinician unsure of indication and safety data at the time of clinic consult </a:t>
            </a:r>
            <a:endParaRPr lang="en-SG" sz="700"/>
          </a:p>
        </p:txBody>
      </p:sp>
      <p:sp>
        <p:nvSpPr>
          <p:cNvPr id="127" name="Line 188">
            <a:extLst>
              <a:ext uri="{FF2B5EF4-FFF2-40B4-BE49-F238E27FC236}">
                <a16:creationId xmlns:a16="http://schemas.microsoft.com/office/drawing/2014/main" id="{6802F25D-9215-6745-8127-ABF8621850F5}"/>
              </a:ext>
            </a:extLst>
          </p:cNvPr>
          <p:cNvSpPr>
            <a:spLocks noChangeShapeType="1"/>
          </p:cNvSpPr>
          <p:nvPr/>
        </p:nvSpPr>
        <p:spPr bwMode="auto">
          <a:xfrm flipH="1">
            <a:off x="8978671" y="3079836"/>
            <a:ext cx="161880" cy="338579"/>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n-US"/>
          </a:p>
        </p:txBody>
      </p:sp>
      <p:sp>
        <p:nvSpPr>
          <p:cNvPr id="128" name="TextBox 127">
            <a:extLst>
              <a:ext uri="{FF2B5EF4-FFF2-40B4-BE49-F238E27FC236}">
                <a16:creationId xmlns:a16="http://schemas.microsoft.com/office/drawing/2014/main" id="{D6DF3A5D-9858-236B-C1B5-F3B913A1B16F}"/>
              </a:ext>
            </a:extLst>
          </p:cNvPr>
          <p:cNvSpPr txBox="1"/>
          <p:nvPr/>
        </p:nvSpPr>
        <p:spPr>
          <a:xfrm>
            <a:off x="8416326" y="5583599"/>
            <a:ext cx="1471380" cy="415498"/>
          </a:xfrm>
          <a:prstGeom prst="rect">
            <a:avLst/>
          </a:prstGeom>
          <a:noFill/>
        </p:spPr>
        <p:txBody>
          <a:bodyPr wrap="square" rtlCol="0">
            <a:spAutoFit/>
          </a:bodyPr>
          <a:lstStyle/>
          <a:p>
            <a:r>
              <a:rPr lang="en-SG" sz="700"/>
              <a:t>No clear pathway of multidisciplinary communications between different departments</a:t>
            </a:r>
          </a:p>
        </p:txBody>
      </p:sp>
      <p:sp>
        <p:nvSpPr>
          <p:cNvPr id="134" name="TextBox 133">
            <a:extLst>
              <a:ext uri="{FF2B5EF4-FFF2-40B4-BE49-F238E27FC236}">
                <a16:creationId xmlns:a16="http://schemas.microsoft.com/office/drawing/2014/main" id="{E4063FC3-AE4A-EDF8-05BE-A0B6C79D0906}"/>
              </a:ext>
            </a:extLst>
          </p:cNvPr>
          <p:cNvSpPr txBox="1"/>
          <p:nvPr/>
        </p:nvSpPr>
        <p:spPr>
          <a:xfrm>
            <a:off x="4204522" y="5150883"/>
            <a:ext cx="1063961" cy="415498"/>
          </a:xfrm>
          <a:prstGeom prst="rect">
            <a:avLst/>
          </a:prstGeom>
          <a:noFill/>
        </p:spPr>
        <p:txBody>
          <a:bodyPr wrap="square" rtlCol="0">
            <a:spAutoFit/>
          </a:bodyPr>
          <a:lstStyle/>
          <a:p>
            <a:pPr algn="r"/>
            <a:r>
              <a:rPr lang="en-SG" sz="700"/>
              <a:t>Appropriate counselling of patients not done prior to scan</a:t>
            </a:r>
          </a:p>
        </p:txBody>
      </p:sp>
      <p:sp>
        <p:nvSpPr>
          <p:cNvPr id="138" name="TextBox 137">
            <a:extLst>
              <a:ext uri="{FF2B5EF4-FFF2-40B4-BE49-F238E27FC236}">
                <a16:creationId xmlns:a16="http://schemas.microsoft.com/office/drawing/2014/main" id="{FE3FA5A6-FA80-CF50-3202-F53E2853C639}"/>
              </a:ext>
            </a:extLst>
          </p:cNvPr>
          <p:cNvSpPr txBox="1"/>
          <p:nvPr/>
        </p:nvSpPr>
        <p:spPr>
          <a:xfrm>
            <a:off x="7117668" y="4970204"/>
            <a:ext cx="933635" cy="415498"/>
          </a:xfrm>
          <a:prstGeom prst="rect">
            <a:avLst/>
          </a:prstGeom>
          <a:noFill/>
        </p:spPr>
        <p:txBody>
          <a:bodyPr wrap="square" rtlCol="0">
            <a:spAutoFit/>
          </a:bodyPr>
          <a:lstStyle/>
          <a:p>
            <a:r>
              <a:rPr lang="en-SG" sz="700">
                <a:solidFill>
                  <a:srgbClr val="92D050"/>
                </a:solidFill>
              </a:rPr>
              <a:t>No reminders in EPIC on necessary steps</a:t>
            </a:r>
          </a:p>
        </p:txBody>
      </p:sp>
      <p:sp>
        <p:nvSpPr>
          <p:cNvPr id="139" name="TextBox 138">
            <a:extLst>
              <a:ext uri="{FF2B5EF4-FFF2-40B4-BE49-F238E27FC236}">
                <a16:creationId xmlns:a16="http://schemas.microsoft.com/office/drawing/2014/main" id="{50C4EEFD-A248-0BE8-CCB6-5806D4ABBF34}"/>
              </a:ext>
            </a:extLst>
          </p:cNvPr>
          <p:cNvSpPr txBox="1"/>
          <p:nvPr/>
        </p:nvSpPr>
        <p:spPr>
          <a:xfrm>
            <a:off x="5892747" y="5731886"/>
            <a:ext cx="904353" cy="307777"/>
          </a:xfrm>
          <a:prstGeom prst="rect">
            <a:avLst/>
          </a:prstGeom>
          <a:noFill/>
        </p:spPr>
        <p:txBody>
          <a:bodyPr wrap="square" rtlCol="0">
            <a:spAutoFit/>
          </a:bodyPr>
          <a:lstStyle/>
          <a:p>
            <a:r>
              <a:rPr lang="en-SG" sz="700"/>
              <a:t>Documentation fatigue</a:t>
            </a:r>
          </a:p>
        </p:txBody>
      </p:sp>
      <p:sp>
        <p:nvSpPr>
          <p:cNvPr id="140" name="TextBox 139">
            <a:extLst>
              <a:ext uri="{FF2B5EF4-FFF2-40B4-BE49-F238E27FC236}">
                <a16:creationId xmlns:a16="http://schemas.microsoft.com/office/drawing/2014/main" id="{B5E0CA5A-DDAB-B265-F7BA-DD4B1B487F6B}"/>
              </a:ext>
            </a:extLst>
          </p:cNvPr>
          <p:cNvSpPr txBox="1"/>
          <p:nvPr/>
        </p:nvSpPr>
        <p:spPr>
          <a:xfrm>
            <a:off x="6561462" y="5397941"/>
            <a:ext cx="792448" cy="523220"/>
          </a:xfrm>
          <a:prstGeom prst="rect">
            <a:avLst/>
          </a:prstGeom>
          <a:noFill/>
        </p:spPr>
        <p:txBody>
          <a:bodyPr wrap="square" rtlCol="0">
            <a:spAutoFit/>
          </a:bodyPr>
          <a:lstStyle/>
          <a:p>
            <a:r>
              <a:rPr lang="en-SG" sz="700">
                <a:solidFill>
                  <a:srgbClr val="92D050"/>
                </a:solidFill>
              </a:rPr>
              <a:t>No standardised texts for documentation of counselling</a:t>
            </a:r>
          </a:p>
        </p:txBody>
      </p:sp>
      <p:sp>
        <p:nvSpPr>
          <p:cNvPr id="142" name="Line 176">
            <a:extLst>
              <a:ext uri="{FF2B5EF4-FFF2-40B4-BE49-F238E27FC236}">
                <a16:creationId xmlns:a16="http://schemas.microsoft.com/office/drawing/2014/main" id="{A6A39368-F548-7C5A-6196-01B8EFF520AC}"/>
              </a:ext>
            </a:extLst>
          </p:cNvPr>
          <p:cNvSpPr>
            <a:spLocks noChangeShapeType="1"/>
          </p:cNvSpPr>
          <p:nvPr/>
        </p:nvSpPr>
        <p:spPr bwMode="auto">
          <a:xfrm flipV="1">
            <a:off x="5133547" y="5343588"/>
            <a:ext cx="732011" cy="696074"/>
          </a:xfrm>
          <a:prstGeom prst="line">
            <a:avLst/>
          </a:prstGeom>
          <a:noFill/>
          <a:ln w="9525">
            <a:solidFill>
              <a:schemeClr val="tx1"/>
            </a:solidFill>
            <a:round/>
            <a:headEnd/>
            <a:tailEnd type="triangle" w="med" len="med"/>
          </a:ln>
          <a:effectLst/>
        </p:spPr>
        <p:txBody>
          <a:bodyPr wrap="square">
            <a:spAutoFit/>
          </a:bodyPr>
          <a:lstStyle/>
          <a:p>
            <a:endParaRPr lang="en-US"/>
          </a:p>
        </p:txBody>
      </p:sp>
      <p:sp>
        <p:nvSpPr>
          <p:cNvPr id="144" name="TextBox 143">
            <a:extLst>
              <a:ext uri="{FF2B5EF4-FFF2-40B4-BE49-F238E27FC236}">
                <a16:creationId xmlns:a16="http://schemas.microsoft.com/office/drawing/2014/main" id="{FA42021D-A1C0-434E-5758-25742B6862BF}"/>
              </a:ext>
            </a:extLst>
          </p:cNvPr>
          <p:cNvSpPr txBox="1">
            <a:spLocks/>
          </p:cNvSpPr>
          <p:nvPr/>
        </p:nvSpPr>
        <p:spPr>
          <a:xfrm>
            <a:off x="4392865" y="5996179"/>
            <a:ext cx="1196155" cy="415498"/>
          </a:xfrm>
          <a:prstGeom prst="rect">
            <a:avLst/>
          </a:prstGeom>
          <a:noFill/>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rtlCol="0">
            <a:spAutoFit/>
          </a:bodyPr>
          <a:lstStyle/>
          <a:p>
            <a:r>
              <a:rPr lang="en-SG" sz="700"/>
              <a:t>Referring clinicians unsure of what is required to arrange for scan</a:t>
            </a:r>
          </a:p>
        </p:txBody>
      </p:sp>
      <p:sp>
        <p:nvSpPr>
          <p:cNvPr id="145" name="TextBox 144">
            <a:extLst>
              <a:ext uri="{FF2B5EF4-FFF2-40B4-BE49-F238E27FC236}">
                <a16:creationId xmlns:a16="http://schemas.microsoft.com/office/drawing/2014/main" id="{8734A7EF-3D21-D362-4A1E-0C72A6916CC1}"/>
              </a:ext>
            </a:extLst>
          </p:cNvPr>
          <p:cNvSpPr txBox="1">
            <a:spLocks/>
          </p:cNvSpPr>
          <p:nvPr/>
        </p:nvSpPr>
        <p:spPr>
          <a:xfrm>
            <a:off x="3926568" y="5622118"/>
            <a:ext cx="1363748" cy="200055"/>
          </a:xfrm>
          <a:prstGeom prst="rect">
            <a:avLst/>
          </a:prstGeom>
          <a:noFill/>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rtlCol="0">
            <a:spAutoFit/>
          </a:bodyPr>
          <a:lstStyle/>
          <a:p>
            <a:pPr algn="ctr"/>
            <a:r>
              <a:rPr lang="en-SG" sz="700">
                <a:solidFill>
                  <a:srgbClr val="92D050"/>
                </a:solidFill>
              </a:rPr>
              <a:t>No workflow in place</a:t>
            </a:r>
          </a:p>
        </p:txBody>
      </p:sp>
      <p:sp>
        <p:nvSpPr>
          <p:cNvPr id="146" name="Line 177">
            <a:extLst>
              <a:ext uri="{FF2B5EF4-FFF2-40B4-BE49-F238E27FC236}">
                <a16:creationId xmlns:a16="http://schemas.microsoft.com/office/drawing/2014/main" id="{E75C430E-D1A4-2E10-D8B0-1D7DE673F0C2}"/>
              </a:ext>
            </a:extLst>
          </p:cNvPr>
          <p:cNvSpPr>
            <a:spLocks noChangeShapeType="1"/>
          </p:cNvSpPr>
          <p:nvPr/>
        </p:nvSpPr>
        <p:spPr bwMode="auto">
          <a:xfrm flipV="1">
            <a:off x="5010193" y="5731884"/>
            <a:ext cx="442895" cy="1"/>
          </a:xfrm>
          <a:prstGeom prst="line">
            <a:avLst/>
          </a:prstGeom>
          <a:noFill/>
          <a:ln w="9525">
            <a:solidFill>
              <a:schemeClr val="tx1"/>
            </a:solidFill>
            <a:round/>
            <a:headEnd/>
            <a:tailEnd type="triangle" w="med" len="med"/>
          </a:ln>
          <a:effectLst/>
        </p:spPr>
        <p:txBody>
          <a:bodyPr wrap="square">
            <a:spAutoFit/>
          </a:bodyPr>
          <a:lstStyle/>
          <a:p>
            <a:endParaRPr lang="en-US"/>
          </a:p>
        </p:txBody>
      </p:sp>
      <p:sp>
        <p:nvSpPr>
          <p:cNvPr id="147" name="TextBox 146">
            <a:extLst>
              <a:ext uri="{FF2B5EF4-FFF2-40B4-BE49-F238E27FC236}">
                <a16:creationId xmlns:a16="http://schemas.microsoft.com/office/drawing/2014/main" id="{A42CFB86-0914-6994-479D-9B9028CE5285}"/>
              </a:ext>
            </a:extLst>
          </p:cNvPr>
          <p:cNvSpPr txBox="1"/>
          <p:nvPr/>
        </p:nvSpPr>
        <p:spPr>
          <a:xfrm>
            <a:off x="7288917" y="1149994"/>
            <a:ext cx="1690732" cy="307777"/>
          </a:xfrm>
          <a:prstGeom prst="rect">
            <a:avLst/>
          </a:prstGeom>
          <a:noFill/>
        </p:spPr>
        <p:txBody>
          <a:bodyPr wrap="square" rtlCol="0">
            <a:spAutoFit/>
          </a:bodyPr>
          <a:lstStyle/>
          <a:p>
            <a:r>
              <a:rPr lang="en-US" sz="700"/>
              <a:t>Clinician unable to arrange another clinic slot to counsel patients face-to-face </a:t>
            </a:r>
            <a:endParaRPr lang="en-SG" sz="700"/>
          </a:p>
        </p:txBody>
      </p:sp>
      <p:sp>
        <p:nvSpPr>
          <p:cNvPr id="148" name="Line 184">
            <a:extLst>
              <a:ext uri="{FF2B5EF4-FFF2-40B4-BE49-F238E27FC236}">
                <a16:creationId xmlns:a16="http://schemas.microsoft.com/office/drawing/2014/main" id="{0FE300F7-583B-BA24-7D83-6DC64A3939E6}"/>
              </a:ext>
            </a:extLst>
          </p:cNvPr>
          <p:cNvSpPr>
            <a:spLocks noChangeShapeType="1"/>
          </p:cNvSpPr>
          <p:nvPr/>
        </p:nvSpPr>
        <p:spPr bwMode="auto">
          <a:xfrm flipH="1">
            <a:off x="7522595" y="1457771"/>
            <a:ext cx="229974" cy="56538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n-US"/>
          </a:p>
        </p:txBody>
      </p:sp>
      <p:sp>
        <p:nvSpPr>
          <p:cNvPr id="149" name="Line 184">
            <a:extLst>
              <a:ext uri="{FF2B5EF4-FFF2-40B4-BE49-F238E27FC236}">
                <a16:creationId xmlns:a16="http://schemas.microsoft.com/office/drawing/2014/main" id="{88208BE6-53BA-3E1E-5F3E-A7CCE0982241}"/>
              </a:ext>
            </a:extLst>
          </p:cNvPr>
          <p:cNvSpPr>
            <a:spLocks noChangeShapeType="1"/>
          </p:cNvSpPr>
          <p:nvPr/>
        </p:nvSpPr>
        <p:spPr bwMode="auto">
          <a:xfrm flipH="1">
            <a:off x="7710274" y="1580002"/>
            <a:ext cx="454225" cy="607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n-US"/>
          </a:p>
        </p:txBody>
      </p:sp>
      <p:sp>
        <p:nvSpPr>
          <p:cNvPr id="150" name="TextBox 149">
            <a:extLst>
              <a:ext uri="{FF2B5EF4-FFF2-40B4-BE49-F238E27FC236}">
                <a16:creationId xmlns:a16="http://schemas.microsoft.com/office/drawing/2014/main" id="{3B1D2A61-92DD-6E11-28B2-C7813763E537}"/>
              </a:ext>
            </a:extLst>
          </p:cNvPr>
          <p:cNvSpPr txBox="1"/>
          <p:nvPr/>
        </p:nvSpPr>
        <p:spPr>
          <a:xfrm>
            <a:off x="9049308" y="2160297"/>
            <a:ext cx="2509912" cy="200055"/>
          </a:xfrm>
          <a:prstGeom prst="rect">
            <a:avLst/>
          </a:prstGeom>
          <a:noFill/>
        </p:spPr>
        <p:txBody>
          <a:bodyPr wrap="square" rtlCol="0">
            <a:spAutoFit/>
          </a:bodyPr>
          <a:lstStyle/>
          <a:p>
            <a:r>
              <a:rPr lang="en-US" sz="700">
                <a:solidFill>
                  <a:schemeClr val="accent2"/>
                </a:solidFill>
              </a:rPr>
              <a:t>No updates to clinicians on new safety data</a:t>
            </a:r>
            <a:endParaRPr lang="en-SG" sz="700">
              <a:solidFill>
                <a:schemeClr val="accent2"/>
              </a:solidFill>
            </a:endParaRPr>
          </a:p>
        </p:txBody>
      </p:sp>
      <p:sp>
        <p:nvSpPr>
          <p:cNvPr id="151" name="TextBox 150">
            <a:extLst>
              <a:ext uri="{FF2B5EF4-FFF2-40B4-BE49-F238E27FC236}">
                <a16:creationId xmlns:a16="http://schemas.microsoft.com/office/drawing/2014/main" id="{DC891FE0-ABB4-F33B-E22C-7378E20BB647}"/>
              </a:ext>
            </a:extLst>
          </p:cNvPr>
          <p:cNvSpPr txBox="1"/>
          <p:nvPr/>
        </p:nvSpPr>
        <p:spPr>
          <a:xfrm>
            <a:off x="6687374" y="2541043"/>
            <a:ext cx="874976" cy="415498"/>
          </a:xfrm>
          <a:prstGeom prst="rect">
            <a:avLst/>
          </a:prstGeom>
          <a:noFill/>
        </p:spPr>
        <p:txBody>
          <a:bodyPr wrap="square" rtlCol="0">
            <a:spAutoFit/>
          </a:bodyPr>
          <a:lstStyle/>
          <a:p>
            <a:pPr algn="r"/>
            <a:r>
              <a:rPr lang="en-US" sz="700"/>
              <a:t>Clinicians unaware of where to find radiologist roster</a:t>
            </a:r>
            <a:endParaRPr lang="en-SG" sz="700"/>
          </a:p>
        </p:txBody>
      </p:sp>
      <p:sp>
        <p:nvSpPr>
          <p:cNvPr id="152" name="TextBox 151">
            <a:extLst>
              <a:ext uri="{FF2B5EF4-FFF2-40B4-BE49-F238E27FC236}">
                <a16:creationId xmlns:a16="http://schemas.microsoft.com/office/drawing/2014/main" id="{E1094A42-2525-A84D-4A65-39D0B75E4E92}"/>
              </a:ext>
            </a:extLst>
          </p:cNvPr>
          <p:cNvSpPr txBox="1"/>
          <p:nvPr/>
        </p:nvSpPr>
        <p:spPr>
          <a:xfrm>
            <a:off x="5262899" y="1568657"/>
            <a:ext cx="1652867" cy="200055"/>
          </a:xfrm>
          <a:prstGeom prst="rect">
            <a:avLst/>
          </a:prstGeom>
          <a:noFill/>
        </p:spPr>
        <p:txBody>
          <a:bodyPr wrap="square" rtlCol="0">
            <a:spAutoFit/>
          </a:bodyPr>
          <a:lstStyle/>
          <a:p>
            <a:pPr algn="r"/>
            <a:r>
              <a:rPr lang="en-US" sz="700">
                <a:solidFill>
                  <a:schemeClr val="accent2"/>
                </a:solidFill>
              </a:rPr>
              <a:t>Duty radiologist for MRI changes daily</a:t>
            </a:r>
            <a:endParaRPr lang="en-SG" sz="700">
              <a:solidFill>
                <a:schemeClr val="accent2"/>
              </a:solidFill>
            </a:endParaRPr>
          </a:p>
        </p:txBody>
      </p:sp>
      <p:sp>
        <p:nvSpPr>
          <p:cNvPr id="153" name="Line 188">
            <a:extLst>
              <a:ext uri="{FF2B5EF4-FFF2-40B4-BE49-F238E27FC236}">
                <a16:creationId xmlns:a16="http://schemas.microsoft.com/office/drawing/2014/main" id="{C37986B9-F6F7-CA64-CCCB-0608F83831D9}"/>
              </a:ext>
            </a:extLst>
          </p:cNvPr>
          <p:cNvSpPr>
            <a:spLocks noChangeShapeType="1"/>
          </p:cNvSpPr>
          <p:nvPr/>
        </p:nvSpPr>
        <p:spPr bwMode="auto">
          <a:xfrm>
            <a:off x="6711036" y="1744978"/>
            <a:ext cx="171762" cy="29648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n-US"/>
          </a:p>
        </p:txBody>
      </p:sp>
      <p:sp>
        <p:nvSpPr>
          <p:cNvPr id="154" name="TextBox 153">
            <a:extLst>
              <a:ext uri="{FF2B5EF4-FFF2-40B4-BE49-F238E27FC236}">
                <a16:creationId xmlns:a16="http://schemas.microsoft.com/office/drawing/2014/main" id="{2B340496-5027-145F-DFE0-9C4F2FE4B2B5}"/>
              </a:ext>
            </a:extLst>
          </p:cNvPr>
          <p:cNvSpPr txBox="1"/>
          <p:nvPr/>
        </p:nvSpPr>
        <p:spPr>
          <a:xfrm>
            <a:off x="7296167" y="2824290"/>
            <a:ext cx="884132" cy="523220"/>
          </a:xfrm>
          <a:prstGeom prst="rect">
            <a:avLst/>
          </a:prstGeom>
          <a:noFill/>
        </p:spPr>
        <p:txBody>
          <a:bodyPr wrap="square" lIns="91440" tIns="45720" rIns="91440" bIns="45720" rtlCol="0" anchor="t">
            <a:spAutoFit/>
          </a:bodyPr>
          <a:lstStyle/>
          <a:p>
            <a:pPr algn="r"/>
            <a:r>
              <a:rPr lang="en-US" sz="700">
                <a:solidFill>
                  <a:schemeClr val="accent2"/>
                </a:solidFill>
              </a:rPr>
              <a:t>Radiologist roster for specific scan not available on Rooster </a:t>
            </a:r>
            <a:endParaRPr lang="en-SG" sz="700">
              <a:solidFill>
                <a:schemeClr val="accent2"/>
              </a:solidFill>
            </a:endParaRPr>
          </a:p>
        </p:txBody>
      </p:sp>
      <p:sp>
        <p:nvSpPr>
          <p:cNvPr id="155" name="Line 188">
            <a:extLst>
              <a:ext uri="{FF2B5EF4-FFF2-40B4-BE49-F238E27FC236}">
                <a16:creationId xmlns:a16="http://schemas.microsoft.com/office/drawing/2014/main" id="{35FF69D4-1CC4-55A8-7133-C06E136D82EE}"/>
              </a:ext>
            </a:extLst>
          </p:cNvPr>
          <p:cNvSpPr>
            <a:spLocks noChangeShapeType="1"/>
          </p:cNvSpPr>
          <p:nvPr/>
        </p:nvSpPr>
        <p:spPr bwMode="auto">
          <a:xfrm flipH="1" flipV="1">
            <a:off x="7256947" y="2392305"/>
            <a:ext cx="492655" cy="42420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n-US"/>
          </a:p>
        </p:txBody>
      </p:sp>
      <p:sp>
        <p:nvSpPr>
          <p:cNvPr id="156" name="Line 188">
            <a:extLst>
              <a:ext uri="{FF2B5EF4-FFF2-40B4-BE49-F238E27FC236}">
                <a16:creationId xmlns:a16="http://schemas.microsoft.com/office/drawing/2014/main" id="{4D9C2CC2-7A9F-58ED-E593-E162FD914646}"/>
              </a:ext>
            </a:extLst>
          </p:cNvPr>
          <p:cNvSpPr>
            <a:spLocks noChangeShapeType="1"/>
          </p:cNvSpPr>
          <p:nvPr/>
        </p:nvSpPr>
        <p:spPr bwMode="auto">
          <a:xfrm flipV="1">
            <a:off x="6261505" y="2137294"/>
            <a:ext cx="731271" cy="50557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n-US"/>
          </a:p>
        </p:txBody>
      </p:sp>
      <p:sp>
        <p:nvSpPr>
          <p:cNvPr id="157" name="Line 184">
            <a:extLst>
              <a:ext uri="{FF2B5EF4-FFF2-40B4-BE49-F238E27FC236}">
                <a16:creationId xmlns:a16="http://schemas.microsoft.com/office/drawing/2014/main" id="{34DA4D99-0197-52C8-DA78-F22CDC05E3F8}"/>
              </a:ext>
            </a:extLst>
          </p:cNvPr>
          <p:cNvSpPr>
            <a:spLocks noChangeShapeType="1"/>
          </p:cNvSpPr>
          <p:nvPr/>
        </p:nvSpPr>
        <p:spPr bwMode="auto">
          <a:xfrm flipH="1">
            <a:off x="8715181" y="2267213"/>
            <a:ext cx="363990" cy="1243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n-US"/>
          </a:p>
        </p:txBody>
      </p:sp>
      <p:sp>
        <p:nvSpPr>
          <p:cNvPr id="158" name="TextBox 157">
            <a:extLst>
              <a:ext uri="{FF2B5EF4-FFF2-40B4-BE49-F238E27FC236}">
                <a16:creationId xmlns:a16="http://schemas.microsoft.com/office/drawing/2014/main" id="{E3DFB196-0981-33CB-0DC5-D45F9FA11B43}"/>
              </a:ext>
            </a:extLst>
          </p:cNvPr>
          <p:cNvSpPr txBox="1"/>
          <p:nvPr/>
        </p:nvSpPr>
        <p:spPr>
          <a:xfrm>
            <a:off x="8087995" y="1438819"/>
            <a:ext cx="2509912" cy="307777"/>
          </a:xfrm>
          <a:prstGeom prst="rect">
            <a:avLst/>
          </a:prstGeom>
          <a:noFill/>
        </p:spPr>
        <p:txBody>
          <a:bodyPr wrap="square" rtlCol="0">
            <a:spAutoFit/>
          </a:bodyPr>
          <a:lstStyle/>
          <a:p>
            <a:r>
              <a:rPr lang="en-US" sz="700">
                <a:solidFill>
                  <a:schemeClr val="accent2"/>
                </a:solidFill>
              </a:rPr>
              <a:t>Patient unwilling to attend another clinic consult for purpose of counselling on risk of MRI with contrast thus declines contrast</a:t>
            </a:r>
            <a:endParaRPr lang="en-SG" sz="700">
              <a:solidFill>
                <a:schemeClr val="accent2"/>
              </a:solidFill>
            </a:endParaRPr>
          </a:p>
        </p:txBody>
      </p:sp>
      <p:sp>
        <p:nvSpPr>
          <p:cNvPr id="159" name="Line 184">
            <a:extLst>
              <a:ext uri="{FF2B5EF4-FFF2-40B4-BE49-F238E27FC236}">
                <a16:creationId xmlns:a16="http://schemas.microsoft.com/office/drawing/2014/main" id="{66E5C75D-E144-B960-33E2-ADD80E4854A5}"/>
              </a:ext>
            </a:extLst>
          </p:cNvPr>
          <p:cNvSpPr>
            <a:spLocks noChangeShapeType="1"/>
          </p:cNvSpPr>
          <p:nvPr/>
        </p:nvSpPr>
        <p:spPr bwMode="auto">
          <a:xfrm flipV="1">
            <a:off x="8817394" y="2432050"/>
            <a:ext cx="50187" cy="19714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n-US"/>
          </a:p>
        </p:txBody>
      </p:sp>
      <p:sp>
        <p:nvSpPr>
          <p:cNvPr id="160" name="TextBox 159">
            <a:extLst>
              <a:ext uri="{FF2B5EF4-FFF2-40B4-BE49-F238E27FC236}">
                <a16:creationId xmlns:a16="http://schemas.microsoft.com/office/drawing/2014/main" id="{8AF5BBF8-8AF2-5A4E-E4BB-AC14BBAF1CA8}"/>
              </a:ext>
            </a:extLst>
          </p:cNvPr>
          <p:cNvSpPr txBox="1"/>
          <p:nvPr/>
        </p:nvSpPr>
        <p:spPr>
          <a:xfrm>
            <a:off x="8141249" y="2564453"/>
            <a:ext cx="2509912" cy="307777"/>
          </a:xfrm>
          <a:prstGeom prst="rect">
            <a:avLst/>
          </a:prstGeom>
          <a:noFill/>
        </p:spPr>
        <p:txBody>
          <a:bodyPr wrap="square" rtlCol="0">
            <a:spAutoFit/>
          </a:bodyPr>
          <a:lstStyle/>
          <a:p>
            <a:r>
              <a:rPr lang="en-US" sz="700">
                <a:solidFill>
                  <a:schemeClr val="accent2"/>
                </a:solidFill>
              </a:rPr>
              <a:t>No education to clinicians on how to counsel on contrast-enhanced MRI in CKD 4 patients</a:t>
            </a:r>
            <a:endParaRPr lang="en-SG" sz="700">
              <a:solidFill>
                <a:schemeClr val="accent2"/>
              </a:solidFill>
            </a:endParaRPr>
          </a:p>
        </p:txBody>
      </p:sp>
      <p:sp>
        <p:nvSpPr>
          <p:cNvPr id="161" name="TextBox 160">
            <a:extLst>
              <a:ext uri="{FF2B5EF4-FFF2-40B4-BE49-F238E27FC236}">
                <a16:creationId xmlns:a16="http://schemas.microsoft.com/office/drawing/2014/main" id="{D9B56C6E-C420-165A-D4D9-CB0A8FC03191}"/>
              </a:ext>
            </a:extLst>
          </p:cNvPr>
          <p:cNvSpPr txBox="1"/>
          <p:nvPr/>
        </p:nvSpPr>
        <p:spPr>
          <a:xfrm>
            <a:off x="5010193" y="4307249"/>
            <a:ext cx="1232983" cy="630942"/>
          </a:xfrm>
          <a:prstGeom prst="rect">
            <a:avLst/>
          </a:prstGeom>
          <a:noFill/>
        </p:spPr>
        <p:txBody>
          <a:bodyPr wrap="square" rtlCol="0">
            <a:spAutoFit/>
          </a:bodyPr>
          <a:lstStyle/>
          <a:p>
            <a:r>
              <a:rPr lang="en-SG" sz="700"/>
              <a:t>No reminders during process of ordering scan to clinicians about appropriateness of contrast-enhanced MRIs in CKD4 patients </a:t>
            </a:r>
          </a:p>
        </p:txBody>
      </p:sp>
      <p:sp>
        <p:nvSpPr>
          <p:cNvPr id="162" name="Line 206">
            <a:extLst>
              <a:ext uri="{FF2B5EF4-FFF2-40B4-BE49-F238E27FC236}">
                <a16:creationId xmlns:a16="http://schemas.microsoft.com/office/drawing/2014/main" id="{0E082605-AA10-1712-94D0-B63E750A2773}"/>
              </a:ext>
            </a:extLst>
          </p:cNvPr>
          <p:cNvSpPr>
            <a:spLocks noChangeShapeType="1"/>
          </p:cNvSpPr>
          <p:nvPr/>
        </p:nvSpPr>
        <p:spPr bwMode="auto">
          <a:xfrm>
            <a:off x="5689634" y="4813377"/>
            <a:ext cx="300373" cy="50725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n-US"/>
          </a:p>
        </p:txBody>
      </p:sp>
      <p:sp>
        <p:nvSpPr>
          <p:cNvPr id="163" name="Line 177">
            <a:extLst>
              <a:ext uri="{FF2B5EF4-FFF2-40B4-BE49-F238E27FC236}">
                <a16:creationId xmlns:a16="http://schemas.microsoft.com/office/drawing/2014/main" id="{C2C4F70D-CF6A-C663-1910-5A35D7FBDCE1}"/>
              </a:ext>
            </a:extLst>
          </p:cNvPr>
          <p:cNvSpPr>
            <a:spLocks noChangeShapeType="1"/>
          </p:cNvSpPr>
          <p:nvPr/>
        </p:nvSpPr>
        <p:spPr bwMode="auto">
          <a:xfrm>
            <a:off x="5082632" y="5019447"/>
            <a:ext cx="765769" cy="5631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n-US"/>
          </a:p>
        </p:txBody>
      </p:sp>
      <p:sp>
        <p:nvSpPr>
          <p:cNvPr id="164" name="TextBox 163">
            <a:extLst>
              <a:ext uri="{FF2B5EF4-FFF2-40B4-BE49-F238E27FC236}">
                <a16:creationId xmlns:a16="http://schemas.microsoft.com/office/drawing/2014/main" id="{8D4D5031-5DE1-6B09-6009-F037B86810A0}"/>
              </a:ext>
            </a:extLst>
          </p:cNvPr>
          <p:cNvSpPr txBox="1"/>
          <p:nvPr/>
        </p:nvSpPr>
        <p:spPr>
          <a:xfrm>
            <a:off x="4391258" y="4861141"/>
            <a:ext cx="933635" cy="307777"/>
          </a:xfrm>
          <a:prstGeom prst="rect">
            <a:avLst/>
          </a:prstGeom>
          <a:noFill/>
        </p:spPr>
        <p:txBody>
          <a:bodyPr wrap="square" rtlCol="0">
            <a:spAutoFit/>
          </a:bodyPr>
          <a:lstStyle/>
          <a:p>
            <a:r>
              <a:rPr lang="en-SG" sz="700">
                <a:solidFill>
                  <a:srgbClr val="92D050"/>
                </a:solidFill>
              </a:rPr>
              <a:t>No appropriate prompt on EPIC</a:t>
            </a:r>
          </a:p>
        </p:txBody>
      </p:sp>
      <p:sp>
        <p:nvSpPr>
          <p:cNvPr id="165" name="Line 175">
            <a:extLst>
              <a:ext uri="{FF2B5EF4-FFF2-40B4-BE49-F238E27FC236}">
                <a16:creationId xmlns:a16="http://schemas.microsoft.com/office/drawing/2014/main" id="{ED5FB4D1-05EA-572F-26D7-9250915FE010}"/>
              </a:ext>
            </a:extLst>
          </p:cNvPr>
          <p:cNvSpPr>
            <a:spLocks noChangeShapeType="1"/>
          </p:cNvSpPr>
          <p:nvPr/>
        </p:nvSpPr>
        <p:spPr bwMode="auto">
          <a:xfrm flipH="1">
            <a:off x="2645027" y="5309996"/>
            <a:ext cx="849832" cy="19069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n-US"/>
          </a:p>
        </p:txBody>
      </p:sp>
      <p:sp>
        <p:nvSpPr>
          <p:cNvPr id="166" name="TextBox 165">
            <a:extLst>
              <a:ext uri="{FF2B5EF4-FFF2-40B4-BE49-F238E27FC236}">
                <a16:creationId xmlns:a16="http://schemas.microsoft.com/office/drawing/2014/main" id="{853F2871-937B-CAD7-C12C-3763496FA343}"/>
              </a:ext>
            </a:extLst>
          </p:cNvPr>
          <p:cNvSpPr txBox="1"/>
          <p:nvPr/>
        </p:nvSpPr>
        <p:spPr>
          <a:xfrm>
            <a:off x="3422075" y="5215191"/>
            <a:ext cx="933635" cy="307777"/>
          </a:xfrm>
          <a:prstGeom prst="rect">
            <a:avLst/>
          </a:prstGeom>
          <a:noFill/>
        </p:spPr>
        <p:txBody>
          <a:bodyPr wrap="square" rtlCol="0">
            <a:spAutoFit/>
          </a:bodyPr>
          <a:lstStyle/>
          <a:p>
            <a:r>
              <a:rPr lang="en-US" sz="700"/>
              <a:t>Clinician did not educate patient </a:t>
            </a:r>
            <a:endParaRPr lang="en-SG" sz="700"/>
          </a:p>
        </p:txBody>
      </p:sp>
      <p:sp>
        <p:nvSpPr>
          <p:cNvPr id="167" name="Line 135">
            <a:extLst>
              <a:ext uri="{FF2B5EF4-FFF2-40B4-BE49-F238E27FC236}">
                <a16:creationId xmlns:a16="http://schemas.microsoft.com/office/drawing/2014/main" id="{C89FE9E0-A6BD-3DE2-B559-EEF97F58D013}"/>
              </a:ext>
            </a:extLst>
          </p:cNvPr>
          <p:cNvSpPr>
            <a:spLocks noChangeShapeType="1"/>
          </p:cNvSpPr>
          <p:nvPr/>
        </p:nvSpPr>
        <p:spPr bwMode="auto">
          <a:xfrm flipH="1">
            <a:off x="3255995" y="4742853"/>
            <a:ext cx="237563" cy="59224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n-US"/>
          </a:p>
        </p:txBody>
      </p:sp>
      <p:sp>
        <p:nvSpPr>
          <p:cNvPr id="168" name="Line 131">
            <a:extLst>
              <a:ext uri="{FF2B5EF4-FFF2-40B4-BE49-F238E27FC236}">
                <a16:creationId xmlns:a16="http://schemas.microsoft.com/office/drawing/2014/main" id="{DF12F650-7DC2-040C-A418-BCD8CCF990F6}"/>
              </a:ext>
            </a:extLst>
          </p:cNvPr>
          <p:cNvSpPr>
            <a:spLocks noChangeShapeType="1"/>
          </p:cNvSpPr>
          <p:nvPr/>
        </p:nvSpPr>
        <p:spPr bwMode="auto">
          <a:xfrm flipH="1">
            <a:off x="3399731" y="4999642"/>
            <a:ext cx="278574" cy="7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n-US"/>
          </a:p>
        </p:txBody>
      </p:sp>
      <p:sp>
        <p:nvSpPr>
          <p:cNvPr id="169" name="TextBox 168">
            <a:extLst>
              <a:ext uri="{FF2B5EF4-FFF2-40B4-BE49-F238E27FC236}">
                <a16:creationId xmlns:a16="http://schemas.microsoft.com/office/drawing/2014/main" id="{F73C1E2C-AC5E-FBB3-3FB3-E2F4818A07E9}"/>
              </a:ext>
            </a:extLst>
          </p:cNvPr>
          <p:cNvSpPr txBox="1"/>
          <p:nvPr/>
        </p:nvSpPr>
        <p:spPr>
          <a:xfrm>
            <a:off x="3298646" y="4228155"/>
            <a:ext cx="1255643" cy="523220"/>
          </a:xfrm>
          <a:prstGeom prst="rect">
            <a:avLst/>
          </a:prstGeom>
          <a:noFill/>
        </p:spPr>
        <p:txBody>
          <a:bodyPr wrap="square" rtlCol="0">
            <a:spAutoFit/>
          </a:bodyPr>
          <a:lstStyle/>
          <a:p>
            <a:r>
              <a:rPr lang="en-US" sz="700"/>
              <a:t>Referring clinicians unaware of new safety data on current-generation GBCAs in CKD 4 patients</a:t>
            </a:r>
            <a:endParaRPr lang="en-SG" sz="700"/>
          </a:p>
        </p:txBody>
      </p:sp>
      <p:sp>
        <p:nvSpPr>
          <p:cNvPr id="170" name="TextBox 169">
            <a:extLst>
              <a:ext uri="{FF2B5EF4-FFF2-40B4-BE49-F238E27FC236}">
                <a16:creationId xmlns:a16="http://schemas.microsoft.com/office/drawing/2014/main" id="{DAD8B595-81F2-3F57-059A-B4DC35B6334E}"/>
              </a:ext>
            </a:extLst>
          </p:cNvPr>
          <p:cNvSpPr txBox="1"/>
          <p:nvPr/>
        </p:nvSpPr>
        <p:spPr>
          <a:xfrm>
            <a:off x="3621056" y="4723473"/>
            <a:ext cx="729343" cy="523220"/>
          </a:xfrm>
          <a:prstGeom prst="rect">
            <a:avLst/>
          </a:prstGeom>
          <a:noFill/>
        </p:spPr>
        <p:txBody>
          <a:bodyPr wrap="square" rtlCol="0">
            <a:spAutoFit/>
          </a:bodyPr>
          <a:lstStyle/>
          <a:p>
            <a:r>
              <a:rPr lang="en-US" sz="700">
                <a:solidFill>
                  <a:schemeClr val="accent1"/>
                </a:solidFill>
              </a:rPr>
              <a:t>No updates to clinicians of new safety data</a:t>
            </a:r>
            <a:endParaRPr lang="en-SG" sz="700">
              <a:solidFill>
                <a:schemeClr val="accent1"/>
              </a:solidFill>
            </a:endParaRPr>
          </a:p>
        </p:txBody>
      </p:sp>
      <p:sp>
        <p:nvSpPr>
          <p:cNvPr id="171" name="TextBox 170">
            <a:extLst>
              <a:ext uri="{FF2B5EF4-FFF2-40B4-BE49-F238E27FC236}">
                <a16:creationId xmlns:a16="http://schemas.microsoft.com/office/drawing/2014/main" id="{451413BB-CD24-FAD2-9B96-CBF140ED4369}"/>
              </a:ext>
            </a:extLst>
          </p:cNvPr>
          <p:cNvSpPr txBox="1"/>
          <p:nvPr/>
        </p:nvSpPr>
        <p:spPr>
          <a:xfrm>
            <a:off x="-16291" y="5811816"/>
            <a:ext cx="534501" cy="523220"/>
          </a:xfrm>
          <a:prstGeom prst="rect">
            <a:avLst/>
          </a:prstGeom>
          <a:noFill/>
        </p:spPr>
        <p:txBody>
          <a:bodyPr wrap="square" rtlCol="0">
            <a:spAutoFit/>
          </a:bodyPr>
          <a:lstStyle/>
          <a:p>
            <a:r>
              <a:rPr lang="en-US" sz="700"/>
              <a:t>Clinician did not educate patient </a:t>
            </a:r>
            <a:endParaRPr lang="en-SG" sz="700"/>
          </a:p>
        </p:txBody>
      </p:sp>
      <p:sp>
        <p:nvSpPr>
          <p:cNvPr id="172" name="Line 135">
            <a:extLst>
              <a:ext uri="{FF2B5EF4-FFF2-40B4-BE49-F238E27FC236}">
                <a16:creationId xmlns:a16="http://schemas.microsoft.com/office/drawing/2014/main" id="{A3A182E8-6D6D-8391-42F6-AD60A82F5A51}"/>
              </a:ext>
            </a:extLst>
          </p:cNvPr>
          <p:cNvSpPr>
            <a:spLocks noChangeShapeType="1"/>
          </p:cNvSpPr>
          <p:nvPr/>
        </p:nvSpPr>
        <p:spPr bwMode="auto">
          <a:xfrm flipV="1">
            <a:off x="652243" y="5002204"/>
            <a:ext cx="232995" cy="57507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n-US"/>
          </a:p>
        </p:txBody>
      </p:sp>
      <p:sp>
        <p:nvSpPr>
          <p:cNvPr id="173" name="Line 131">
            <a:extLst>
              <a:ext uri="{FF2B5EF4-FFF2-40B4-BE49-F238E27FC236}">
                <a16:creationId xmlns:a16="http://schemas.microsoft.com/office/drawing/2014/main" id="{5FD67F8C-8733-6A3A-16D9-14C9C570F564}"/>
              </a:ext>
            </a:extLst>
          </p:cNvPr>
          <p:cNvSpPr>
            <a:spLocks noChangeShapeType="1"/>
          </p:cNvSpPr>
          <p:nvPr/>
        </p:nvSpPr>
        <p:spPr bwMode="auto">
          <a:xfrm flipV="1">
            <a:off x="262589" y="5316235"/>
            <a:ext cx="461618" cy="54918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n-US"/>
          </a:p>
        </p:txBody>
      </p:sp>
      <p:sp>
        <p:nvSpPr>
          <p:cNvPr id="174" name="TextBox 173">
            <a:extLst>
              <a:ext uri="{FF2B5EF4-FFF2-40B4-BE49-F238E27FC236}">
                <a16:creationId xmlns:a16="http://schemas.microsoft.com/office/drawing/2014/main" id="{9381DAEB-FC1D-7CF2-AF85-BEBD5C20179A}"/>
              </a:ext>
            </a:extLst>
          </p:cNvPr>
          <p:cNvSpPr txBox="1"/>
          <p:nvPr/>
        </p:nvSpPr>
        <p:spPr>
          <a:xfrm>
            <a:off x="439001" y="5533619"/>
            <a:ext cx="988292" cy="738664"/>
          </a:xfrm>
          <a:prstGeom prst="rect">
            <a:avLst/>
          </a:prstGeom>
          <a:noFill/>
        </p:spPr>
        <p:txBody>
          <a:bodyPr wrap="square" rtlCol="0">
            <a:spAutoFit/>
          </a:bodyPr>
          <a:lstStyle/>
          <a:p>
            <a:r>
              <a:rPr lang="en-US" sz="700"/>
              <a:t>Referring clinicians unaware of new safety data on current-generation GBCAs in CKD 4 patients</a:t>
            </a:r>
            <a:endParaRPr lang="en-SG" sz="700"/>
          </a:p>
        </p:txBody>
      </p:sp>
      <p:sp>
        <p:nvSpPr>
          <p:cNvPr id="175" name="TextBox 174">
            <a:extLst>
              <a:ext uri="{FF2B5EF4-FFF2-40B4-BE49-F238E27FC236}">
                <a16:creationId xmlns:a16="http://schemas.microsoft.com/office/drawing/2014/main" id="{1CC2313D-22CF-BC4C-8422-EB46567E1BF7}"/>
              </a:ext>
            </a:extLst>
          </p:cNvPr>
          <p:cNvSpPr txBox="1"/>
          <p:nvPr/>
        </p:nvSpPr>
        <p:spPr>
          <a:xfrm>
            <a:off x="19133" y="6440062"/>
            <a:ext cx="1382478" cy="307777"/>
          </a:xfrm>
          <a:prstGeom prst="rect">
            <a:avLst/>
          </a:prstGeom>
          <a:noFill/>
        </p:spPr>
        <p:txBody>
          <a:bodyPr wrap="square" rtlCol="0">
            <a:spAutoFit/>
          </a:bodyPr>
          <a:lstStyle/>
          <a:p>
            <a:r>
              <a:rPr lang="en-US" sz="700">
                <a:solidFill>
                  <a:schemeClr val="accent1"/>
                </a:solidFill>
              </a:rPr>
              <a:t>No updates to doctors on new safety data</a:t>
            </a:r>
            <a:endParaRPr lang="en-SG" sz="700">
              <a:solidFill>
                <a:schemeClr val="accent1"/>
              </a:solidFill>
            </a:endParaRPr>
          </a:p>
        </p:txBody>
      </p:sp>
      <p:sp>
        <p:nvSpPr>
          <p:cNvPr id="176" name="Line 131">
            <a:extLst>
              <a:ext uri="{FF2B5EF4-FFF2-40B4-BE49-F238E27FC236}">
                <a16:creationId xmlns:a16="http://schemas.microsoft.com/office/drawing/2014/main" id="{5DC71789-28BD-CCCB-A064-418B4EF54A1D}"/>
              </a:ext>
            </a:extLst>
          </p:cNvPr>
          <p:cNvSpPr>
            <a:spLocks noChangeShapeType="1"/>
          </p:cNvSpPr>
          <p:nvPr/>
        </p:nvSpPr>
        <p:spPr bwMode="auto">
          <a:xfrm flipV="1">
            <a:off x="433056" y="5719717"/>
            <a:ext cx="11313" cy="71782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n-US"/>
          </a:p>
        </p:txBody>
      </p:sp>
      <p:sp>
        <p:nvSpPr>
          <p:cNvPr id="177" name="Line 193">
            <a:extLst>
              <a:ext uri="{FF2B5EF4-FFF2-40B4-BE49-F238E27FC236}">
                <a16:creationId xmlns:a16="http://schemas.microsoft.com/office/drawing/2014/main" id="{C4A25258-666A-F513-B0CC-BDEFE86812C1}"/>
              </a:ext>
            </a:extLst>
          </p:cNvPr>
          <p:cNvSpPr>
            <a:spLocks noChangeShapeType="1"/>
          </p:cNvSpPr>
          <p:nvPr/>
        </p:nvSpPr>
        <p:spPr bwMode="auto">
          <a:xfrm flipH="1">
            <a:off x="9136379" y="2878661"/>
            <a:ext cx="1514781" cy="26484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n-US"/>
          </a:p>
        </p:txBody>
      </p:sp>
      <p:sp>
        <p:nvSpPr>
          <p:cNvPr id="178" name="TextBox 177">
            <a:extLst>
              <a:ext uri="{FF2B5EF4-FFF2-40B4-BE49-F238E27FC236}">
                <a16:creationId xmlns:a16="http://schemas.microsoft.com/office/drawing/2014/main" id="{CEA358F6-5229-FDCD-BB80-41C498C4CDE3}"/>
              </a:ext>
            </a:extLst>
          </p:cNvPr>
          <p:cNvSpPr txBox="1"/>
          <p:nvPr/>
        </p:nvSpPr>
        <p:spPr>
          <a:xfrm>
            <a:off x="10584959" y="2751816"/>
            <a:ext cx="1406306" cy="415498"/>
          </a:xfrm>
          <a:prstGeom prst="rect">
            <a:avLst/>
          </a:prstGeom>
          <a:noFill/>
        </p:spPr>
        <p:txBody>
          <a:bodyPr wrap="square" rtlCol="0">
            <a:spAutoFit/>
          </a:bodyPr>
          <a:lstStyle/>
          <a:p>
            <a:r>
              <a:rPr lang="en-SG" sz="700"/>
              <a:t>Time taken for Radiologists to educate individual clinicians on every case encountered </a:t>
            </a:r>
          </a:p>
        </p:txBody>
      </p:sp>
      <p:sp>
        <p:nvSpPr>
          <p:cNvPr id="179" name="TextBox 178">
            <a:extLst>
              <a:ext uri="{FF2B5EF4-FFF2-40B4-BE49-F238E27FC236}">
                <a16:creationId xmlns:a16="http://schemas.microsoft.com/office/drawing/2014/main" id="{165DABED-11EA-8040-58F9-7EC7D1FE77DF}"/>
              </a:ext>
            </a:extLst>
          </p:cNvPr>
          <p:cNvSpPr txBox="1"/>
          <p:nvPr/>
        </p:nvSpPr>
        <p:spPr>
          <a:xfrm>
            <a:off x="10430811" y="2504254"/>
            <a:ext cx="1761189" cy="307777"/>
          </a:xfrm>
          <a:prstGeom prst="rect">
            <a:avLst/>
          </a:prstGeom>
          <a:noFill/>
        </p:spPr>
        <p:txBody>
          <a:bodyPr wrap="square" rtlCol="0">
            <a:spAutoFit/>
          </a:bodyPr>
          <a:lstStyle/>
          <a:p>
            <a:r>
              <a:rPr lang="en-US" sz="700">
                <a:solidFill>
                  <a:schemeClr val="accent2"/>
                </a:solidFill>
              </a:rPr>
              <a:t>No collective update to clinicians on new safety data</a:t>
            </a:r>
            <a:endParaRPr lang="en-SG" sz="700">
              <a:solidFill>
                <a:schemeClr val="accent2"/>
              </a:solidFill>
            </a:endParaRPr>
          </a:p>
        </p:txBody>
      </p:sp>
      <p:sp>
        <p:nvSpPr>
          <p:cNvPr id="180" name="Line 193">
            <a:extLst>
              <a:ext uri="{FF2B5EF4-FFF2-40B4-BE49-F238E27FC236}">
                <a16:creationId xmlns:a16="http://schemas.microsoft.com/office/drawing/2014/main" id="{E23C082A-F066-43C3-2376-4275515A64F5}"/>
              </a:ext>
            </a:extLst>
          </p:cNvPr>
          <p:cNvSpPr>
            <a:spLocks noChangeShapeType="1"/>
          </p:cNvSpPr>
          <p:nvPr/>
        </p:nvSpPr>
        <p:spPr bwMode="auto">
          <a:xfrm flipH="1">
            <a:off x="10141862" y="2704309"/>
            <a:ext cx="366396" cy="23205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n-US"/>
          </a:p>
        </p:txBody>
      </p:sp>
      <p:sp>
        <p:nvSpPr>
          <p:cNvPr id="181" name="TextBox 180">
            <a:extLst>
              <a:ext uri="{FF2B5EF4-FFF2-40B4-BE49-F238E27FC236}">
                <a16:creationId xmlns:a16="http://schemas.microsoft.com/office/drawing/2014/main" id="{E33CA0F2-6F6A-8296-26B4-116CF90203FC}"/>
              </a:ext>
            </a:extLst>
          </p:cNvPr>
          <p:cNvSpPr txBox="1"/>
          <p:nvPr/>
        </p:nvSpPr>
        <p:spPr>
          <a:xfrm>
            <a:off x="4203249" y="5151757"/>
            <a:ext cx="1063961" cy="415498"/>
          </a:xfrm>
          <a:prstGeom prst="rect">
            <a:avLst/>
          </a:prstGeom>
          <a:noFill/>
        </p:spPr>
        <p:txBody>
          <a:bodyPr wrap="square" rtlCol="0">
            <a:spAutoFit/>
          </a:bodyPr>
          <a:lstStyle/>
          <a:p>
            <a:pPr algn="r"/>
            <a:r>
              <a:rPr lang="en-SG" sz="700"/>
              <a:t>Appropriate counselling of patients not done prior to scan</a:t>
            </a:r>
          </a:p>
        </p:txBody>
      </p:sp>
      <p:sp>
        <p:nvSpPr>
          <p:cNvPr id="182" name="TextBox 181">
            <a:extLst>
              <a:ext uri="{FF2B5EF4-FFF2-40B4-BE49-F238E27FC236}">
                <a16:creationId xmlns:a16="http://schemas.microsoft.com/office/drawing/2014/main" id="{C81A9ED4-2690-F069-2457-692A10AAEF46}"/>
              </a:ext>
            </a:extLst>
          </p:cNvPr>
          <p:cNvSpPr txBox="1"/>
          <p:nvPr/>
        </p:nvSpPr>
        <p:spPr>
          <a:xfrm>
            <a:off x="996173" y="3691391"/>
            <a:ext cx="1744990" cy="307777"/>
          </a:xfrm>
          <a:prstGeom prst="rect">
            <a:avLst/>
          </a:prstGeom>
          <a:noFill/>
        </p:spPr>
        <p:txBody>
          <a:bodyPr wrap="square" rtlCol="0">
            <a:spAutoFit/>
          </a:bodyPr>
          <a:lstStyle/>
          <a:p>
            <a:r>
              <a:rPr lang="en-US" sz="700">
                <a:solidFill>
                  <a:srgbClr val="7030A0"/>
                </a:solidFill>
              </a:rPr>
              <a:t>No standardized counselling template for junior doctors </a:t>
            </a:r>
            <a:endParaRPr lang="en-SG" sz="700">
              <a:solidFill>
                <a:srgbClr val="7030A0"/>
              </a:solidFill>
            </a:endParaRPr>
          </a:p>
        </p:txBody>
      </p:sp>
      <p:sp>
        <p:nvSpPr>
          <p:cNvPr id="183" name="TextBox 182">
            <a:extLst>
              <a:ext uri="{FF2B5EF4-FFF2-40B4-BE49-F238E27FC236}">
                <a16:creationId xmlns:a16="http://schemas.microsoft.com/office/drawing/2014/main" id="{F6185159-D66C-4460-6705-1F3B53776988}"/>
              </a:ext>
            </a:extLst>
          </p:cNvPr>
          <p:cNvSpPr txBox="1"/>
          <p:nvPr/>
        </p:nvSpPr>
        <p:spPr>
          <a:xfrm>
            <a:off x="2554747" y="3757554"/>
            <a:ext cx="1744990" cy="307777"/>
          </a:xfrm>
          <a:prstGeom prst="rect">
            <a:avLst/>
          </a:prstGeom>
          <a:noFill/>
        </p:spPr>
        <p:txBody>
          <a:bodyPr wrap="square" rtlCol="0">
            <a:spAutoFit/>
          </a:bodyPr>
          <a:lstStyle/>
          <a:p>
            <a:r>
              <a:rPr lang="en-US" sz="700">
                <a:solidFill>
                  <a:srgbClr val="7030A0"/>
                </a:solidFill>
              </a:rPr>
              <a:t>Frequent changeovers of junior doctors with lack of education for each batch</a:t>
            </a:r>
            <a:endParaRPr lang="en-SG" sz="700">
              <a:solidFill>
                <a:srgbClr val="7030A0"/>
              </a:solidFill>
            </a:endParaRPr>
          </a:p>
        </p:txBody>
      </p:sp>
      <p:sp>
        <p:nvSpPr>
          <p:cNvPr id="184" name="TextBox 183">
            <a:extLst>
              <a:ext uri="{FF2B5EF4-FFF2-40B4-BE49-F238E27FC236}">
                <a16:creationId xmlns:a16="http://schemas.microsoft.com/office/drawing/2014/main" id="{0EC0DDBA-6FDD-A643-2BB1-6DE51B46AA0A}"/>
              </a:ext>
            </a:extLst>
          </p:cNvPr>
          <p:cNvSpPr txBox="1"/>
          <p:nvPr/>
        </p:nvSpPr>
        <p:spPr>
          <a:xfrm>
            <a:off x="2072115" y="3229113"/>
            <a:ext cx="1420050" cy="415498"/>
          </a:xfrm>
          <a:prstGeom prst="rect">
            <a:avLst/>
          </a:prstGeom>
          <a:noFill/>
        </p:spPr>
        <p:txBody>
          <a:bodyPr wrap="square" rtlCol="0">
            <a:spAutoFit/>
          </a:bodyPr>
          <a:lstStyle/>
          <a:p>
            <a:r>
              <a:rPr lang="en-US" sz="700"/>
              <a:t>Junior doctors do not know how to counsel patient for scan in inpatient setting </a:t>
            </a:r>
            <a:endParaRPr lang="en-SG" sz="700"/>
          </a:p>
        </p:txBody>
      </p:sp>
      <p:sp>
        <p:nvSpPr>
          <p:cNvPr id="185" name="Line 138">
            <a:extLst>
              <a:ext uri="{FF2B5EF4-FFF2-40B4-BE49-F238E27FC236}">
                <a16:creationId xmlns:a16="http://schemas.microsoft.com/office/drawing/2014/main" id="{C1D62686-BF52-B4BB-33E9-84157A993CA1}"/>
              </a:ext>
            </a:extLst>
          </p:cNvPr>
          <p:cNvSpPr>
            <a:spLocks noChangeShapeType="1"/>
          </p:cNvSpPr>
          <p:nvPr/>
        </p:nvSpPr>
        <p:spPr bwMode="auto">
          <a:xfrm>
            <a:off x="2885008" y="3518931"/>
            <a:ext cx="936322" cy="45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n-US"/>
          </a:p>
        </p:txBody>
      </p:sp>
      <p:sp>
        <p:nvSpPr>
          <p:cNvPr id="186" name="Line 138">
            <a:extLst>
              <a:ext uri="{FF2B5EF4-FFF2-40B4-BE49-F238E27FC236}">
                <a16:creationId xmlns:a16="http://schemas.microsoft.com/office/drawing/2014/main" id="{76D0D0F7-CB52-D173-F40F-0EA095C2C7BD}"/>
              </a:ext>
            </a:extLst>
          </p:cNvPr>
          <p:cNvSpPr>
            <a:spLocks noChangeShapeType="1"/>
          </p:cNvSpPr>
          <p:nvPr/>
        </p:nvSpPr>
        <p:spPr bwMode="auto">
          <a:xfrm flipV="1">
            <a:off x="2072639" y="3555474"/>
            <a:ext cx="1054529" cy="15089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n-US"/>
          </a:p>
        </p:txBody>
      </p:sp>
      <p:sp>
        <p:nvSpPr>
          <p:cNvPr id="187" name="Line 138">
            <a:extLst>
              <a:ext uri="{FF2B5EF4-FFF2-40B4-BE49-F238E27FC236}">
                <a16:creationId xmlns:a16="http://schemas.microsoft.com/office/drawing/2014/main" id="{3B69B7A0-44A6-2556-2DEC-4E17DAEA6256}"/>
              </a:ext>
            </a:extLst>
          </p:cNvPr>
          <p:cNvSpPr>
            <a:spLocks noChangeShapeType="1"/>
          </p:cNvSpPr>
          <p:nvPr/>
        </p:nvSpPr>
        <p:spPr bwMode="auto">
          <a:xfrm flipV="1">
            <a:off x="3282274" y="3519693"/>
            <a:ext cx="123635" cy="29968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n-US"/>
          </a:p>
        </p:txBody>
      </p:sp>
      <p:sp>
        <p:nvSpPr>
          <p:cNvPr id="188" name="Oval 187">
            <a:extLst>
              <a:ext uri="{FF2B5EF4-FFF2-40B4-BE49-F238E27FC236}">
                <a16:creationId xmlns:a16="http://schemas.microsoft.com/office/drawing/2014/main" id="{3FE55AFD-8CAA-6297-0958-C8A6420F2169}"/>
              </a:ext>
            </a:extLst>
          </p:cNvPr>
          <p:cNvSpPr/>
          <p:nvPr/>
        </p:nvSpPr>
        <p:spPr>
          <a:xfrm>
            <a:off x="3328657" y="1768712"/>
            <a:ext cx="1681536" cy="33657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89" name="Oval 188">
            <a:extLst>
              <a:ext uri="{FF2B5EF4-FFF2-40B4-BE49-F238E27FC236}">
                <a16:creationId xmlns:a16="http://schemas.microsoft.com/office/drawing/2014/main" id="{41F38D11-DEE2-181A-C1F7-291D42C9EB5E}"/>
              </a:ext>
            </a:extLst>
          </p:cNvPr>
          <p:cNvSpPr/>
          <p:nvPr/>
        </p:nvSpPr>
        <p:spPr>
          <a:xfrm>
            <a:off x="4456011" y="3039895"/>
            <a:ext cx="784943" cy="383095"/>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90" name="Oval 189">
            <a:extLst>
              <a:ext uri="{FF2B5EF4-FFF2-40B4-BE49-F238E27FC236}">
                <a16:creationId xmlns:a16="http://schemas.microsoft.com/office/drawing/2014/main" id="{A6CFD498-3A7B-7822-B3EB-688E8FE6A579}"/>
              </a:ext>
            </a:extLst>
          </p:cNvPr>
          <p:cNvSpPr/>
          <p:nvPr/>
        </p:nvSpPr>
        <p:spPr>
          <a:xfrm>
            <a:off x="968678" y="3648925"/>
            <a:ext cx="1738586" cy="383095"/>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91" name="Oval 190">
            <a:extLst>
              <a:ext uri="{FF2B5EF4-FFF2-40B4-BE49-F238E27FC236}">
                <a16:creationId xmlns:a16="http://schemas.microsoft.com/office/drawing/2014/main" id="{69361CEC-0C21-A201-AB41-90C68AE096F7}"/>
              </a:ext>
            </a:extLst>
          </p:cNvPr>
          <p:cNvSpPr/>
          <p:nvPr/>
        </p:nvSpPr>
        <p:spPr>
          <a:xfrm>
            <a:off x="7306862" y="2758167"/>
            <a:ext cx="918560" cy="606092"/>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92" name="Oval 191">
            <a:extLst>
              <a:ext uri="{FF2B5EF4-FFF2-40B4-BE49-F238E27FC236}">
                <a16:creationId xmlns:a16="http://schemas.microsoft.com/office/drawing/2014/main" id="{6DB5D0E8-AB63-F5FD-8418-FBA9971DA401}"/>
              </a:ext>
            </a:extLst>
          </p:cNvPr>
          <p:cNvSpPr/>
          <p:nvPr/>
        </p:nvSpPr>
        <p:spPr>
          <a:xfrm>
            <a:off x="10567103" y="3106448"/>
            <a:ext cx="1424162" cy="523332"/>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93" name="Oval 192">
            <a:extLst>
              <a:ext uri="{FF2B5EF4-FFF2-40B4-BE49-F238E27FC236}">
                <a16:creationId xmlns:a16="http://schemas.microsoft.com/office/drawing/2014/main" id="{469EE1AE-8476-A165-E388-2EC65C54549A}"/>
              </a:ext>
            </a:extLst>
          </p:cNvPr>
          <p:cNvSpPr/>
          <p:nvPr/>
        </p:nvSpPr>
        <p:spPr>
          <a:xfrm>
            <a:off x="10479783" y="4750069"/>
            <a:ext cx="1424162" cy="523332"/>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94" name="Oval 193">
            <a:extLst>
              <a:ext uri="{FF2B5EF4-FFF2-40B4-BE49-F238E27FC236}">
                <a16:creationId xmlns:a16="http://schemas.microsoft.com/office/drawing/2014/main" id="{1CC818D4-7B19-8605-FFC2-944C148338D1}"/>
              </a:ext>
            </a:extLst>
          </p:cNvPr>
          <p:cNvSpPr/>
          <p:nvPr/>
        </p:nvSpPr>
        <p:spPr>
          <a:xfrm>
            <a:off x="7101848" y="4870576"/>
            <a:ext cx="766995" cy="523332"/>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95" name="Oval 194">
            <a:extLst>
              <a:ext uri="{FF2B5EF4-FFF2-40B4-BE49-F238E27FC236}">
                <a16:creationId xmlns:a16="http://schemas.microsoft.com/office/drawing/2014/main" id="{45A0003B-0C2A-046A-3B7A-8052C330DDAA}"/>
              </a:ext>
            </a:extLst>
          </p:cNvPr>
          <p:cNvSpPr/>
          <p:nvPr/>
        </p:nvSpPr>
        <p:spPr>
          <a:xfrm>
            <a:off x="6577202" y="5394360"/>
            <a:ext cx="766995" cy="523332"/>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96" name="Oval 195">
            <a:extLst>
              <a:ext uri="{FF2B5EF4-FFF2-40B4-BE49-F238E27FC236}">
                <a16:creationId xmlns:a16="http://schemas.microsoft.com/office/drawing/2014/main" id="{165DD59A-630E-7001-AE6F-DB7BD018086C}"/>
              </a:ext>
            </a:extLst>
          </p:cNvPr>
          <p:cNvSpPr/>
          <p:nvPr/>
        </p:nvSpPr>
        <p:spPr>
          <a:xfrm>
            <a:off x="3562751" y="4683873"/>
            <a:ext cx="766995" cy="523332"/>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97" name="Oval 196">
            <a:extLst>
              <a:ext uri="{FF2B5EF4-FFF2-40B4-BE49-F238E27FC236}">
                <a16:creationId xmlns:a16="http://schemas.microsoft.com/office/drawing/2014/main" id="{58BACA1B-0AC1-EAE1-D5BC-7B3D61A5D55A}"/>
              </a:ext>
            </a:extLst>
          </p:cNvPr>
          <p:cNvSpPr/>
          <p:nvPr/>
        </p:nvSpPr>
        <p:spPr>
          <a:xfrm>
            <a:off x="4408956" y="4755109"/>
            <a:ext cx="766995" cy="523332"/>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98" name="Oval 197">
            <a:extLst>
              <a:ext uri="{FF2B5EF4-FFF2-40B4-BE49-F238E27FC236}">
                <a16:creationId xmlns:a16="http://schemas.microsoft.com/office/drawing/2014/main" id="{E308313A-7191-C5AD-1A7B-3AFA9CEEB66C}"/>
              </a:ext>
            </a:extLst>
          </p:cNvPr>
          <p:cNvSpPr/>
          <p:nvPr/>
        </p:nvSpPr>
        <p:spPr>
          <a:xfrm>
            <a:off x="3948032" y="5556829"/>
            <a:ext cx="1140998" cy="381337"/>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2927282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accel="50000" decel="50000" fill="hold" grpId="0" nodeType="afterEffect">
                                  <p:stCondLst>
                                    <p:cond delay="0"/>
                                  </p:stCondLst>
                                  <p:childTnLst>
                                    <p:set>
                                      <p:cBhvr>
                                        <p:cTn id="6" dur="1" fill="hold">
                                          <p:stCondLst>
                                            <p:cond delay="0"/>
                                          </p:stCondLst>
                                        </p:cTn>
                                        <p:tgtEl>
                                          <p:spTgt spid="43"/>
                                        </p:tgtEl>
                                        <p:attrNameLst>
                                          <p:attrName>style.visibility</p:attrName>
                                        </p:attrNameLst>
                                      </p:cBhvr>
                                      <p:to>
                                        <p:strVal val="visible"/>
                                      </p:to>
                                    </p:set>
                                    <p:anim calcmode="lin" valueType="num">
                                      <p:cBhvr additive="base">
                                        <p:cTn id="7" dur="1000" fill="hold"/>
                                        <p:tgtEl>
                                          <p:spTgt spid="43"/>
                                        </p:tgtEl>
                                        <p:attrNameLst>
                                          <p:attrName>ppt_x</p:attrName>
                                        </p:attrNameLst>
                                      </p:cBhvr>
                                      <p:tavLst>
                                        <p:tav tm="0">
                                          <p:val>
                                            <p:strVal val="0-#ppt_w/2"/>
                                          </p:val>
                                        </p:tav>
                                        <p:tav tm="100000">
                                          <p:val>
                                            <p:strVal val="#ppt_x"/>
                                          </p:val>
                                        </p:tav>
                                      </p:tavLst>
                                    </p:anim>
                                    <p:anim calcmode="lin" valueType="num">
                                      <p:cBhvr additive="base">
                                        <p:cTn id="8" dur="1000" fill="hold"/>
                                        <p:tgtEl>
                                          <p:spTgt spid="43"/>
                                        </p:tgtEl>
                                        <p:attrNameLst>
                                          <p:attrName>ppt_y</p:attrName>
                                        </p:attrNameLst>
                                      </p:cBhvr>
                                      <p:tavLst>
                                        <p:tav tm="0">
                                          <p:val>
                                            <p:strVal val="#ppt_y"/>
                                          </p:val>
                                        </p:tav>
                                        <p:tav tm="100000">
                                          <p:val>
                                            <p:strVal val="#ppt_y"/>
                                          </p:val>
                                        </p:tav>
                                      </p:tavLst>
                                    </p:anim>
                                  </p:childTnLst>
                                </p:cTn>
                              </p:par>
                              <p:par>
                                <p:cTn id="9" presetID="2" presetClass="entr" presetSubtype="2" accel="50000" decel="50000" fill="hold" nodeType="withEffect">
                                  <p:stCondLst>
                                    <p:cond delay="0"/>
                                  </p:stCondLst>
                                  <p:childTnLst>
                                    <p:set>
                                      <p:cBhvr>
                                        <p:cTn id="10" dur="1" fill="hold">
                                          <p:stCondLst>
                                            <p:cond delay="0"/>
                                          </p:stCondLst>
                                        </p:cTn>
                                        <p:tgtEl>
                                          <p:spTgt spid="48"/>
                                        </p:tgtEl>
                                        <p:attrNameLst>
                                          <p:attrName>style.visibility</p:attrName>
                                        </p:attrNameLst>
                                      </p:cBhvr>
                                      <p:to>
                                        <p:strVal val="visible"/>
                                      </p:to>
                                    </p:set>
                                    <p:anim calcmode="lin" valueType="num">
                                      <p:cBhvr additive="base">
                                        <p:cTn id="11" dur="1000" fill="hold"/>
                                        <p:tgtEl>
                                          <p:spTgt spid="48"/>
                                        </p:tgtEl>
                                        <p:attrNameLst>
                                          <p:attrName>ppt_x</p:attrName>
                                        </p:attrNameLst>
                                      </p:cBhvr>
                                      <p:tavLst>
                                        <p:tav tm="0">
                                          <p:val>
                                            <p:strVal val="1+#ppt_w/2"/>
                                          </p:val>
                                        </p:tav>
                                        <p:tav tm="100000">
                                          <p:val>
                                            <p:strVal val="#ppt_x"/>
                                          </p:val>
                                        </p:tav>
                                      </p:tavLst>
                                    </p:anim>
                                    <p:anim calcmode="lin" valueType="num">
                                      <p:cBhvr additive="base">
                                        <p:cTn id="12" dur="1000" fill="hold"/>
                                        <p:tgtEl>
                                          <p:spTgt spid="4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39634" y="10702"/>
            <a:ext cx="11852366" cy="1477328"/>
          </a:xfrm>
          <a:prstGeom prst="rect">
            <a:avLst/>
          </a:prstGeom>
          <a:noFill/>
        </p:spPr>
        <p:txBody>
          <a:bodyPr wrap="square" rtlCol="0">
            <a:spAutoFit/>
          </a:bodyPr>
          <a:lstStyle/>
          <a:p>
            <a:pPr>
              <a:lnSpc>
                <a:spcPct val="150000"/>
              </a:lnSpc>
            </a:pPr>
            <a:r>
              <a:rPr lang="en-US" sz="3000" b="1" dirty="0">
                <a:solidFill>
                  <a:schemeClr val="tx1">
                    <a:lumMod val="85000"/>
                    <a:lumOff val="15000"/>
                  </a:schemeClr>
                </a:solidFill>
                <a:latin typeface="Arial Black" charset="0"/>
                <a:ea typeface="Arial Black" charset="0"/>
                <a:cs typeface="Arial Black" charset="0"/>
              </a:rPr>
              <a:t>C. Problem Analysis (</a:t>
            </a:r>
            <a:r>
              <a:rPr lang="en-US" sz="3000" b="1" dirty="0">
                <a:solidFill>
                  <a:srgbClr val="0070C0"/>
                </a:solidFill>
                <a:latin typeface="Arial Black" charset="0"/>
                <a:ea typeface="Arial Black" charset="0"/>
                <a:cs typeface="Arial Black" charset="0"/>
              </a:rPr>
              <a:t>P</a:t>
            </a:r>
            <a:r>
              <a:rPr lang="en-US" sz="3000" b="1" dirty="0">
                <a:solidFill>
                  <a:schemeClr val="tx1">
                    <a:lumMod val="85000"/>
                    <a:lumOff val="15000"/>
                  </a:schemeClr>
                </a:solidFill>
                <a:latin typeface="Arial Black" charset="0"/>
                <a:ea typeface="Arial Black" charset="0"/>
                <a:cs typeface="Arial Black" charset="0"/>
              </a:rPr>
              <a:t>LAN) Value Stream Map</a:t>
            </a:r>
          </a:p>
          <a:p>
            <a:pPr>
              <a:lnSpc>
                <a:spcPct val="150000"/>
              </a:lnSpc>
            </a:pPr>
            <a:endParaRPr lang="en-US" sz="3000" b="1" dirty="0">
              <a:solidFill>
                <a:schemeClr val="tx1">
                  <a:lumMod val="85000"/>
                  <a:lumOff val="15000"/>
                </a:schemeClr>
              </a:solidFill>
              <a:latin typeface="Arial Black" charset="0"/>
              <a:ea typeface="Arial Black" charset="0"/>
              <a:cs typeface="Arial Black" charset="0"/>
            </a:endParaRPr>
          </a:p>
        </p:txBody>
      </p:sp>
      <p:cxnSp>
        <p:nvCxnSpPr>
          <p:cNvPr id="4" name="Straight Connector 3">
            <a:extLst>
              <a:ext uri="{C183D7F6-B498-43B3-948B-1728B52AA6E4}">
                <adec:decorative xmlns:adec="http://schemas.microsoft.com/office/drawing/2017/decorative" val="1"/>
              </a:ext>
            </a:extLst>
          </p:cNvPr>
          <p:cNvCxnSpPr/>
          <p:nvPr/>
        </p:nvCxnSpPr>
        <p:spPr>
          <a:xfrm>
            <a:off x="226423" y="746051"/>
            <a:ext cx="10027920" cy="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02" name="Straight Arrow Connector 101">
            <a:extLst>
              <a:ext uri="{FF2B5EF4-FFF2-40B4-BE49-F238E27FC236}">
                <a16:creationId xmlns:a16="http://schemas.microsoft.com/office/drawing/2014/main" id="{316A83E5-9533-CFAA-03CD-732FBA45BE55}"/>
              </a:ext>
            </a:extLst>
          </p:cNvPr>
          <p:cNvCxnSpPr>
            <a:cxnSpLocks/>
          </p:cNvCxnSpPr>
          <p:nvPr/>
        </p:nvCxnSpPr>
        <p:spPr>
          <a:xfrm>
            <a:off x="10314439" y="5561266"/>
            <a:ext cx="3118" cy="34718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3" name="Elbow Connector 176">
            <a:extLst>
              <a:ext uri="{FF2B5EF4-FFF2-40B4-BE49-F238E27FC236}">
                <a16:creationId xmlns:a16="http://schemas.microsoft.com/office/drawing/2014/main" id="{55DAF005-0BF3-B089-FC1E-779D83494A36}"/>
              </a:ext>
            </a:extLst>
          </p:cNvPr>
          <p:cNvCxnSpPr/>
          <p:nvPr/>
        </p:nvCxnSpPr>
        <p:spPr>
          <a:xfrm>
            <a:off x="2171570" y="2763124"/>
            <a:ext cx="1129524" cy="593253"/>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4" name="Rectangle 103">
            <a:extLst>
              <a:ext uri="{FF2B5EF4-FFF2-40B4-BE49-F238E27FC236}">
                <a16:creationId xmlns:a16="http://schemas.microsoft.com/office/drawing/2014/main" id="{6985EF9C-4CDD-522B-A96C-FBC097D14CA4}"/>
              </a:ext>
            </a:extLst>
          </p:cNvPr>
          <p:cNvSpPr/>
          <p:nvPr/>
        </p:nvSpPr>
        <p:spPr>
          <a:xfrm>
            <a:off x="2477335" y="926712"/>
            <a:ext cx="6005229" cy="976968"/>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6" name="Straight Arrow Connector 105">
            <a:extLst>
              <a:ext uri="{FF2B5EF4-FFF2-40B4-BE49-F238E27FC236}">
                <a16:creationId xmlns:a16="http://schemas.microsoft.com/office/drawing/2014/main" id="{4696AED2-2D07-A8F8-3625-8FB99FECE204}"/>
              </a:ext>
            </a:extLst>
          </p:cNvPr>
          <p:cNvCxnSpPr/>
          <p:nvPr/>
        </p:nvCxnSpPr>
        <p:spPr>
          <a:xfrm flipV="1">
            <a:off x="5690146" y="4144336"/>
            <a:ext cx="795272" cy="46601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7" name="Straight Arrow Connector 106">
            <a:extLst>
              <a:ext uri="{FF2B5EF4-FFF2-40B4-BE49-F238E27FC236}">
                <a16:creationId xmlns:a16="http://schemas.microsoft.com/office/drawing/2014/main" id="{2AB025B8-009E-749E-9B82-DC71B6E3418F}"/>
              </a:ext>
            </a:extLst>
          </p:cNvPr>
          <p:cNvCxnSpPr/>
          <p:nvPr/>
        </p:nvCxnSpPr>
        <p:spPr>
          <a:xfrm>
            <a:off x="6017916" y="4759685"/>
            <a:ext cx="830257" cy="619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8" name="Straight Arrow Connector 107">
            <a:extLst>
              <a:ext uri="{FF2B5EF4-FFF2-40B4-BE49-F238E27FC236}">
                <a16:creationId xmlns:a16="http://schemas.microsoft.com/office/drawing/2014/main" id="{D9114758-528E-24EC-C550-FE10CB70E5F7}"/>
              </a:ext>
            </a:extLst>
          </p:cNvPr>
          <p:cNvCxnSpPr/>
          <p:nvPr/>
        </p:nvCxnSpPr>
        <p:spPr>
          <a:xfrm>
            <a:off x="3321671" y="5021832"/>
            <a:ext cx="0" cy="16004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9" name="Straight Arrow Connector 108">
            <a:extLst>
              <a:ext uri="{FF2B5EF4-FFF2-40B4-BE49-F238E27FC236}">
                <a16:creationId xmlns:a16="http://schemas.microsoft.com/office/drawing/2014/main" id="{27A3487A-F806-DD1B-4EAD-C4B352DB3390}"/>
              </a:ext>
            </a:extLst>
          </p:cNvPr>
          <p:cNvCxnSpPr>
            <a:stCxn id="116" idx="2"/>
            <a:endCxn id="117" idx="0"/>
          </p:cNvCxnSpPr>
          <p:nvPr/>
        </p:nvCxnSpPr>
        <p:spPr>
          <a:xfrm>
            <a:off x="1140401" y="4639535"/>
            <a:ext cx="7550" cy="186532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0" name="Straight Arrow Connector 109">
            <a:extLst>
              <a:ext uri="{FF2B5EF4-FFF2-40B4-BE49-F238E27FC236}">
                <a16:creationId xmlns:a16="http://schemas.microsoft.com/office/drawing/2014/main" id="{8A9F8786-1710-7267-F156-6BA7C20FE0E2}"/>
              </a:ext>
            </a:extLst>
          </p:cNvPr>
          <p:cNvCxnSpPr/>
          <p:nvPr/>
        </p:nvCxnSpPr>
        <p:spPr>
          <a:xfrm flipV="1">
            <a:off x="3908269" y="4768465"/>
            <a:ext cx="855487" cy="1821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1" name="Straight Arrow Connector 110">
            <a:extLst>
              <a:ext uri="{FF2B5EF4-FFF2-40B4-BE49-F238E27FC236}">
                <a16:creationId xmlns:a16="http://schemas.microsoft.com/office/drawing/2014/main" id="{EFE0BA01-40DB-9939-BA5A-9052E3A5CE43}"/>
              </a:ext>
            </a:extLst>
          </p:cNvPr>
          <p:cNvCxnSpPr>
            <a:endCxn id="113" idx="0"/>
          </p:cNvCxnSpPr>
          <p:nvPr/>
        </p:nvCxnSpPr>
        <p:spPr>
          <a:xfrm>
            <a:off x="1147954" y="1202913"/>
            <a:ext cx="1" cy="87829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2" name="TextBox 111">
            <a:extLst>
              <a:ext uri="{FF2B5EF4-FFF2-40B4-BE49-F238E27FC236}">
                <a16:creationId xmlns:a16="http://schemas.microsoft.com/office/drawing/2014/main" id="{1DDCDF78-4CF6-280A-A417-7F6DFC7C9993}"/>
              </a:ext>
            </a:extLst>
          </p:cNvPr>
          <p:cNvSpPr txBox="1"/>
          <p:nvPr/>
        </p:nvSpPr>
        <p:spPr>
          <a:xfrm>
            <a:off x="110004" y="930083"/>
            <a:ext cx="2051437" cy="861774"/>
          </a:xfrm>
          <a:prstGeom prst="rect">
            <a:avLst/>
          </a:prstGeom>
          <a:solidFill>
            <a:srgbClr val="FFC000"/>
          </a:solidFill>
          <a:ln w="57150">
            <a:solidFill>
              <a:schemeClr val="accent1">
                <a:lumMod val="60000"/>
                <a:lumOff val="40000"/>
              </a:schemeClr>
            </a:solidFill>
          </a:ln>
        </p:spPr>
        <p:txBody>
          <a:bodyPr wrap="square" rtlCol="0" anchor="ctr">
            <a:spAutoFit/>
          </a:bodyPr>
          <a:lstStyle/>
          <a:p>
            <a:pPr algn="ctr"/>
            <a:r>
              <a:rPr lang="en-US" sz="1000"/>
              <a:t>Clinician orders an MRI for a patient with an indication that would benefit from the administration of IV contrast (patient is CKD 4, with eGFR 15-30mL/min/1.73m²)</a:t>
            </a:r>
            <a:endParaRPr lang="en-SG" sz="1000"/>
          </a:p>
        </p:txBody>
      </p:sp>
      <p:sp>
        <p:nvSpPr>
          <p:cNvPr id="113" name="TextBox 112">
            <a:extLst>
              <a:ext uri="{FF2B5EF4-FFF2-40B4-BE49-F238E27FC236}">
                <a16:creationId xmlns:a16="http://schemas.microsoft.com/office/drawing/2014/main" id="{A773B535-0137-1BB7-7342-62BE783EE694}"/>
              </a:ext>
            </a:extLst>
          </p:cNvPr>
          <p:cNvSpPr txBox="1"/>
          <p:nvPr/>
        </p:nvSpPr>
        <p:spPr>
          <a:xfrm>
            <a:off x="122236" y="2081206"/>
            <a:ext cx="2051437" cy="246221"/>
          </a:xfrm>
          <a:prstGeom prst="rect">
            <a:avLst/>
          </a:prstGeom>
          <a:solidFill>
            <a:srgbClr val="FFC000"/>
          </a:solidFill>
          <a:ln w="57150">
            <a:solidFill>
              <a:schemeClr val="accent1">
                <a:lumMod val="60000"/>
                <a:lumOff val="40000"/>
              </a:schemeClr>
            </a:solidFill>
          </a:ln>
        </p:spPr>
        <p:txBody>
          <a:bodyPr wrap="square" rtlCol="0" anchor="ctr">
            <a:spAutoFit/>
          </a:bodyPr>
          <a:lstStyle/>
          <a:p>
            <a:pPr algn="ctr"/>
            <a:r>
              <a:rPr lang="en-US" sz="1000"/>
              <a:t>MRI is ordered in EPIC</a:t>
            </a:r>
            <a:endParaRPr lang="en-SG" sz="1000"/>
          </a:p>
        </p:txBody>
      </p:sp>
      <p:sp>
        <p:nvSpPr>
          <p:cNvPr id="114" name="TextBox 113">
            <a:extLst>
              <a:ext uri="{FF2B5EF4-FFF2-40B4-BE49-F238E27FC236}">
                <a16:creationId xmlns:a16="http://schemas.microsoft.com/office/drawing/2014/main" id="{41E517D6-CF96-C5B6-8404-A4E5340DC6E4}"/>
              </a:ext>
            </a:extLst>
          </p:cNvPr>
          <p:cNvSpPr txBox="1"/>
          <p:nvPr/>
        </p:nvSpPr>
        <p:spPr>
          <a:xfrm>
            <a:off x="122226" y="2636786"/>
            <a:ext cx="2051437" cy="246221"/>
          </a:xfrm>
          <a:prstGeom prst="rect">
            <a:avLst/>
          </a:prstGeom>
          <a:solidFill>
            <a:srgbClr val="FFC000"/>
          </a:solidFill>
          <a:ln w="57150">
            <a:solidFill>
              <a:schemeClr val="accent1">
                <a:lumMod val="60000"/>
                <a:lumOff val="40000"/>
              </a:schemeClr>
            </a:solidFill>
          </a:ln>
        </p:spPr>
        <p:txBody>
          <a:bodyPr wrap="square" rtlCol="0" anchor="ctr">
            <a:spAutoFit/>
          </a:bodyPr>
          <a:lstStyle/>
          <a:p>
            <a:pPr algn="ctr"/>
            <a:r>
              <a:rPr lang="en-US" sz="1000"/>
              <a:t>MRI form is vetted by radiologist</a:t>
            </a:r>
            <a:endParaRPr lang="en-SG" sz="1000"/>
          </a:p>
        </p:txBody>
      </p:sp>
      <p:sp>
        <p:nvSpPr>
          <p:cNvPr id="115" name="TextBox 114">
            <a:extLst>
              <a:ext uri="{FF2B5EF4-FFF2-40B4-BE49-F238E27FC236}">
                <a16:creationId xmlns:a16="http://schemas.microsoft.com/office/drawing/2014/main" id="{3424386A-FF6B-B3B3-57CA-0DF753878270}"/>
              </a:ext>
            </a:extLst>
          </p:cNvPr>
          <p:cNvSpPr txBox="1"/>
          <p:nvPr/>
        </p:nvSpPr>
        <p:spPr>
          <a:xfrm>
            <a:off x="122226" y="3837496"/>
            <a:ext cx="2051437" cy="246221"/>
          </a:xfrm>
          <a:prstGeom prst="rect">
            <a:avLst/>
          </a:prstGeom>
          <a:solidFill>
            <a:srgbClr val="FFC000"/>
          </a:solidFill>
          <a:ln w="57150">
            <a:solidFill>
              <a:schemeClr val="accent1">
                <a:lumMod val="60000"/>
                <a:lumOff val="40000"/>
              </a:schemeClr>
            </a:solidFill>
          </a:ln>
        </p:spPr>
        <p:txBody>
          <a:bodyPr wrap="square" rtlCol="0" anchor="ctr">
            <a:spAutoFit/>
          </a:bodyPr>
          <a:lstStyle/>
          <a:p>
            <a:pPr algn="ctr"/>
            <a:r>
              <a:rPr lang="en-US" sz="1000"/>
              <a:t>MRI appointment is confirmed</a:t>
            </a:r>
            <a:endParaRPr lang="en-SG" sz="1000"/>
          </a:p>
        </p:txBody>
      </p:sp>
      <p:sp>
        <p:nvSpPr>
          <p:cNvPr id="116" name="TextBox 115">
            <a:extLst>
              <a:ext uri="{FF2B5EF4-FFF2-40B4-BE49-F238E27FC236}">
                <a16:creationId xmlns:a16="http://schemas.microsoft.com/office/drawing/2014/main" id="{8D293CCD-9AAC-C1AB-EFDF-8F7F0ACF123D}"/>
              </a:ext>
            </a:extLst>
          </p:cNvPr>
          <p:cNvSpPr txBox="1"/>
          <p:nvPr/>
        </p:nvSpPr>
        <p:spPr>
          <a:xfrm>
            <a:off x="114682" y="4393314"/>
            <a:ext cx="2051437" cy="246221"/>
          </a:xfrm>
          <a:prstGeom prst="rect">
            <a:avLst/>
          </a:prstGeom>
          <a:solidFill>
            <a:srgbClr val="FFC000"/>
          </a:solidFill>
          <a:ln w="57150">
            <a:solidFill>
              <a:schemeClr val="accent1">
                <a:lumMod val="60000"/>
                <a:lumOff val="40000"/>
              </a:schemeClr>
            </a:solidFill>
          </a:ln>
        </p:spPr>
        <p:txBody>
          <a:bodyPr wrap="square" rtlCol="0" anchor="ctr">
            <a:spAutoFit/>
          </a:bodyPr>
          <a:lstStyle/>
          <a:p>
            <a:pPr algn="ctr"/>
            <a:r>
              <a:rPr lang="en-US" sz="1000"/>
              <a:t>Patient comes for MRI</a:t>
            </a:r>
            <a:endParaRPr lang="en-SG" sz="1000"/>
          </a:p>
        </p:txBody>
      </p:sp>
      <p:sp>
        <p:nvSpPr>
          <p:cNvPr id="117" name="TextBox 116">
            <a:extLst>
              <a:ext uri="{FF2B5EF4-FFF2-40B4-BE49-F238E27FC236}">
                <a16:creationId xmlns:a16="http://schemas.microsoft.com/office/drawing/2014/main" id="{152F0F6C-1A3E-1F6A-818E-2A42AB3F521B}"/>
              </a:ext>
            </a:extLst>
          </p:cNvPr>
          <p:cNvSpPr txBox="1"/>
          <p:nvPr/>
        </p:nvSpPr>
        <p:spPr>
          <a:xfrm>
            <a:off x="122232" y="6504862"/>
            <a:ext cx="2051437" cy="246221"/>
          </a:xfrm>
          <a:prstGeom prst="rect">
            <a:avLst/>
          </a:prstGeom>
          <a:solidFill>
            <a:srgbClr val="FFC000"/>
          </a:solidFill>
          <a:ln w="57150">
            <a:solidFill>
              <a:schemeClr val="accent1">
                <a:lumMod val="60000"/>
                <a:lumOff val="40000"/>
              </a:schemeClr>
            </a:solidFill>
          </a:ln>
        </p:spPr>
        <p:txBody>
          <a:bodyPr wrap="square" rtlCol="0" anchor="ctr">
            <a:spAutoFit/>
          </a:bodyPr>
          <a:lstStyle/>
          <a:p>
            <a:pPr algn="ctr"/>
            <a:r>
              <a:rPr lang="en-US" sz="1000"/>
              <a:t>MRI is performed</a:t>
            </a:r>
            <a:endParaRPr lang="en-SG" sz="1000"/>
          </a:p>
        </p:txBody>
      </p:sp>
      <p:sp>
        <p:nvSpPr>
          <p:cNvPr id="118" name="TextBox 117">
            <a:extLst>
              <a:ext uri="{FF2B5EF4-FFF2-40B4-BE49-F238E27FC236}">
                <a16:creationId xmlns:a16="http://schemas.microsoft.com/office/drawing/2014/main" id="{D309F781-BAB6-25A0-2E12-BCAB4B6F0506}"/>
              </a:ext>
            </a:extLst>
          </p:cNvPr>
          <p:cNvSpPr txBox="1"/>
          <p:nvPr/>
        </p:nvSpPr>
        <p:spPr>
          <a:xfrm>
            <a:off x="2612316" y="2008118"/>
            <a:ext cx="2051437" cy="400110"/>
          </a:xfrm>
          <a:prstGeom prst="rect">
            <a:avLst/>
          </a:prstGeom>
          <a:solidFill>
            <a:srgbClr val="92D050"/>
          </a:solidFill>
          <a:ln w="38100">
            <a:solidFill>
              <a:schemeClr val="tx1"/>
            </a:solidFill>
          </a:ln>
        </p:spPr>
        <p:txBody>
          <a:bodyPr wrap="square" rtlCol="0">
            <a:spAutoFit/>
          </a:bodyPr>
          <a:lstStyle/>
          <a:p>
            <a:r>
              <a:rPr lang="en-US" sz="1000"/>
              <a:t>Clinician checks box for history of renal disease </a:t>
            </a:r>
            <a:endParaRPr lang="en-SG" sz="1000"/>
          </a:p>
        </p:txBody>
      </p:sp>
      <p:sp>
        <p:nvSpPr>
          <p:cNvPr id="119" name="TextBox 118">
            <a:extLst>
              <a:ext uri="{FF2B5EF4-FFF2-40B4-BE49-F238E27FC236}">
                <a16:creationId xmlns:a16="http://schemas.microsoft.com/office/drawing/2014/main" id="{5CBEB1D5-F5E2-0777-BE4F-C6977352BD5C}"/>
              </a:ext>
            </a:extLst>
          </p:cNvPr>
          <p:cNvSpPr txBox="1"/>
          <p:nvPr/>
        </p:nvSpPr>
        <p:spPr>
          <a:xfrm>
            <a:off x="2592442" y="5178381"/>
            <a:ext cx="1633681" cy="246221"/>
          </a:xfrm>
          <a:prstGeom prst="rect">
            <a:avLst/>
          </a:prstGeom>
          <a:solidFill>
            <a:srgbClr val="FF0000"/>
          </a:solidFill>
          <a:ln w="38100">
            <a:solidFill>
              <a:schemeClr val="tx1"/>
            </a:solidFill>
          </a:ln>
        </p:spPr>
        <p:txBody>
          <a:bodyPr wrap="square" rtlCol="0">
            <a:spAutoFit/>
          </a:bodyPr>
          <a:lstStyle/>
          <a:p>
            <a:r>
              <a:rPr lang="en-US" sz="1000">
                <a:solidFill>
                  <a:schemeClr val="bg1"/>
                </a:solidFill>
              </a:rPr>
              <a:t>Scan vetted as non-contrast</a:t>
            </a:r>
            <a:endParaRPr lang="en-SG" sz="1000">
              <a:solidFill>
                <a:schemeClr val="bg1"/>
              </a:solidFill>
            </a:endParaRPr>
          </a:p>
        </p:txBody>
      </p:sp>
      <p:sp>
        <p:nvSpPr>
          <p:cNvPr id="120" name="TextBox 119">
            <a:extLst>
              <a:ext uri="{FF2B5EF4-FFF2-40B4-BE49-F238E27FC236}">
                <a16:creationId xmlns:a16="http://schemas.microsoft.com/office/drawing/2014/main" id="{9C975B59-F045-40DF-850A-6BDE5F4B7771}"/>
              </a:ext>
            </a:extLst>
          </p:cNvPr>
          <p:cNvSpPr txBox="1"/>
          <p:nvPr/>
        </p:nvSpPr>
        <p:spPr>
          <a:xfrm>
            <a:off x="7757791" y="3078831"/>
            <a:ext cx="2051437" cy="400110"/>
          </a:xfrm>
          <a:prstGeom prst="rect">
            <a:avLst/>
          </a:prstGeom>
          <a:solidFill>
            <a:srgbClr val="92D050"/>
          </a:solidFill>
          <a:ln w="38100">
            <a:solidFill>
              <a:schemeClr val="tx1"/>
            </a:solidFill>
          </a:ln>
        </p:spPr>
        <p:txBody>
          <a:bodyPr wrap="square" rtlCol="0">
            <a:spAutoFit/>
          </a:bodyPr>
          <a:lstStyle/>
          <a:p>
            <a:r>
              <a:rPr lang="en-US" sz="1000"/>
              <a:t>Patient counselled on risk of NSF with documentation in EPIC</a:t>
            </a:r>
            <a:endParaRPr lang="en-SG" sz="1000"/>
          </a:p>
        </p:txBody>
      </p:sp>
      <p:sp>
        <p:nvSpPr>
          <p:cNvPr id="121" name="TextBox 120">
            <a:extLst>
              <a:ext uri="{FF2B5EF4-FFF2-40B4-BE49-F238E27FC236}">
                <a16:creationId xmlns:a16="http://schemas.microsoft.com/office/drawing/2014/main" id="{10147786-698D-BB0D-715A-35080BDD5D48}"/>
              </a:ext>
            </a:extLst>
          </p:cNvPr>
          <p:cNvSpPr txBox="1"/>
          <p:nvPr/>
        </p:nvSpPr>
        <p:spPr>
          <a:xfrm>
            <a:off x="5799593" y="2672219"/>
            <a:ext cx="2778387" cy="246221"/>
          </a:xfrm>
          <a:prstGeom prst="rect">
            <a:avLst/>
          </a:prstGeom>
          <a:solidFill>
            <a:srgbClr val="92D050"/>
          </a:solidFill>
          <a:ln w="38100">
            <a:solidFill>
              <a:schemeClr val="tx1"/>
            </a:solidFill>
          </a:ln>
        </p:spPr>
        <p:txBody>
          <a:bodyPr wrap="square" rtlCol="0">
            <a:spAutoFit/>
          </a:bodyPr>
          <a:lstStyle/>
          <a:p>
            <a:r>
              <a:rPr lang="en-US" sz="1000"/>
              <a:t>In special instructions, indicates non-contrast </a:t>
            </a:r>
            <a:endParaRPr lang="en-SG" sz="1000"/>
          </a:p>
        </p:txBody>
      </p:sp>
      <p:sp>
        <p:nvSpPr>
          <p:cNvPr id="122" name="TextBox 121">
            <a:extLst>
              <a:ext uri="{FF2B5EF4-FFF2-40B4-BE49-F238E27FC236}">
                <a16:creationId xmlns:a16="http://schemas.microsoft.com/office/drawing/2014/main" id="{791997D8-6A4D-7CEE-C2E7-83DD1387DCE7}"/>
              </a:ext>
            </a:extLst>
          </p:cNvPr>
          <p:cNvSpPr txBox="1"/>
          <p:nvPr/>
        </p:nvSpPr>
        <p:spPr>
          <a:xfrm>
            <a:off x="5799593" y="3096878"/>
            <a:ext cx="1453845" cy="400110"/>
          </a:xfrm>
          <a:prstGeom prst="rect">
            <a:avLst/>
          </a:prstGeom>
          <a:solidFill>
            <a:srgbClr val="92D050"/>
          </a:solidFill>
          <a:ln w="38100">
            <a:solidFill>
              <a:schemeClr val="tx1"/>
            </a:solidFill>
          </a:ln>
        </p:spPr>
        <p:txBody>
          <a:bodyPr wrap="square" rtlCol="0">
            <a:spAutoFit/>
          </a:bodyPr>
          <a:lstStyle/>
          <a:p>
            <a:r>
              <a:rPr lang="en-US" sz="1000"/>
              <a:t>In special instructions, indicates for contrast </a:t>
            </a:r>
            <a:endParaRPr lang="en-SG" sz="1000"/>
          </a:p>
        </p:txBody>
      </p:sp>
      <p:cxnSp>
        <p:nvCxnSpPr>
          <p:cNvPr id="123" name="Straight Arrow Connector 122">
            <a:extLst>
              <a:ext uri="{FF2B5EF4-FFF2-40B4-BE49-F238E27FC236}">
                <a16:creationId xmlns:a16="http://schemas.microsoft.com/office/drawing/2014/main" id="{A8EB0EEA-0121-4792-B978-33EB8814CE6C}"/>
              </a:ext>
            </a:extLst>
          </p:cNvPr>
          <p:cNvCxnSpPr>
            <a:cxnSpLocks/>
          </p:cNvCxnSpPr>
          <p:nvPr/>
        </p:nvCxnSpPr>
        <p:spPr>
          <a:xfrm flipH="1">
            <a:off x="4448981" y="2419571"/>
            <a:ext cx="17886" cy="24516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4" name="Straight Arrow Connector 123">
            <a:extLst>
              <a:ext uri="{FF2B5EF4-FFF2-40B4-BE49-F238E27FC236}">
                <a16:creationId xmlns:a16="http://schemas.microsoft.com/office/drawing/2014/main" id="{E1866673-CB94-38F3-974C-94022B4B4E31}"/>
              </a:ext>
            </a:extLst>
          </p:cNvPr>
          <p:cNvCxnSpPr>
            <a:cxnSpLocks/>
            <a:stCxn id="113" idx="3"/>
            <a:endCxn id="118" idx="1"/>
          </p:cNvCxnSpPr>
          <p:nvPr/>
        </p:nvCxnSpPr>
        <p:spPr>
          <a:xfrm>
            <a:off x="2173673" y="2204317"/>
            <a:ext cx="438643" cy="385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5" name="Straight Arrow Connector 124">
            <a:extLst>
              <a:ext uri="{FF2B5EF4-FFF2-40B4-BE49-F238E27FC236}">
                <a16:creationId xmlns:a16="http://schemas.microsoft.com/office/drawing/2014/main" id="{610B9766-4068-FFB0-7B77-0091C075A0E4}"/>
              </a:ext>
            </a:extLst>
          </p:cNvPr>
          <p:cNvCxnSpPr>
            <a:cxnSpLocks/>
          </p:cNvCxnSpPr>
          <p:nvPr/>
        </p:nvCxnSpPr>
        <p:spPr>
          <a:xfrm flipV="1">
            <a:off x="5351165" y="2795891"/>
            <a:ext cx="438642" cy="23492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6" name="Straight Arrow Connector 125">
            <a:extLst>
              <a:ext uri="{FF2B5EF4-FFF2-40B4-BE49-F238E27FC236}">
                <a16:creationId xmlns:a16="http://schemas.microsoft.com/office/drawing/2014/main" id="{6EDE2459-BA11-EDBD-1D15-A98462ADBD7B}"/>
              </a:ext>
            </a:extLst>
          </p:cNvPr>
          <p:cNvCxnSpPr>
            <a:cxnSpLocks/>
          </p:cNvCxnSpPr>
          <p:nvPr/>
        </p:nvCxnSpPr>
        <p:spPr>
          <a:xfrm flipH="1">
            <a:off x="1147945" y="2323718"/>
            <a:ext cx="8" cy="34151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7" name="TextBox 126">
            <a:extLst>
              <a:ext uri="{FF2B5EF4-FFF2-40B4-BE49-F238E27FC236}">
                <a16:creationId xmlns:a16="http://schemas.microsoft.com/office/drawing/2014/main" id="{830B6044-200F-9423-DD39-46C89D802D80}"/>
              </a:ext>
            </a:extLst>
          </p:cNvPr>
          <p:cNvSpPr txBox="1"/>
          <p:nvPr/>
        </p:nvSpPr>
        <p:spPr>
          <a:xfrm>
            <a:off x="6846041" y="4478469"/>
            <a:ext cx="2265551" cy="400110"/>
          </a:xfrm>
          <a:prstGeom prst="rect">
            <a:avLst/>
          </a:prstGeom>
          <a:solidFill>
            <a:srgbClr val="FF0000"/>
          </a:solidFill>
          <a:ln w="38100">
            <a:solidFill>
              <a:schemeClr val="tx1"/>
            </a:solidFill>
          </a:ln>
        </p:spPr>
        <p:txBody>
          <a:bodyPr wrap="square" lIns="91440" tIns="45720" rIns="91440" bIns="45720" rtlCol="0" anchor="t">
            <a:spAutoFit/>
          </a:bodyPr>
          <a:lstStyle/>
          <a:p>
            <a:r>
              <a:rPr lang="en-US" sz="1000">
                <a:solidFill>
                  <a:schemeClr val="bg1"/>
                </a:solidFill>
              </a:rPr>
              <a:t>Vetting radiologist or radiology resident discusses case with referring clinician</a:t>
            </a:r>
            <a:endParaRPr lang="en-SG" sz="1000">
              <a:solidFill>
                <a:schemeClr val="bg1"/>
              </a:solidFill>
            </a:endParaRPr>
          </a:p>
        </p:txBody>
      </p:sp>
      <p:cxnSp>
        <p:nvCxnSpPr>
          <p:cNvPr id="128" name="Straight Arrow Connector 127">
            <a:extLst>
              <a:ext uri="{FF2B5EF4-FFF2-40B4-BE49-F238E27FC236}">
                <a16:creationId xmlns:a16="http://schemas.microsoft.com/office/drawing/2014/main" id="{6C32FAEF-EFB4-32E1-676D-90F7CD8891BB}"/>
              </a:ext>
            </a:extLst>
          </p:cNvPr>
          <p:cNvCxnSpPr>
            <a:cxnSpLocks/>
          </p:cNvCxnSpPr>
          <p:nvPr/>
        </p:nvCxnSpPr>
        <p:spPr>
          <a:xfrm flipV="1">
            <a:off x="7978817" y="4878579"/>
            <a:ext cx="5657" cy="46091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9" name="TextBox 128">
            <a:extLst>
              <a:ext uri="{FF2B5EF4-FFF2-40B4-BE49-F238E27FC236}">
                <a16:creationId xmlns:a16="http://schemas.microsoft.com/office/drawing/2014/main" id="{3475F8C8-81E4-6ECF-DBE6-5350BA2ED99E}"/>
              </a:ext>
            </a:extLst>
          </p:cNvPr>
          <p:cNvSpPr txBox="1"/>
          <p:nvPr/>
        </p:nvSpPr>
        <p:spPr>
          <a:xfrm>
            <a:off x="6784953" y="5206878"/>
            <a:ext cx="2399041" cy="246221"/>
          </a:xfrm>
          <a:prstGeom prst="rect">
            <a:avLst/>
          </a:prstGeom>
          <a:solidFill>
            <a:srgbClr val="92D050"/>
          </a:solidFill>
          <a:ln w="38100">
            <a:solidFill>
              <a:schemeClr val="tx1"/>
            </a:solidFill>
          </a:ln>
        </p:spPr>
        <p:txBody>
          <a:bodyPr wrap="square" rtlCol="0">
            <a:spAutoFit/>
          </a:bodyPr>
          <a:lstStyle/>
          <a:p>
            <a:r>
              <a:rPr lang="en-US" sz="1000"/>
              <a:t>Clinician opts for unenhanced MRI</a:t>
            </a:r>
            <a:endParaRPr lang="en-SG" sz="1000"/>
          </a:p>
        </p:txBody>
      </p:sp>
      <p:cxnSp>
        <p:nvCxnSpPr>
          <p:cNvPr id="130" name="Straight Arrow Connector 129">
            <a:extLst>
              <a:ext uri="{FF2B5EF4-FFF2-40B4-BE49-F238E27FC236}">
                <a16:creationId xmlns:a16="http://schemas.microsoft.com/office/drawing/2014/main" id="{0A4DCEC0-753C-65D2-10B1-7E6FD1D8DF82}"/>
              </a:ext>
            </a:extLst>
          </p:cNvPr>
          <p:cNvCxnSpPr>
            <a:cxnSpLocks/>
          </p:cNvCxnSpPr>
          <p:nvPr/>
        </p:nvCxnSpPr>
        <p:spPr>
          <a:xfrm flipV="1">
            <a:off x="9175723" y="5327483"/>
            <a:ext cx="427564" cy="726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1" name="TextBox 130">
            <a:extLst>
              <a:ext uri="{FF2B5EF4-FFF2-40B4-BE49-F238E27FC236}">
                <a16:creationId xmlns:a16="http://schemas.microsoft.com/office/drawing/2014/main" id="{9B60BE9D-CCDB-608F-4BDF-839A2B89F348}"/>
              </a:ext>
            </a:extLst>
          </p:cNvPr>
          <p:cNvSpPr txBox="1"/>
          <p:nvPr/>
        </p:nvSpPr>
        <p:spPr>
          <a:xfrm>
            <a:off x="9603287" y="5206468"/>
            <a:ext cx="1489212" cy="400110"/>
          </a:xfrm>
          <a:prstGeom prst="rect">
            <a:avLst/>
          </a:prstGeom>
          <a:solidFill>
            <a:srgbClr val="92D050"/>
          </a:solidFill>
          <a:ln w="38100">
            <a:solidFill>
              <a:schemeClr val="tx1"/>
            </a:solidFill>
          </a:ln>
        </p:spPr>
        <p:txBody>
          <a:bodyPr wrap="square" rtlCol="0">
            <a:spAutoFit/>
          </a:bodyPr>
          <a:lstStyle/>
          <a:p>
            <a:r>
              <a:rPr lang="en-US" sz="1000"/>
              <a:t>Clinician opts for contrast-enhanced study</a:t>
            </a:r>
            <a:endParaRPr lang="en-SG" sz="1000"/>
          </a:p>
        </p:txBody>
      </p:sp>
      <p:sp>
        <p:nvSpPr>
          <p:cNvPr id="132" name="TextBox 131">
            <a:extLst>
              <a:ext uri="{FF2B5EF4-FFF2-40B4-BE49-F238E27FC236}">
                <a16:creationId xmlns:a16="http://schemas.microsoft.com/office/drawing/2014/main" id="{99846235-0EF6-74EA-81C5-82FC860424ED}"/>
              </a:ext>
            </a:extLst>
          </p:cNvPr>
          <p:cNvSpPr txBox="1"/>
          <p:nvPr/>
        </p:nvSpPr>
        <p:spPr>
          <a:xfrm>
            <a:off x="9413048" y="5908455"/>
            <a:ext cx="1881587" cy="400110"/>
          </a:xfrm>
          <a:prstGeom prst="rect">
            <a:avLst/>
          </a:prstGeom>
          <a:solidFill>
            <a:srgbClr val="FFFF00"/>
          </a:solidFill>
          <a:ln w="38100">
            <a:solidFill>
              <a:schemeClr val="tx1"/>
            </a:solidFill>
          </a:ln>
        </p:spPr>
        <p:txBody>
          <a:bodyPr wrap="square" rtlCol="0">
            <a:spAutoFit/>
          </a:bodyPr>
          <a:lstStyle/>
          <a:p>
            <a:r>
              <a:rPr lang="en-US" sz="1000"/>
              <a:t>Appointment rescheduled for patient to receive counselling</a:t>
            </a:r>
            <a:endParaRPr lang="en-SG" sz="1000"/>
          </a:p>
        </p:txBody>
      </p:sp>
      <p:cxnSp>
        <p:nvCxnSpPr>
          <p:cNvPr id="133" name="Straight Arrow Connector 132">
            <a:extLst>
              <a:ext uri="{FF2B5EF4-FFF2-40B4-BE49-F238E27FC236}">
                <a16:creationId xmlns:a16="http://schemas.microsoft.com/office/drawing/2014/main" id="{820D0470-E85D-7188-85BB-D1D79A78B150}"/>
              </a:ext>
            </a:extLst>
          </p:cNvPr>
          <p:cNvCxnSpPr>
            <a:stCxn id="114" idx="2"/>
            <a:endCxn id="115" idx="0"/>
          </p:cNvCxnSpPr>
          <p:nvPr/>
        </p:nvCxnSpPr>
        <p:spPr>
          <a:xfrm>
            <a:off x="1147945" y="2883007"/>
            <a:ext cx="0" cy="95448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4" name="Straight Arrow Connector 133">
            <a:extLst>
              <a:ext uri="{FF2B5EF4-FFF2-40B4-BE49-F238E27FC236}">
                <a16:creationId xmlns:a16="http://schemas.microsoft.com/office/drawing/2014/main" id="{FBBB587D-A4A2-3C05-E06C-91275BD05211}"/>
              </a:ext>
            </a:extLst>
          </p:cNvPr>
          <p:cNvCxnSpPr>
            <a:stCxn id="115" idx="2"/>
            <a:endCxn id="116" idx="0"/>
          </p:cNvCxnSpPr>
          <p:nvPr/>
        </p:nvCxnSpPr>
        <p:spPr>
          <a:xfrm flipH="1">
            <a:off x="1140401" y="4083717"/>
            <a:ext cx="7544" cy="30959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5" name="TextBox 134">
            <a:extLst>
              <a:ext uri="{FF2B5EF4-FFF2-40B4-BE49-F238E27FC236}">
                <a16:creationId xmlns:a16="http://schemas.microsoft.com/office/drawing/2014/main" id="{1DAA352D-C3FF-9FF4-1FC8-29E94E52F945}"/>
              </a:ext>
            </a:extLst>
          </p:cNvPr>
          <p:cNvSpPr txBox="1"/>
          <p:nvPr/>
        </p:nvSpPr>
        <p:spPr>
          <a:xfrm>
            <a:off x="2568754" y="3375214"/>
            <a:ext cx="1462213" cy="1015663"/>
          </a:xfrm>
          <a:prstGeom prst="rect">
            <a:avLst/>
          </a:prstGeom>
          <a:solidFill>
            <a:srgbClr val="FFFF00"/>
          </a:solidFill>
          <a:ln w="38100">
            <a:solidFill>
              <a:schemeClr val="tx1"/>
            </a:solidFill>
          </a:ln>
        </p:spPr>
        <p:txBody>
          <a:bodyPr wrap="square" rtlCol="0">
            <a:spAutoFit/>
          </a:bodyPr>
          <a:lstStyle/>
          <a:p>
            <a:r>
              <a:rPr lang="en-US" sz="1000"/>
              <a:t>Inpatients – printed and vetted soon after ordering; Outpatients – printed and vetted two days before appointment</a:t>
            </a:r>
            <a:endParaRPr lang="en-SG" sz="1000"/>
          </a:p>
        </p:txBody>
      </p:sp>
      <p:cxnSp>
        <p:nvCxnSpPr>
          <p:cNvPr id="136" name="Straight Arrow Connector 135">
            <a:extLst>
              <a:ext uri="{FF2B5EF4-FFF2-40B4-BE49-F238E27FC236}">
                <a16:creationId xmlns:a16="http://schemas.microsoft.com/office/drawing/2014/main" id="{DB74A408-314E-DDA7-11A8-D80E931D58F5}"/>
              </a:ext>
            </a:extLst>
          </p:cNvPr>
          <p:cNvCxnSpPr>
            <a:cxnSpLocks/>
          </p:cNvCxnSpPr>
          <p:nvPr/>
        </p:nvCxnSpPr>
        <p:spPr>
          <a:xfrm flipH="1" flipV="1">
            <a:off x="4226123" y="5301492"/>
            <a:ext cx="2558830" cy="2849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7" name="Diamond 136">
            <a:extLst>
              <a:ext uri="{FF2B5EF4-FFF2-40B4-BE49-F238E27FC236}">
                <a16:creationId xmlns:a16="http://schemas.microsoft.com/office/drawing/2014/main" id="{705A2D5D-723F-5E9D-991F-C834CE69D175}"/>
              </a:ext>
            </a:extLst>
          </p:cNvPr>
          <p:cNvSpPr/>
          <p:nvPr/>
        </p:nvSpPr>
        <p:spPr>
          <a:xfrm>
            <a:off x="2592442" y="4550988"/>
            <a:ext cx="1458459" cy="484462"/>
          </a:xfrm>
          <a:prstGeom prst="diamond">
            <a:avLst/>
          </a:prstGeom>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t>Clinician requests for IV contrast?</a:t>
            </a:r>
            <a:endParaRPr lang="en-SG" sz="800"/>
          </a:p>
        </p:txBody>
      </p:sp>
      <p:sp>
        <p:nvSpPr>
          <p:cNvPr id="138" name="TextBox 137">
            <a:extLst>
              <a:ext uri="{FF2B5EF4-FFF2-40B4-BE49-F238E27FC236}">
                <a16:creationId xmlns:a16="http://schemas.microsoft.com/office/drawing/2014/main" id="{FACF3D58-A677-87EB-E9A8-91634A189ADD}"/>
              </a:ext>
            </a:extLst>
          </p:cNvPr>
          <p:cNvSpPr txBox="1"/>
          <p:nvPr/>
        </p:nvSpPr>
        <p:spPr>
          <a:xfrm>
            <a:off x="3302447" y="4970121"/>
            <a:ext cx="548640" cy="261610"/>
          </a:xfrm>
          <a:prstGeom prst="rect">
            <a:avLst/>
          </a:prstGeom>
          <a:noFill/>
          <a:ln w="38100">
            <a:noFill/>
          </a:ln>
        </p:spPr>
        <p:txBody>
          <a:bodyPr wrap="square" rtlCol="0">
            <a:spAutoFit/>
          </a:bodyPr>
          <a:lstStyle/>
          <a:p>
            <a:r>
              <a:rPr lang="en-US" sz="1100" b="1"/>
              <a:t>No</a:t>
            </a:r>
            <a:endParaRPr lang="en-SG" sz="1200" b="1"/>
          </a:p>
        </p:txBody>
      </p:sp>
      <p:sp>
        <p:nvSpPr>
          <p:cNvPr id="139" name="TextBox 138">
            <a:extLst>
              <a:ext uri="{FF2B5EF4-FFF2-40B4-BE49-F238E27FC236}">
                <a16:creationId xmlns:a16="http://schemas.microsoft.com/office/drawing/2014/main" id="{32706D5B-3513-C65C-27F2-6315B92F14E8}"/>
              </a:ext>
            </a:extLst>
          </p:cNvPr>
          <p:cNvSpPr txBox="1"/>
          <p:nvPr/>
        </p:nvSpPr>
        <p:spPr>
          <a:xfrm>
            <a:off x="4090468" y="4552251"/>
            <a:ext cx="548640" cy="261610"/>
          </a:xfrm>
          <a:prstGeom prst="rect">
            <a:avLst/>
          </a:prstGeom>
          <a:noFill/>
          <a:ln w="38100">
            <a:noFill/>
          </a:ln>
        </p:spPr>
        <p:txBody>
          <a:bodyPr wrap="square" rtlCol="0">
            <a:spAutoFit/>
          </a:bodyPr>
          <a:lstStyle/>
          <a:p>
            <a:r>
              <a:rPr lang="en-US" sz="1100" b="1"/>
              <a:t>Yes</a:t>
            </a:r>
            <a:endParaRPr lang="en-SG" sz="1200" b="1"/>
          </a:p>
        </p:txBody>
      </p:sp>
      <p:sp>
        <p:nvSpPr>
          <p:cNvPr id="140" name="Diamond 139">
            <a:extLst>
              <a:ext uri="{FF2B5EF4-FFF2-40B4-BE49-F238E27FC236}">
                <a16:creationId xmlns:a16="http://schemas.microsoft.com/office/drawing/2014/main" id="{F40F731D-3E48-F3FF-ECF7-B49C685797FF}"/>
              </a:ext>
            </a:extLst>
          </p:cNvPr>
          <p:cNvSpPr/>
          <p:nvPr/>
        </p:nvSpPr>
        <p:spPr>
          <a:xfrm>
            <a:off x="4752578" y="4514840"/>
            <a:ext cx="1350050" cy="508128"/>
          </a:xfrm>
          <a:prstGeom prst="diamond">
            <a:avLst/>
          </a:prstGeom>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t>Counselling for NSF done?</a:t>
            </a:r>
            <a:endParaRPr lang="en-SG" sz="800"/>
          </a:p>
        </p:txBody>
      </p:sp>
      <p:sp>
        <p:nvSpPr>
          <p:cNvPr id="141" name="TextBox 140">
            <a:extLst>
              <a:ext uri="{FF2B5EF4-FFF2-40B4-BE49-F238E27FC236}">
                <a16:creationId xmlns:a16="http://schemas.microsoft.com/office/drawing/2014/main" id="{41699733-5F66-F8B2-B916-26B230DDFD1F}"/>
              </a:ext>
            </a:extLst>
          </p:cNvPr>
          <p:cNvSpPr txBox="1"/>
          <p:nvPr/>
        </p:nvSpPr>
        <p:spPr>
          <a:xfrm>
            <a:off x="5743596" y="4196023"/>
            <a:ext cx="548640" cy="261610"/>
          </a:xfrm>
          <a:prstGeom prst="rect">
            <a:avLst/>
          </a:prstGeom>
          <a:noFill/>
          <a:ln w="38100">
            <a:noFill/>
          </a:ln>
        </p:spPr>
        <p:txBody>
          <a:bodyPr wrap="square" rtlCol="0">
            <a:spAutoFit/>
          </a:bodyPr>
          <a:lstStyle/>
          <a:p>
            <a:r>
              <a:rPr lang="en-US" sz="1100" b="1"/>
              <a:t>Yes</a:t>
            </a:r>
            <a:endParaRPr lang="en-SG" sz="1200" b="1"/>
          </a:p>
        </p:txBody>
      </p:sp>
      <p:sp>
        <p:nvSpPr>
          <p:cNvPr id="142" name="TextBox 141">
            <a:extLst>
              <a:ext uri="{FF2B5EF4-FFF2-40B4-BE49-F238E27FC236}">
                <a16:creationId xmlns:a16="http://schemas.microsoft.com/office/drawing/2014/main" id="{0F51B738-C8FB-AFBF-A813-47F71B5ACFE1}"/>
              </a:ext>
            </a:extLst>
          </p:cNvPr>
          <p:cNvSpPr txBox="1"/>
          <p:nvPr/>
        </p:nvSpPr>
        <p:spPr>
          <a:xfrm>
            <a:off x="6204422" y="4741061"/>
            <a:ext cx="548640" cy="261610"/>
          </a:xfrm>
          <a:prstGeom prst="rect">
            <a:avLst/>
          </a:prstGeom>
          <a:noFill/>
          <a:ln w="38100">
            <a:noFill/>
          </a:ln>
        </p:spPr>
        <p:txBody>
          <a:bodyPr wrap="square" rtlCol="0">
            <a:spAutoFit/>
          </a:bodyPr>
          <a:lstStyle/>
          <a:p>
            <a:r>
              <a:rPr lang="en-US" sz="1100" b="1"/>
              <a:t>No</a:t>
            </a:r>
            <a:endParaRPr lang="en-SG" sz="1200" b="1"/>
          </a:p>
        </p:txBody>
      </p:sp>
      <p:sp>
        <p:nvSpPr>
          <p:cNvPr id="143" name="TextBox 142">
            <a:extLst>
              <a:ext uri="{FF2B5EF4-FFF2-40B4-BE49-F238E27FC236}">
                <a16:creationId xmlns:a16="http://schemas.microsoft.com/office/drawing/2014/main" id="{1AC26BD9-A802-01DF-AC50-5C775138E189}"/>
              </a:ext>
            </a:extLst>
          </p:cNvPr>
          <p:cNvSpPr txBox="1"/>
          <p:nvPr/>
        </p:nvSpPr>
        <p:spPr>
          <a:xfrm>
            <a:off x="6485418" y="3989568"/>
            <a:ext cx="1953699" cy="246221"/>
          </a:xfrm>
          <a:prstGeom prst="rect">
            <a:avLst/>
          </a:prstGeom>
          <a:solidFill>
            <a:srgbClr val="FF0000"/>
          </a:solidFill>
          <a:ln w="38100">
            <a:solidFill>
              <a:schemeClr val="tx1"/>
            </a:solidFill>
          </a:ln>
        </p:spPr>
        <p:txBody>
          <a:bodyPr wrap="square" rtlCol="0">
            <a:spAutoFit/>
          </a:bodyPr>
          <a:lstStyle/>
          <a:p>
            <a:r>
              <a:rPr lang="en-US" sz="1000">
                <a:solidFill>
                  <a:schemeClr val="bg1"/>
                </a:solidFill>
              </a:rPr>
              <a:t>Scan vetted as contrast-enhanced</a:t>
            </a:r>
            <a:endParaRPr lang="en-SG" sz="1000">
              <a:solidFill>
                <a:schemeClr val="bg1"/>
              </a:solidFill>
            </a:endParaRPr>
          </a:p>
        </p:txBody>
      </p:sp>
      <p:sp>
        <p:nvSpPr>
          <p:cNvPr id="144" name="TextBox 143">
            <a:extLst>
              <a:ext uri="{FF2B5EF4-FFF2-40B4-BE49-F238E27FC236}">
                <a16:creationId xmlns:a16="http://schemas.microsoft.com/office/drawing/2014/main" id="{8DC19E93-FC30-A99A-1DA5-D46E1150806F}"/>
              </a:ext>
            </a:extLst>
          </p:cNvPr>
          <p:cNvSpPr txBox="1"/>
          <p:nvPr/>
        </p:nvSpPr>
        <p:spPr>
          <a:xfrm>
            <a:off x="9921479" y="889542"/>
            <a:ext cx="2051437" cy="246221"/>
          </a:xfrm>
          <a:prstGeom prst="rect">
            <a:avLst/>
          </a:prstGeom>
          <a:solidFill>
            <a:srgbClr val="FFC000"/>
          </a:solidFill>
          <a:ln w="57150">
            <a:solidFill>
              <a:schemeClr val="accent1">
                <a:lumMod val="60000"/>
                <a:lumOff val="40000"/>
              </a:schemeClr>
            </a:solidFill>
          </a:ln>
        </p:spPr>
        <p:txBody>
          <a:bodyPr wrap="square" rtlCol="0" anchor="ctr">
            <a:spAutoFit/>
          </a:bodyPr>
          <a:lstStyle/>
          <a:p>
            <a:pPr algn="ctr"/>
            <a:r>
              <a:rPr lang="en-US" sz="1000"/>
              <a:t>High level process</a:t>
            </a:r>
            <a:endParaRPr lang="en-SG" sz="1000"/>
          </a:p>
        </p:txBody>
      </p:sp>
      <p:sp>
        <p:nvSpPr>
          <p:cNvPr id="145" name="TextBox 144">
            <a:extLst>
              <a:ext uri="{FF2B5EF4-FFF2-40B4-BE49-F238E27FC236}">
                <a16:creationId xmlns:a16="http://schemas.microsoft.com/office/drawing/2014/main" id="{E2620ECD-5ECB-15EB-85E7-F03FD43D09DE}"/>
              </a:ext>
            </a:extLst>
          </p:cNvPr>
          <p:cNvSpPr txBox="1"/>
          <p:nvPr/>
        </p:nvSpPr>
        <p:spPr>
          <a:xfrm>
            <a:off x="9921479" y="1246349"/>
            <a:ext cx="2051437" cy="246221"/>
          </a:xfrm>
          <a:prstGeom prst="rect">
            <a:avLst/>
          </a:prstGeom>
          <a:solidFill>
            <a:schemeClr val="bg1"/>
          </a:solidFill>
          <a:ln w="57150">
            <a:solidFill>
              <a:schemeClr val="tx1"/>
            </a:solidFill>
          </a:ln>
        </p:spPr>
        <p:txBody>
          <a:bodyPr wrap="square" rtlCol="0" anchor="ctr">
            <a:spAutoFit/>
          </a:bodyPr>
          <a:lstStyle/>
          <a:p>
            <a:pPr algn="ctr"/>
            <a:r>
              <a:rPr lang="en-US" sz="1000"/>
              <a:t>Low level process</a:t>
            </a:r>
            <a:endParaRPr lang="en-SG" sz="1000"/>
          </a:p>
        </p:txBody>
      </p:sp>
      <p:sp>
        <p:nvSpPr>
          <p:cNvPr id="146" name="TextBox 145">
            <a:extLst>
              <a:ext uri="{FF2B5EF4-FFF2-40B4-BE49-F238E27FC236}">
                <a16:creationId xmlns:a16="http://schemas.microsoft.com/office/drawing/2014/main" id="{2729FB65-CD32-3259-F656-902D22B0BE29}"/>
              </a:ext>
            </a:extLst>
          </p:cNvPr>
          <p:cNvSpPr txBox="1"/>
          <p:nvPr/>
        </p:nvSpPr>
        <p:spPr>
          <a:xfrm>
            <a:off x="9921479" y="1608533"/>
            <a:ext cx="2051437" cy="246221"/>
          </a:xfrm>
          <a:prstGeom prst="rect">
            <a:avLst/>
          </a:prstGeom>
          <a:solidFill>
            <a:srgbClr val="92D050"/>
          </a:solidFill>
          <a:ln w="57150">
            <a:solidFill>
              <a:schemeClr val="tx1"/>
            </a:solidFill>
          </a:ln>
        </p:spPr>
        <p:txBody>
          <a:bodyPr wrap="square" rtlCol="0" anchor="ctr">
            <a:spAutoFit/>
          </a:bodyPr>
          <a:lstStyle/>
          <a:p>
            <a:pPr algn="ctr"/>
            <a:r>
              <a:rPr lang="en-US" sz="1000"/>
              <a:t>Referring clinician</a:t>
            </a:r>
            <a:endParaRPr lang="en-SG" sz="1000"/>
          </a:p>
        </p:txBody>
      </p:sp>
      <p:sp>
        <p:nvSpPr>
          <p:cNvPr id="147" name="TextBox 146">
            <a:extLst>
              <a:ext uri="{FF2B5EF4-FFF2-40B4-BE49-F238E27FC236}">
                <a16:creationId xmlns:a16="http://schemas.microsoft.com/office/drawing/2014/main" id="{311A5B23-9D68-CD87-41B3-6E1EB2FCD54D}"/>
              </a:ext>
            </a:extLst>
          </p:cNvPr>
          <p:cNvSpPr txBox="1"/>
          <p:nvPr/>
        </p:nvSpPr>
        <p:spPr>
          <a:xfrm>
            <a:off x="9921478" y="1970717"/>
            <a:ext cx="2051437" cy="246221"/>
          </a:xfrm>
          <a:prstGeom prst="rect">
            <a:avLst/>
          </a:prstGeom>
          <a:solidFill>
            <a:srgbClr val="FF0000"/>
          </a:solidFill>
          <a:ln w="57150">
            <a:solidFill>
              <a:schemeClr val="tx1"/>
            </a:solidFill>
          </a:ln>
        </p:spPr>
        <p:txBody>
          <a:bodyPr wrap="square" rtlCol="0" anchor="ctr">
            <a:spAutoFit/>
          </a:bodyPr>
          <a:lstStyle/>
          <a:p>
            <a:pPr algn="ctr"/>
            <a:r>
              <a:rPr lang="en-US" sz="1000">
                <a:solidFill>
                  <a:schemeClr val="bg1"/>
                </a:solidFill>
              </a:rPr>
              <a:t>Radiologist</a:t>
            </a:r>
            <a:endParaRPr lang="en-SG" sz="1000">
              <a:solidFill>
                <a:schemeClr val="bg1"/>
              </a:solidFill>
            </a:endParaRPr>
          </a:p>
        </p:txBody>
      </p:sp>
      <p:sp>
        <p:nvSpPr>
          <p:cNvPr id="148" name="TextBox 147">
            <a:extLst>
              <a:ext uri="{FF2B5EF4-FFF2-40B4-BE49-F238E27FC236}">
                <a16:creationId xmlns:a16="http://schemas.microsoft.com/office/drawing/2014/main" id="{51CE5A9F-7109-3DB9-8E6E-899C97ECD7EC}"/>
              </a:ext>
            </a:extLst>
          </p:cNvPr>
          <p:cNvSpPr txBox="1"/>
          <p:nvPr/>
        </p:nvSpPr>
        <p:spPr>
          <a:xfrm>
            <a:off x="9921478" y="2321426"/>
            <a:ext cx="2051437" cy="246221"/>
          </a:xfrm>
          <a:prstGeom prst="rect">
            <a:avLst/>
          </a:prstGeom>
          <a:solidFill>
            <a:srgbClr val="FFFF00"/>
          </a:solidFill>
          <a:ln w="57150">
            <a:solidFill>
              <a:schemeClr val="tx1"/>
            </a:solidFill>
          </a:ln>
        </p:spPr>
        <p:txBody>
          <a:bodyPr wrap="square" rtlCol="0" anchor="ctr">
            <a:spAutoFit/>
          </a:bodyPr>
          <a:lstStyle/>
          <a:p>
            <a:pPr algn="ctr"/>
            <a:r>
              <a:rPr lang="en-US" sz="1000"/>
              <a:t>Radiographer/Allied Health/Ops</a:t>
            </a:r>
            <a:endParaRPr lang="en-SG" sz="1000"/>
          </a:p>
        </p:txBody>
      </p:sp>
      <p:sp>
        <p:nvSpPr>
          <p:cNvPr id="149" name="Diamond 148">
            <a:extLst>
              <a:ext uri="{FF2B5EF4-FFF2-40B4-BE49-F238E27FC236}">
                <a16:creationId xmlns:a16="http://schemas.microsoft.com/office/drawing/2014/main" id="{3F788823-88E7-33DD-9826-E26AA770E5D6}"/>
              </a:ext>
            </a:extLst>
          </p:cNvPr>
          <p:cNvSpPr/>
          <p:nvPr/>
        </p:nvSpPr>
        <p:spPr>
          <a:xfrm>
            <a:off x="3573006" y="2660574"/>
            <a:ext cx="1764496" cy="719198"/>
          </a:xfrm>
          <a:prstGeom prst="diamond">
            <a:avLst/>
          </a:prstGeom>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t>Has clinician opted for MRI with IV contrast?</a:t>
            </a:r>
            <a:endParaRPr lang="en-SG" sz="800"/>
          </a:p>
        </p:txBody>
      </p:sp>
      <p:cxnSp>
        <p:nvCxnSpPr>
          <p:cNvPr id="150" name="Straight Arrow Connector 149">
            <a:extLst>
              <a:ext uri="{FF2B5EF4-FFF2-40B4-BE49-F238E27FC236}">
                <a16:creationId xmlns:a16="http://schemas.microsoft.com/office/drawing/2014/main" id="{DC90F655-FD3A-6E01-8D75-08DC3B8496E5}"/>
              </a:ext>
            </a:extLst>
          </p:cNvPr>
          <p:cNvCxnSpPr/>
          <p:nvPr/>
        </p:nvCxnSpPr>
        <p:spPr>
          <a:xfrm>
            <a:off x="5351687" y="3027385"/>
            <a:ext cx="438120" cy="17436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1" name="Straight Arrow Connector 150">
            <a:extLst>
              <a:ext uri="{FF2B5EF4-FFF2-40B4-BE49-F238E27FC236}">
                <a16:creationId xmlns:a16="http://schemas.microsoft.com/office/drawing/2014/main" id="{44FEC258-7B47-84E1-E76C-F2877431BDFF}"/>
              </a:ext>
            </a:extLst>
          </p:cNvPr>
          <p:cNvCxnSpPr/>
          <p:nvPr/>
        </p:nvCxnSpPr>
        <p:spPr>
          <a:xfrm flipV="1">
            <a:off x="7246762" y="3272507"/>
            <a:ext cx="508024" cy="418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2" name="TextBox 151">
            <a:extLst>
              <a:ext uri="{FF2B5EF4-FFF2-40B4-BE49-F238E27FC236}">
                <a16:creationId xmlns:a16="http://schemas.microsoft.com/office/drawing/2014/main" id="{BE9045A7-A736-AFDC-53C4-E341D6240425}"/>
              </a:ext>
            </a:extLst>
          </p:cNvPr>
          <p:cNvSpPr txBox="1"/>
          <p:nvPr/>
        </p:nvSpPr>
        <p:spPr>
          <a:xfrm>
            <a:off x="5251743" y="3091002"/>
            <a:ext cx="548640" cy="261610"/>
          </a:xfrm>
          <a:prstGeom prst="rect">
            <a:avLst/>
          </a:prstGeom>
          <a:noFill/>
          <a:ln w="38100">
            <a:noFill/>
          </a:ln>
        </p:spPr>
        <p:txBody>
          <a:bodyPr wrap="square" rtlCol="0">
            <a:spAutoFit/>
          </a:bodyPr>
          <a:lstStyle/>
          <a:p>
            <a:r>
              <a:rPr lang="en-US" sz="1100" b="1"/>
              <a:t>Yes</a:t>
            </a:r>
            <a:endParaRPr lang="en-SG" sz="1200" b="1"/>
          </a:p>
        </p:txBody>
      </p:sp>
      <p:sp>
        <p:nvSpPr>
          <p:cNvPr id="153" name="TextBox 152">
            <a:extLst>
              <a:ext uri="{FF2B5EF4-FFF2-40B4-BE49-F238E27FC236}">
                <a16:creationId xmlns:a16="http://schemas.microsoft.com/office/drawing/2014/main" id="{819C74ED-1EB0-2C94-AE74-284441409BA7}"/>
              </a:ext>
            </a:extLst>
          </p:cNvPr>
          <p:cNvSpPr txBox="1"/>
          <p:nvPr/>
        </p:nvSpPr>
        <p:spPr>
          <a:xfrm>
            <a:off x="5296078" y="2673621"/>
            <a:ext cx="548640" cy="261610"/>
          </a:xfrm>
          <a:prstGeom prst="rect">
            <a:avLst/>
          </a:prstGeom>
          <a:noFill/>
          <a:ln w="38100">
            <a:noFill/>
          </a:ln>
        </p:spPr>
        <p:txBody>
          <a:bodyPr wrap="square" rtlCol="0">
            <a:spAutoFit/>
          </a:bodyPr>
          <a:lstStyle/>
          <a:p>
            <a:r>
              <a:rPr lang="en-US" sz="1100" b="1"/>
              <a:t>No</a:t>
            </a:r>
            <a:endParaRPr lang="en-SG" sz="1200" b="1"/>
          </a:p>
        </p:txBody>
      </p:sp>
      <p:cxnSp>
        <p:nvCxnSpPr>
          <p:cNvPr id="154" name="Straight Arrow Connector 153">
            <a:extLst>
              <a:ext uri="{FF2B5EF4-FFF2-40B4-BE49-F238E27FC236}">
                <a16:creationId xmlns:a16="http://schemas.microsoft.com/office/drawing/2014/main" id="{D50DC39D-7BDD-EEC7-AF94-65064C0A619B}"/>
              </a:ext>
            </a:extLst>
          </p:cNvPr>
          <p:cNvCxnSpPr>
            <a:cxnSpLocks/>
          </p:cNvCxnSpPr>
          <p:nvPr/>
        </p:nvCxnSpPr>
        <p:spPr>
          <a:xfrm>
            <a:off x="3319392" y="4401467"/>
            <a:ext cx="2280" cy="14952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5" name="Rectangle 154">
            <a:extLst>
              <a:ext uri="{FF2B5EF4-FFF2-40B4-BE49-F238E27FC236}">
                <a16:creationId xmlns:a16="http://schemas.microsoft.com/office/drawing/2014/main" id="{7F97E898-EE98-94FD-333F-CB8C6E69BEA6}"/>
              </a:ext>
            </a:extLst>
          </p:cNvPr>
          <p:cNvSpPr/>
          <p:nvPr/>
        </p:nvSpPr>
        <p:spPr>
          <a:xfrm>
            <a:off x="7613372" y="2995223"/>
            <a:ext cx="2472821" cy="635871"/>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6" name="Straight Arrow Connector 155">
            <a:extLst>
              <a:ext uri="{FF2B5EF4-FFF2-40B4-BE49-F238E27FC236}">
                <a16:creationId xmlns:a16="http://schemas.microsoft.com/office/drawing/2014/main" id="{84D3A534-7AFA-C8CD-F798-465930198C83}"/>
              </a:ext>
            </a:extLst>
          </p:cNvPr>
          <p:cNvCxnSpPr>
            <a:cxnSpLocks/>
          </p:cNvCxnSpPr>
          <p:nvPr/>
        </p:nvCxnSpPr>
        <p:spPr>
          <a:xfrm>
            <a:off x="2180416" y="1381626"/>
            <a:ext cx="465617" cy="385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7" name="Straight Arrow Connector 156">
            <a:extLst>
              <a:ext uri="{FF2B5EF4-FFF2-40B4-BE49-F238E27FC236}">
                <a16:creationId xmlns:a16="http://schemas.microsoft.com/office/drawing/2014/main" id="{DB43BC34-A4C8-6FC6-8F02-7FFFCD243F40}"/>
              </a:ext>
            </a:extLst>
          </p:cNvPr>
          <p:cNvCxnSpPr>
            <a:cxnSpLocks/>
          </p:cNvCxnSpPr>
          <p:nvPr/>
        </p:nvCxnSpPr>
        <p:spPr>
          <a:xfrm>
            <a:off x="4823814" y="1381626"/>
            <a:ext cx="465617" cy="385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8" name="Diamond 157">
            <a:extLst>
              <a:ext uri="{FF2B5EF4-FFF2-40B4-BE49-F238E27FC236}">
                <a16:creationId xmlns:a16="http://schemas.microsoft.com/office/drawing/2014/main" id="{8FC6D940-89D3-DA2C-CC80-14D029CE4E02}"/>
              </a:ext>
            </a:extLst>
          </p:cNvPr>
          <p:cNvSpPr/>
          <p:nvPr/>
        </p:nvSpPr>
        <p:spPr>
          <a:xfrm>
            <a:off x="2650535" y="990655"/>
            <a:ext cx="2169096" cy="752914"/>
          </a:xfrm>
          <a:prstGeom prst="diamond">
            <a:avLst/>
          </a:prstGeom>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800" dirty="0"/>
              <a:t>Does clinician have any queries about arranging the scan?</a:t>
            </a:r>
            <a:endParaRPr lang="en-US" sz="800" dirty="0">
              <a:ea typeface="Calibri"/>
              <a:cs typeface="Calibri"/>
            </a:endParaRPr>
          </a:p>
        </p:txBody>
      </p:sp>
      <p:sp>
        <p:nvSpPr>
          <p:cNvPr id="159" name="TextBox 158">
            <a:extLst>
              <a:ext uri="{FF2B5EF4-FFF2-40B4-BE49-F238E27FC236}">
                <a16:creationId xmlns:a16="http://schemas.microsoft.com/office/drawing/2014/main" id="{37739B08-81A9-AA1E-B7F1-83F0D481AC50}"/>
              </a:ext>
            </a:extLst>
          </p:cNvPr>
          <p:cNvSpPr txBox="1"/>
          <p:nvPr/>
        </p:nvSpPr>
        <p:spPr>
          <a:xfrm>
            <a:off x="4851147" y="1419966"/>
            <a:ext cx="548640" cy="261610"/>
          </a:xfrm>
          <a:prstGeom prst="rect">
            <a:avLst/>
          </a:prstGeom>
          <a:noFill/>
          <a:ln w="38100">
            <a:noFill/>
          </a:ln>
        </p:spPr>
        <p:txBody>
          <a:bodyPr wrap="square" rtlCol="0">
            <a:spAutoFit/>
          </a:bodyPr>
          <a:lstStyle/>
          <a:p>
            <a:r>
              <a:rPr lang="en-US" sz="1100" b="1"/>
              <a:t>Yes</a:t>
            </a:r>
            <a:endParaRPr lang="en-SG" sz="1200" b="1"/>
          </a:p>
        </p:txBody>
      </p:sp>
      <p:sp>
        <p:nvSpPr>
          <p:cNvPr id="160" name="TextBox 159">
            <a:extLst>
              <a:ext uri="{FF2B5EF4-FFF2-40B4-BE49-F238E27FC236}">
                <a16:creationId xmlns:a16="http://schemas.microsoft.com/office/drawing/2014/main" id="{633991E4-C697-5F67-35A9-C8B0DC218DC9}"/>
              </a:ext>
            </a:extLst>
          </p:cNvPr>
          <p:cNvSpPr txBox="1"/>
          <p:nvPr/>
        </p:nvSpPr>
        <p:spPr>
          <a:xfrm>
            <a:off x="2861723" y="1641886"/>
            <a:ext cx="548640" cy="261610"/>
          </a:xfrm>
          <a:prstGeom prst="rect">
            <a:avLst/>
          </a:prstGeom>
          <a:noFill/>
          <a:ln w="38100">
            <a:noFill/>
          </a:ln>
        </p:spPr>
        <p:txBody>
          <a:bodyPr wrap="square" rtlCol="0">
            <a:spAutoFit/>
          </a:bodyPr>
          <a:lstStyle/>
          <a:p>
            <a:r>
              <a:rPr lang="en-US" sz="1100" b="1" dirty="0"/>
              <a:t>No</a:t>
            </a:r>
            <a:endParaRPr lang="en-SG" sz="1200" b="1" dirty="0"/>
          </a:p>
        </p:txBody>
      </p:sp>
      <p:cxnSp>
        <p:nvCxnSpPr>
          <p:cNvPr id="161" name="Straight Arrow Connector 160">
            <a:extLst>
              <a:ext uri="{FF2B5EF4-FFF2-40B4-BE49-F238E27FC236}">
                <a16:creationId xmlns:a16="http://schemas.microsoft.com/office/drawing/2014/main" id="{DCE15B84-CD0D-E490-6D28-6E7084448696}"/>
              </a:ext>
            </a:extLst>
          </p:cNvPr>
          <p:cNvCxnSpPr>
            <a:cxnSpLocks/>
          </p:cNvCxnSpPr>
          <p:nvPr/>
        </p:nvCxnSpPr>
        <p:spPr>
          <a:xfrm flipH="1">
            <a:off x="2209080" y="1584304"/>
            <a:ext cx="977986" cy="46432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2" name="TextBox 161">
            <a:extLst>
              <a:ext uri="{FF2B5EF4-FFF2-40B4-BE49-F238E27FC236}">
                <a16:creationId xmlns:a16="http://schemas.microsoft.com/office/drawing/2014/main" id="{48167417-1D38-8A7D-2E54-AA57AF7533AA}"/>
              </a:ext>
            </a:extLst>
          </p:cNvPr>
          <p:cNvSpPr txBox="1"/>
          <p:nvPr/>
        </p:nvSpPr>
        <p:spPr>
          <a:xfrm>
            <a:off x="5296174" y="1091019"/>
            <a:ext cx="2847153" cy="553998"/>
          </a:xfrm>
          <a:prstGeom prst="rect">
            <a:avLst/>
          </a:prstGeom>
          <a:solidFill>
            <a:srgbClr val="92D050"/>
          </a:solidFill>
          <a:ln w="38100">
            <a:solidFill>
              <a:schemeClr val="tx1"/>
            </a:solidFill>
          </a:ln>
        </p:spPr>
        <p:txBody>
          <a:bodyPr wrap="square" lIns="91440" tIns="45720" rIns="91440" bIns="45720" rtlCol="0" anchor="t">
            <a:spAutoFit/>
          </a:bodyPr>
          <a:lstStyle/>
          <a:p>
            <a:r>
              <a:rPr lang="en-US" sz="1000" dirty="0">
                <a:ea typeface="Calibri"/>
                <a:cs typeface="Calibri"/>
              </a:rPr>
              <a:t>Call generic on-call number of try to reach someone on duty while reading the radiologist roster on intranet</a:t>
            </a:r>
          </a:p>
        </p:txBody>
      </p:sp>
      <p:cxnSp>
        <p:nvCxnSpPr>
          <p:cNvPr id="5" name="Straight Arrow Connector 4"/>
          <p:cNvCxnSpPr>
            <a:stCxn id="104" idx="3"/>
          </p:cNvCxnSpPr>
          <p:nvPr/>
        </p:nvCxnSpPr>
        <p:spPr>
          <a:xfrm>
            <a:off x="8482564" y="1415196"/>
            <a:ext cx="1995458" cy="1786552"/>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66" name="Straight Arrow Connector 65"/>
          <p:cNvCxnSpPr>
            <a:stCxn id="155" idx="3"/>
          </p:cNvCxnSpPr>
          <p:nvPr/>
        </p:nvCxnSpPr>
        <p:spPr>
          <a:xfrm flipV="1">
            <a:off x="10086193" y="3221807"/>
            <a:ext cx="391829" cy="91352"/>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69" name="TextBox 68">
            <a:extLst>
              <a:ext uri="{FF2B5EF4-FFF2-40B4-BE49-F238E27FC236}">
                <a16:creationId xmlns:a16="http://schemas.microsoft.com/office/drawing/2014/main" id="{10147786-698D-BB0D-715A-35080BDD5D48}"/>
              </a:ext>
            </a:extLst>
          </p:cNvPr>
          <p:cNvSpPr txBox="1"/>
          <p:nvPr/>
        </p:nvSpPr>
        <p:spPr>
          <a:xfrm>
            <a:off x="10534001" y="3078831"/>
            <a:ext cx="1547457" cy="246221"/>
          </a:xfrm>
          <a:prstGeom prst="rect">
            <a:avLst/>
          </a:prstGeom>
          <a:noFill/>
          <a:ln w="38100">
            <a:solidFill>
              <a:schemeClr val="tx1"/>
            </a:solidFill>
          </a:ln>
        </p:spPr>
        <p:txBody>
          <a:bodyPr wrap="square" rtlCol="0">
            <a:spAutoFit/>
          </a:bodyPr>
          <a:lstStyle/>
          <a:p>
            <a:r>
              <a:rPr lang="en-US" sz="1000" dirty="0"/>
              <a:t>Problem areas to focus on</a:t>
            </a:r>
            <a:endParaRPr lang="en-SG" sz="1000" dirty="0"/>
          </a:p>
        </p:txBody>
      </p:sp>
    </p:spTree>
    <p:extLst>
      <p:ext uri="{BB962C8B-B14F-4D97-AF65-F5344CB8AC3E}">
        <p14:creationId xmlns:p14="http://schemas.microsoft.com/office/powerpoint/2010/main" val="4259802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accel="50000" decel="5000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1000" fill="hold"/>
                                        <p:tgtEl>
                                          <p:spTgt spid="3"/>
                                        </p:tgtEl>
                                        <p:attrNameLst>
                                          <p:attrName>ppt_x</p:attrName>
                                        </p:attrNameLst>
                                      </p:cBhvr>
                                      <p:tavLst>
                                        <p:tav tm="0">
                                          <p:val>
                                            <p:strVal val="0-#ppt_w/2"/>
                                          </p:val>
                                        </p:tav>
                                        <p:tav tm="100000">
                                          <p:val>
                                            <p:strVal val="#ppt_x"/>
                                          </p:val>
                                        </p:tav>
                                      </p:tavLst>
                                    </p:anim>
                                    <p:anim calcmode="lin" valueType="num">
                                      <p:cBhvr additive="base">
                                        <p:cTn id="8" dur="1000" fill="hold"/>
                                        <p:tgtEl>
                                          <p:spTgt spid="3"/>
                                        </p:tgtEl>
                                        <p:attrNameLst>
                                          <p:attrName>ppt_y</p:attrName>
                                        </p:attrNameLst>
                                      </p:cBhvr>
                                      <p:tavLst>
                                        <p:tav tm="0">
                                          <p:val>
                                            <p:strVal val="#ppt_y"/>
                                          </p:val>
                                        </p:tav>
                                        <p:tav tm="100000">
                                          <p:val>
                                            <p:strVal val="#ppt_y"/>
                                          </p:val>
                                        </p:tav>
                                      </p:tavLst>
                                    </p:anim>
                                  </p:childTnLst>
                                </p:cTn>
                              </p:par>
                              <p:par>
                                <p:cTn id="9" presetID="2" presetClass="entr" presetSubtype="2" accel="50000" decel="5000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1000" fill="hold"/>
                                        <p:tgtEl>
                                          <p:spTgt spid="4"/>
                                        </p:tgtEl>
                                        <p:attrNameLst>
                                          <p:attrName>ppt_x</p:attrName>
                                        </p:attrNameLst>
                                      </p:cBhvr>
                                      <p:tavLst>
                                        <p:tav tm="0">
                                          <p:val>
                                            <p:strVal val="1+#ppt_w/2"/>
                                          </p:val>
                                        </p:tav>
                                        <p:tav tm="100000">
                                          <p:val>
                                            <p:strVal val="#ppt_x"/>
                                          </p:val>
                                        </p:tav>
                                      </p:tavLst>
                                    </p:anim>
                                    <p:anim calcmode="lin" valueType="num">
                                      <p:cBhvr additive="base">
                                        <p:cTn id="12" dur="10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52697" y="64109"/>
            <a:ext cx="11839302" cy="710066"/>
          </a:xfrm>
          <a:prstGeom prst="rect">
            <a:avLst/>
          </a:prstGeom>
          <a:noFill/>
        </p:spPr>
        <p:txBody>
          <a:bodyPr wrap="square" rtlCol="0">
            <a:spAutoFit/>
          </a:bodyPr>
          <a:lstStyle/>
          <a:p>
            <a:pPr>
              <a:lnSpc>
                <a:spcPct val="150000"/>
              </a:lnSpc>
            </a:pPr>
            <a:r>
              <a:rPr lang="en-US" sz="3000" b="1" dirty="0">
                <a:solidFill>
                  <a:schemeClr val="tx1">
                    <a:lumMod val="85000"/>
                    <a:lumOff val="15000"/>
                  </a:schemeClr>
                </a:solidFill>
                <a:latin typeface="Arial Black" charset="0"/>
                <a:ea typeface="Arial Black" charset="0"/>
                <a:cs typeface="Arial Black" charset="0"/>
              </a:rPr>
              <a:t>D. Interventions &amp; Action Plan (</a:t>
            </a:r>
            <a:r>
              <a:rPr lang="en-US" sz="3000" b="1" dirty="0">
                <a:solidFill>
                  <a:srgbClr val="0070C0"/>
                </a:solidFill>
                <a:latin typeface="Arial Black" charset="0"/>
                <a:ea typeface="Arial Black" charset="0"/>
                <a:cs typeface="Arial Black" charset="0"/>
              </a:rPr>
              <a:t>D</a:t>
            </a:r>
            <a:r>
              <a:rPr lang="en-US" sz="3000" b="1" dirty="0">
                <a:solidFill>
                  <a:schemeClr val="tx1">
                    <a:lumMod val="85000"/>
                    <a:lumOff val="15000"/>
                  </a:schemeClr>
                </a:solidFill>
                <a:latin typeface="Arial Black" charset="0"/>
                <a:ea typeface="Arial Black" charset="0"/>
                <a:cs typeface="Arial Black" charset="0"/>
              </a:rPr>
              <a:t>O)</a:t>
            </a:r>
            <a:endParaRPr lang="en-US" sz="1600" dirty="0">
              <a:solidFill>
                <a:schemeClr val="tx1">
                  <a:lumMod val="85000"/>
                  <a:lumOff val="15000"/>
                </a:schemeClr>
              </a:solidFill>
              <a:latin typeface="Arial" charset="0"/>
              <a:ea typeface="Arial" charset="0"/>
              <a:cs typeface="Arial" charset="0"/>
            </a:endParaRPr>
          </a:p>
        </p:txBody>
      </p:sp>
      <p:cxnSp>
        <p:nvCxnSpPr>
          <p:cNvPr id="6" name="Straight Connector 5">
            <a:extLst>
              <a:ext uri="{C183D7F6-B498-43B3-948B-1728B52AA6E4}">
                <adec:decorative xmlns:adec="http://schemas.microsoft.com/office/drawing/2017/decorative" val="1"/>
              </a:ext>
            </a:extLst>
          </p:cNvPr>
          <p:cNvCxnSpPr/>
          <p:nvPr/>
        </p:nvCxnSpPr>
        <p:spPr>
          <a:xfrm>
            <a:off x="226423" y="746051"/>
            <a:ext cx="10027920" cy="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aphicFrame>
        <p:nvGraphicFramePr>
          <p:cNvPr id="7" name="Table 6"/>
          <p:cNvGraphicFramePr>
            <a:graphicFrameLocks noGrp="1"/>
          </p:cNvGraphicFramePr>
          <p:nvPr>
            <p:extLst>
              <p:ext uri="{D42A27DB-BD31-4B8C-83A1-F6EECF244321}">
                <p14:modId xmlns:p14="http://schemas.microsoft.com/office/powerpoint/2010/main" val="668863662"/>
              </p:ext>
            </p:extLst>
          </p:nvPr>
        </p:nvGraphicFramePr>
        <p:xfrm>
          <a:off x="359019" y="1062403"/>
          <a:ext cx="11388181" cy="5334413"/>
        </p:xfrm>
        <a:graphic>
          <a:graphicData uri="http://schemas.openxmlformats.org/drawingml/2006/table">
            <a:tbl>
              <a:tblPr firstRow="1" bandRow="1">
                <a:tableStyleId>{7DF18680-E054-41AD-8BC1-D1AEF772440D}</a:tableStyleId>
              </a:tblPr>
              <a:tblGrid>
                <a:gridCol w="3171259">
                  <a:extLst>
                    <a:ext uri="{9D8B030D-6E8A-4147-A177-3AD203B41FA5}">
                      <a16:colId xmlns:a16="http://schemas.microsoft.com/office/drawing/2014/main" val="2911771667"/>
                    </a:ext>
                  </a:extLst>
                </a:gridCol>
                <a:gridCol w="5457671">
                  <a:extLst>
                    <a:ext uri="{9D8B030D-6E8A-4147-A177-3AD203B41FA5}">
                      <a16:colId xmlns:a16="http://schemas.microsoft.com/office/drawing/2014/main" val="3329328042"/>
                    </a:ext>
                  </a:extLst>
                </a:gridCol>
                <a:gridCol w="2759251">
                  <a:extLst>
                    <a:ext uri="{9D8B030D-6E8A-4147-A177-3AD203B41FA5}">
                      <a16:colId xmlns:a16="http://schemas.microsoft.com/office/drawing/2014/main" val="2689038530"/>
                    </a:ext>
                  </a:extLst>
                </a:gridCol>
              </a:tblGrid>
              <a:tr h="742243">
                <a:tc>
                  <a:txBody>
                    <a:bodyPr/>
                    <a:lstStyle/>
                    <a:p>
                      <a:r>
                        <a:rPr lang="en-US" sz="2400" dirty="0"/>
                        <a:t>ROOT</a:t>
                      </a:r>
                      <a:r>
                        <a:rPr lang="en-US" sz="2400" baseline="0" dirty="0"/>
                        <a:t> CAUSE</a:t>
                      </a:r>
                      <a:endParaRPr lang="en-GB" sz="2400" b="0" dirty="0">
                        <a:latin typeface="+mn-lt"/>
                      </a:endParaRPr>
                    </a:p>
                  </a:txBody>
                  <a:tcPr/>
                </a:tc>
                <a:tc>
                  <a:txBody>
                    <a:bodyPr/>
                    <a:lstStyle/>
                    <a:p>
                      <a:r>
                        <a:rPr lang="en-US" sz="2400" dirty="0"/>
                        <a:t>INTERVENTION</a:t>
                      </a:r>
                      <a:endParaRPr lang="en-GB" sz="2400" b="0" dirty="0">
                        <a:latin typeface="+mn-lt"/>
                      </a:endParaRPr>
                    </a:p>
                  </a:txBody>
                  <a:tcPr/>
                </a:tc>
                <a:tc>
                  <a:txBody>
                    <a:bodyPr/>
                    <a:lstStyle/>
                    <a:p>
                      <a:r>
                        <a:rPr lang="en-US" sz="2400" dirty="0"/>
                        <a:t>DATE OF IMPLEMENTATION</a:t>
                      </a:r>
                      <a:endParaRPr lang="en-GB" sz="2400" b="0" dirty="0">
                        <a:latin typeface="+mn-lt"/>
                      </a:endParaRPr>
                    </a:p>
                  </a:txBody>
                  <a:tcPr/>
                </a:tc>
                <a:extLst>
                  <a:ext uri="{0D108BD9-81ED-4DB2-BD59-A6C34878D82A}">
                    <a16:rowId xmlns:a16="http://schemas.microsoft.com/office/drawing/2014/main" val="3846619541"/>
                  </a:ext>
                </a:extLst>
              </a:tr>
              <a:tr h="731933">
                <a:tc>
                  <a:txBody>
                    <a:bodyPr/>
                    <a:lstStyle/>
                    <a:p>
                      <a:r>
                        <a:rPr lang="en-GB" sz="1600" dirty="0"/>
                        <a:t>No clear workflow in place</a:t>
                      </a:r>
                    </a:p>
                  </a:txBody>
                  <a:tcPr/>
                </a:tc>
                <a:tc>
                  <a:txBody>
                    <a:bodyPr/>
                    <a:lstStyle/>
                    <a:p>
                      <a:r>
                        <a:rPr lang="en-GB" sz="1600" dirty="0"/>
                        <a:t>Intervention 1: Create a workflow for the hospital departments </a:t>
                      </a:r>
                      <a:r>
                        <a:rPr lang="en-SG" sz="1600" dirty="0"/>
                        <a:t>detailing steps required to perform CE-MRI n CKD4 patients</a:t>
                      </a:r>
                      <a:endParaRPr lang="en-GB" sz="1600" dirty="0"/>
                    </a:p>
                  </a:txBody>
                  <a:tcPr/>
                </a:tc>
                <a:tc>
                  <a:txBody>
                    <a:bodyPr/>
                    <a:lstStyle/>
                    <a:p>
                      <a:r>
                        <a:rPr lang="en-GB" sz="1600" dirty="0"/>
                        <a:t>June 2025</a:t>
                      </a:r>
                    </a:p>
                  </a:txBody>
                  <a:tcPr/>
                </a:tc>
                <a:extLst>
                  <a:ext uri="{0D108BD9-81ED-4DB2-BD59-A6C34878D82A}">
                    <a16:rowId xmlns:a16="http://schemas.microsoft.com/office/drawing/2014/main" val="947858480"/>
                  </a:ext>
                </a:extLst>
              </a:tr>
              <a:tr h="1164911">
                <a:tc>
                  <a:txBody>
                    <a:bodyPr/>
                    <a:lstStyle/>
                    <a:p>
                      <a:r>
                        <a:rPr lang="en-GB" sz="1600" dirty="0"/>
                        <a:t>No updates to doctors on new safety data </a:t>
                      </a:r>
                      <a:endParaRPr lang="en-GB" sz="1600" baseline="0" dirty="0"/>
                    </a:p>
                  </a:txBody>
                  <a:tcPr/>
                </a:tc>
                <a:tc>
                  <a:txBody>
                    <a:bodyPr/>
                    <a:lstStyle/>
                    <a:p>
                      <a:pPr marL="0" indent="0">
                        <a:buFontTx/>
                        <a:buNone/>
                      </a:pPr>
                      <a:r>
                        <a:rPr lang="en-GB" sz="1600" baseline="0" dirty="0"/>
                        <a:t>Intervention 2: Take a 3 prong-approach to educating doctors, ensuring all levels of seniority and required departments are reached: Department Briefings to radiologists, </a:t>
                      </a:r>
                      <a:r>
                        <a:rPr lang="en-GB" sz="1600" dirty="0"/>
                        <a:t>Roadshows for </a:t>
                      </a:r>
                      <a:r>
                        <a:rPr lang="en-GB" sz="1600" baseline="0" dirty="0"/>
                        <a:t>senior doctors, HO orientation for junior doctors, Desktop screensaver</a:t>
                      </a:r>
                    </a:p>
                  </a:txBody>
                  <a:tcPr/>
                </a:tc>
                <a:tc>
                  <a:txBody>
                    <a:bodyPr/>
                    <a:lstStyle/>
                    <a:p>
                      <a:r>
                        <a:rPr lang="en-GB" sz="1600" dirty="0"/>
                        <a:t>July</a:t>
                      </a:r>
                      <a:r>
                        <a:rPr lang="en-GB" sz="1600" baseline="0" dirty="0"/>
                        <a:t> – Aug 2025</a:t>
                      </a:r>
                      <a:endParaRPr lang="en-GB" sz="1600" dirty="0"/>
                    </a:p>
                  </a:txBody>
                  <a:tcPr/>
                </a:tc>
                <a:extLst>
                  <a:ext uri="{0D108BD9-81ED-4DB2-BD59-A6C34878D82A}">
                    <a16:rowId xmlns:a16="http://schemas.microsoft.com/office/drawing/2014/main" val="3815732059"/>
                  </a:ext>
                </a:extLst>
              </a:tr>
              <a:tr h="731933">
                <a:tc>
                  <a:txBody>
                    <a:bodyPr/>
                    <a:lstStyle/>
                    <a:p>
                      <a:r>
                        <a:rPr lang="en-GB" sz="1600" dirty="0"/>
                        <a:t>No standardised</a:t>
                      </a:r>
                      <a:r>
                        <a:rPr lang="en-GB" sz="1600" baseline="0" dirty="0"/>
                        <a:t> counselling template for junior doctors </a:t>
                      </a:r>
                      <a:endParaRPr lang="en-GB" sz="1600" dirty="0"/>
                    </a:p>
                  </a:txBody>
                  <a:tcPr/>
                </a:tc>
                <a:tc>
                  <a:txBody>
                    <a:bodyPr/>
                    <a:lstStyle/>
                    <a:p>
                      <a:r>
                        <a:rPr lang="en-GB" sz="1600" dirty="0"/>
                        <a:t>Intervention 3: Creation of EPIC</a:t>
                      </a:r>
                      <a:r>
                        <a:rPr lang="en-GB" sz="1600" baseline="0" dirty="0"/>
                        <a:t> </a:t>
                      </a:r>
                      <a:r>
                        <a:rPr lang="en-GB" sz="1600" baseline="0" dirty="0" err="1"/>
                        <a:t>Smartphrase</a:t>
                      </a:r>
                      <a:r>
                        <a:rPr lang="en-GB" sz="1600" baseline="0" dirty="0"/>
                        <a:t> for counselling patient for purpose of taking informed consent to perform contrast-enhanced MRI in CKD 4 patient</a:t>
                      </a:r>
                    </a:p>
                  </a:txBody>
                  <a:tcPr/>
                </a:tc>
                <a:tc>
                  <a:txBody>
                    <a:bodyPr/>
                    <a:lstStyle/>
                    <a:p>
                      <a:r>
                        <a:rPr lang="en-GB" sz="1600" dirty="0"/>
                        <a:t>July 2025</a:t>
                      </a:r>
                    </a:p>
                  </a:txBody>
                  <a:tcPr/>
                </a:tc>
                <a:extLst>
                  <a:ext uri="{0D108BD9-81ED-4DB2-BD59-A6C34878D82A}">
                    <a16:rowId xmlns:a16="http://schemas.microsoft.com/office/drawing/2014/main" val="949904076"/>
                  </a:ext>
                </a:extLst>
              </a:tr>
              <a:tr h="731933">
                <a:tc>
                  <a:txBody>
                    <a:bodyPr/>
                    <a:lstStyle/>
                    <a:p>
                      <a:r>
                        <a:rPr lang="en-GB" sz="1600" dirty="0"/>
                        <a:t>Radiologist roster for specific scan not available on Rooster </a:t>
                      </a:r>
                    </a:p>
                  </a:txBody>
                  <a:tcPr/>
                </a:tc>
                <a:tc>
                  <a:txBody>
                    <a:bodyPr/>
                    <a:lstStyle/>
                    <a:p>
                      <a:r>
                        <a:rPr lang="en-GB" sz="1600" baseline="0" dirty="0"/>
                        <a:t>Intervention 4: Duty Radiologist with whom clinicians may discuss appropriateness of MRI to be made available on Rooster, akin to other subspecialities’ consult rosters </a:t>
                      </a:r>
                    </a:p>
                  </a:txBody>
                  <a:tcPr/>
                </a:tc>
                <a:tc>
                  <a:txBody>
                    <a:bodyPr/>
                    <a:lstStyle/>
                    <a:p>
                      <a:r>
                        <a:rPr lang="en-GB" sz="1600" dirty="0"/>
                        <a:t>Aug 2025</a:t>
                      </a:r>
                    </a:p>
                  </a:txBody>
                  <a:tcPr/>
                </a:tc>
                <a:extLst>
                  <a:ext uri="{0D108BD9-81ED-4DB2-BD59-A6C34878D82A}">
                    <a16:rowId xmlns:a16="http://schemas.microsoft.com/office/drawing/2014/main" val="2665787716"/>
                  </a:ext>
                </a:extLst>
              </a:tr>
              <a:tr h="731933">
                <a:tc>
                  <a:txBody>
                    <a:bodyPr/>
                    <a:lstStyle/>
                    <a:p>
                      <a:r>
                        <a:rPr lang="en-GB" sz="1600" dirty="0"/>
                        <a:t>No reminders in EPIC on necessary steps </a:t>
                      </a:r>
                    </a:p>
                  </a:txBody>
                  <a:tcPr/>
                </a:tc>
                <a:tc>
                  <a:txBody>
                    <a:bodyPr/>
                    <a:lstStyle/>
                    <a:p>
                      <a:r>
                        <a:rPr lang="en-GB" sz="1600" dirty="0"/>
                        <a:t>Intervention 5: Amendment</a:t>
                      </a:r>
                      <a:r>
                        <a:rPr lang="en-GB" sz="1600" baseline="0" dirty="0"/>
                        <a:t> to radiology MRI order forms on EPIC, to include a reminder to doctors on possibility to perform CE-MRI in CKD4 patients, and steps needed to do so</a:t>
                      </a:r>
                      <a:endParaRPr lang="en-GB" sz="1600" dirty="0"/>
                    </a:p>
                  </a:txBody>
                  <a:tcPr/>
                </a:tc>
                <a:tc>
                  <a:txBody>
                    <a:bodyPr/>
                    <a:lstStyle/>
                    <a:p>
                      <a:r>
                        <a:rPr lang="en-GB" sz="1600" dirty="0"/>
                        <a:t>Oct 2025</a:t>
                      </a:r>
                    </a:p>
                  </a:txBody>
                  <a:tcPr/>
                </a:tc>
                <a:extLst>
                  <a:ext uri="{0D108BD9-81ED-4DB2-BD59-A6C34878D82A}">
                    <a16:rowId xmlns:a16="http://schemas.microsoft.com/office/drawing/2014/main" val="1069318067"/>
                  </a:ext>
                </a:extLst>
              </a:tr>
            </a:tbl>
          </a:graphicData>
        </a:graphic>
      </p:graphicFrame>
    </p:spTree>
    <p:extLst>
      <p:ext uri="{BB962C8B-B14F-4D97-AF65-F5344CB8AC3E}">
        <p14:creationId xmlns:p14="http://schemas.microsoft.com/office/powerpoint/2010/main" val="2627216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accel="50000" decel="5000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0-#ppt_w/2"/>
                                          </p:val>
                                        </p:tav>
                                        <p:tav tm="100000">
                                          <p:val>
                                            <p:strVal val="#ppt_x"/>
                                          </p:val>
                                        </p:tav>
                                      </p:tavLst>
                                    </p:anim>
                                    <p:anim calcmode="lin" valueType="num">
                                      <p:cBhvr additive="base">
                                        <p:cTn id="8" dur="10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accel="50000" decel="5000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1000" fill="hold"/>
                                        <p:tgtEl>
                                          <p:spTgt spid="6"/>
                                        </p:tgtEl>
                                        <p:attrNameLst>
                                          <p:attrName>ppt_x</p:attrName>
                                        </p:attrNameLst>
                                      </p:cBhvr>
                                      <p:tavLst>
                                        <p:tav tm="0">
                                          <p:val>
                                            <p:strVal val="1+#ppt_w/2"/>
                                          </p:val>
                                        </p:tav>
                                        <p:tav tm="100000">
                                          <p:val>
                                            <p:strVal val="#ppt_x"/>
                                          </p:val>
                                        </p:tav>
                                      </p:tavLst>
                                    </p:anim>
                                    <p:anim calcmode="lin" valueType="num">
                                      <p:cBhvr additive="base">
                                        <p:cTn id="12" dur="10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 name="Chart 19">
            <a:extLst>
              <a:ext uri="{FF2B5EF4-FFF2-40B4-BE49-F238E27FC236}">
                <a16:creationId xmlns:a16="http://schemas.microsoft.com/office/drawing/2014/main" id="{00000000-0008-0000-0000-000002000000}"/>
              </a:ext>
            </a:extLst>
          </p:cNvPr>
          <p:cNvGraphicFramePr>
            <a:graphicFrameLocks/>
          </p:cNvGraphicFramePr>
          <p:nvPr>
            <p:extLst>
              <p:ext uri="{D42A27DB-BD31-4B8C-83A1-F6EECF244321}">
                <p14:modId xmlns:p14="http://schemas.microsoft.com/office/powerpoint/2010/main" val="441984454"/>
              </p:ext>
            </p:extLst>
          </p:nvPr>
        </p:nvGraphicFramePr>
        <p:xfrm>
          <a:off x="-822201" y="1892155"/>
          <a:ext cx="12491287" cy="3280262"/>
        </p:xfrm>
        <a:graphic>
          <a:graphicData uri="http://schemas.openxmlformats.org/drawingml/2006/chart">
            <c:chart xmlns:c="http://schemas.openxmlformats.org/drawingml/2006/chart" xmlns:r="http://schemas.openxmlformats.org/officeDocument/2006/relationships" r:id="rId2"/>
          </a:graphicData>
        </a:graphic>
      </p:graphicFrame>
      <p:sp>
        <p:nvSpPr>
          <p:cNvPr id="47" name="TextBox 46"/>
          <p:cNvSpPr txBox="1"/>
          <p:nvPr/>
        </p:nvSpPr>
        <p:spPr>
          <a:xfrm>
            <a:off x="352697" y="64109"/>
            <a:ext cx="11839302" cy="710066"/>
          </a:xfrm>
          <a:prstGeom prst="rect">
            <a:avLst/>
          </a:prstGeom>
          <a:noFill/>
        </p:spPr>
        <p:txBody>
          <a:bodyPr wrap="square" rtlCol="0">
            <a:spAutoFit/>
          </a:bodyPr>
          <a:lstStyle/>
          <a:p>
            <a:pPr>
              <a:lnSpc>
                <a:spcPct val="150000"/>
              </a:lnSpc>
            </a:pPr>
            <a:r>
              <a:rPr lang="en-US" sz="3000" b="1" dirty="0">
                <a:solidFill>
                  <a:schemeClr val="tx1">
                    <a:lumMod val="85000"/>
                    <a:lumOff val="15000"/>
                  </a:schemeClr>
                </a:solidFill>
                <a:latin typeface="Arial Black" charset="0"/>
                <a:ea typeface="Arial Black" charset="0"/>
                <a:cs typeface="Arial Black" charset="0"/>
              </a:rPr>
              <a:t>E. Benefits / Results (</a:t>
            </a:r>
            <a:r>
              <a:rPr lang="en-US" sz="3000" b="1" dirty="0">
                <a:solidFill>
                  <a:srgbClr val="0070C0"/>
                </a:solidFill>
                <a:latin typeface="Arial Black" charset="0"/>
                <a:ea typeface="Arial Black" charset="0"/>
                <a:cs typeface="Arial Black" charset="0"/>
              </a:rPr>
              <a:t>C</a:t>
            </a:r>
            <a:r>
              <a:rPr lang="en-US" sz="3000" b="1" dirty="0">
                <a:solidFill>
                  <a:schemeClr val="tx1">
                    <a:lumMod val="85000"/>
                    <a:lumOff val="15000"/>
                  </a:schemeClr>
                </a:solidFill>
                <a:latin typeface="Arial Black" charset="0"/>
                <a:ea typeface="Arial Black" charset="0"/>
                <a:cs typeface="Arial Black" charset="0"/>
              </a:rPr>
              <a:t>HECK)</a:t>
            </a:r>
            <a:endParaRPr lang="en-US" sz="1600" dirty="0">
              <a:solidFill>
                <a:schemeClr val="tx1">
                  <a:lumMod val="85000"/>
                  <a:lumOff val="15000"/>
                </a:schemeClr>
              </a:solidFill>
              <a:latin typeface="Arial" charset="0"/>
              <a:ea typeface="Arial" charset="0"/>
              <a:cs typeface="Arial" charset="0"/>
            </a:endParaRPr>
          </a:p>
        </p:txBody>
      </p:sp>
      <p:cxnSp>
        <p:nvCxnSpPr>
          <p:cNvPr id="48" name="Straight Connector 47">
            <a:extLst>
              <a:ext uri="{C183D7F6-B498-43B3-948B-1728B52AA6E4}">
                <adec:decorative xmlns:adec="http://schemas.microsoft.com/office/drawing/2017/decorative" val="1"/>
              </a:ext>
            </a:extLst>
          </p:cNvPr>
          <p:cNvCxnSpPr/>
          <p:nvPr/>
        </p:nvCxnSpPr>
        <p:spPr>
          <a:xfrm>
            <a:off x="226423" y="746051"/>
            <a:ext cx="10027920" cy="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p:nvPr/>
        </p:nvCxnSpPr>
        <p:spPr>
          <a:xfrm>
            <a:off x="10836442" y="-521368"/>
            <a:ext cx="0" cy="33688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0" name="TextBox 29">
            <a:extLst>
              <a:ext uri="{FF2B5EF4-FFF2-40B4-BE49-F238E27FC236}">
                <a16:creationId xmlns:a16="http://schemas.microsoft.com/office/drawing/2014/main" id="{25D45BA7-52F1-4B56-B17A-87C703E50DE6}"/>
              </a:ext>
            </a:extLst>
          </p:cNvPr>
          <p:cNvSpPr txBox="1"/>
          <p:nvPr/>
        </p:nvSpPr>
        <p:spPr>
          <a:xfrm>
            <a:off x="1594300" y="4131043"/>
            <a:ext cx="145625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dirty="0">
                <a:solidFill>
                  <a:schemeClr val="accent2"/>
                </a:solidFill>
                <a:ea typeface="Calibri"/>
                <a:cs typeface="Calibri"/>
              </a:rPr>
              <a:t>Pre-intervention Median: 6.7</a:t>
            </a:r>
          </a:p>
        </p:txBody>
      </p:sp>
      <p:sp>
        <p:nvSpPr>
          <p:cNvPr id="31" name="TextBox 30">
            <a:extLst>
              <a:ext uri="{FF2B5EF4-FFF2-40B4-BE49-F238E27FC236}">
                <a16:creationId xmlns:a16="http://schemas.microsoft.com/office/drawing/2014/main" id="{BF7AEC6A-3C70-824F-0650-F7A53756C5C4}"/>
              </a:ext>
            </a:extLst>
          </p:cNvPr>
          <p:cNvSpPr txBox="1"/>
          <p:nvPr/>
        </p:nvSpPr>
        <p:spPr>
          <a:xfrm>
            <a:off x="10487515" y="4227228"/>
            <a:ext cx="1522193"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dirty="0">
                <a:solidFill>
                  <a:srgbClr val="FF0000"/>
                </a:solidFill>
                <a:ea typeface="Calibri"/>
                <a:cs typeface="Calibri"/>
              </a:rPr>
              <a:t>Post-intervention Median: 24</a:t>
            </a:r>
          </a:p>
        </p:txBody>
      </p:sp>
      <p:sp>
        <p:nvSpPr>
          <p:cNvPr id="32" name="TextBox 31">
            <a:extLst>
              <a:ext uri="{FF2B5EF4-FFF2-40B4-BE49-F238E27FC236}">
                <a16:creationId xmlns:a16="http://schemas.microsoft.com/office/drawing/2014/main" id="{7C28E980-FC3A-53D1-32A9-A86A9DE403E9}"/>
              </a:ext>
            </a:extLst>
          </p:cNvPr>
          <p:cNvSpPr txBox="1"/>
          <p:nvPr/>
        </p:nvSpPr>
        <p:spPr>
          <a:xfrm>
            <a:off x="4655889" y="5165512"/>
            <a:ext cx="1072922"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1200" b="1" dirty="0">
                <a:ea typeface="Calibri"/>
                <a:cs typeface="Calibri"/>
              </a:rPr>
              <a:t>New workflow published on intranet</a:t>
            </a:r>
            <a:endParaRPr lang="en-US" dirty="0">
              <a:ea typeface="Calibri"/>
              <a:cs typeface="Calibri"/>
            </a:endParaRPr>
          </a:p>
        </p:txBody>
      </p:sp>
      <p:sp>
        <p:nvSpPr>
          <p:cNvPr id="33" name="Arrow: Down 7">
            <a:extLst>
              <a:ext uri="{FF2B5EF4-FFF2-40B4-BE49-F238E27FC236}">
                <a16:creationId xmlns:a16="http://schemas.microsoft.com/office/drawing/2014/main" id="{54611543-9280-47D3-0176-9548CDA69934}"/>
              </a:ext>
            </a:extLst>
          </p:cNvPr>
          <p:cNvSpPr/>
          <p:nvPr/>
        </p:nvSpPr>
        <p:spPr>
          <a:xfrm flipV="1">
            <a:off x="5626715" y="5167036"/>
            <a:ext cx="166231" cy="758750"/>
          </a:xfrm>
          <a:prstGeom prst="down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TextBox 33">
            <a:extLst>
              <a:ext uri="{FF2B5EF4-FFF2-40B4-BE49-F238E27FC236}">
                <a16:creationId xmlns:a16="http://schemas.microsoft.com/office/drawing/2014/main" id="{10784F09-477C-49A3-CD4A-3A7FB010BF18}"/>
              </a:ext>
            </a:extLst>
          </p:cNvPr>
          <p:cNvSpPr txBox="1"/>
          <p:nvPr/>
        </p:nvSpPr>
        <p:spPr>
          <a:xfrm>
            <a:off x="6395375" y="5581010"/>
            <a:ext cx="1851638"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dirty="0">
                <a:ea typeface="Calibri"/>
                <a:cs typeface="Calibri"/>
              </a:rPr>
              <a:t>Outreach efforts to clinicians</a:t>
            </a:r>
            <a:endParaRPr lang="en-US" dirty="0">
              <a:ea typeface="Calibri"/>
              <a:cs typeface="Calibri"/>
            </a:endParaRPr>
          </a:p>
          <a:p>
            <a:r>
              <a:rPr lang="en-US" sz="1200" b="1" dirty="0">
                <a:ea typeface="Calibri"/>
                <a:cs typeface="Calibri"/>
              </a:rPr>
              <a:t>Counselling template uploaded to EPIC</a:t>
            </a:r>
          </a:p>
        </p:txBody>
      </p:sp>
      <p:sp>
        <p:nvSpPr>
          <p:cNvPr id="36" name="TextBox 35">
            <a:extLst>
              <a:ext uri="{FF2B5EF4-FFF2-40B4-BE49-F238E27FC236}">
                <a16:creationId xmlns:a16="http://schemas.microsoft.com/office/drawing/2014/main" id="{10784F09-477C-49A3-CD4A-3A7FB010BF18}"/>
              </a:ext>
            </a:extLst>
          </p:cNvPr>
          <p:cNvSpPr txBox="1"/>
          <p:nvPr/>
        </p:nvSpPr>
        <p:spPr>
          <a:xfrm>
            <a:off x="7193294" y="3169345"/>
            <a:ext cx="1137072"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dirty="0">
                <a:ea typeface="Calibri"/>
                <a:cs typeface="Calibri"/>
              </a:rPr>
              <a:t>Screensaver uploaded</a:t>
            </a:r>
          </a:p>
        </p:txBody>
      </p:sp>
      <p:sp>
        <p:nvSpPr>
          <p:cNvPr id="37" name="TextBox 36">
            <a:extLst>
              <a:ext uri="{FF2B5EF4-FFF2-40B4-BE49-F238E27FC236}">
                <a16:creationId xmlns:a16="http://schemas.microsoft.com/office/drawing/2014/main" id="{10784F09-477C-49A3-CD4A-3A7FB010BF18}"/>
              </a:ext>
            </a:extLst>
          </p:cNvPr>
          <p:cNvSpPr txBox="1"/>
          <p:nvPr/>
        </p:nvSpPr>
        <p:spPr>
          <a:xfrm>
            <a:off x="8175190" y="5553998"/>
            <a:ext cx="160414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dirty="0">
                <a:ea typeface="Calibri"/>
                <a:cs typeface="Calibri"/>
              </a:rPr>
              <a:t>Consultant roster published on Rooster</a:t>
            </a:r>
          </a:p>
        </p:txBody>
      </p:sp>
      <p:sp>
        <p:nvSpPr>
          <p:cNvPr id="38" name="TextBox 37">
            <a:extLst>
              <a:ext uri="{FF2B5EF4-FFF2-40B4-BE49-F238E27FC236}">
                <a16:creationId xmlns:a16="http://schemas.microsoft.com/office/drawing/2014/main" id="{10784F09-477C-49A3-CD4A-3A7FB010BF18}"/>
              </a:ext>
            </a:extLst>
          </p:cNvPr>
          <p:cNvSpPr txBox="1"/>
          <p:nvPr/>
        </p:nvSpPr>
        <p:spPr>
          <a:xfrm>
            <a:off x="9052556" y="3132971"/>
            <a:ext cx="1765762"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dirty="0">
                <a:ea typeface="Calibri"/>
                <a:cs typeface="Calibri"/>
              </a:rPr>
              <a:t>Intranet hyperlink added to EPIC MRI order forms</a:t>
            </a:r>
          </a:p>
        </p:txBody>
      </p:sp>
      <p:sp>
        <p:nvSpPr>
          <p:cNvPr id="39" name="Arrow: Down 7">
            <a:extLst>
              <a:ext uri="{FF2B5EF4-FFF2-40B4-BE49-F238E27FC236}">
                <a16:creationId xmlns:a16="http://schemas.microsoft.com/office/drawing/2014/main" id="{54611543-9280-47D3-0176-9548CDA69934}"/>
              </a:ext>
            </a:extLst>
          </p:cNvPr>
          <p:cNvSpPr/>
          <p:nvPr/>
        </p:nvSpPr>
        <p:spPr>
          <a:xfrm flipV="1">
            <a:off x="6508852" y="5165511"/>
            <a:ext cx="167416" cy="409954"/>
          </a:xfrm>
          <a:prstGeom prst="down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Arrow: Down 7">
            <a:extLst>
              <a:ext uri="{FF2B5EF4-FFF2-40B4-BE49-F238E27FC236}">
                <a16:creationId xmlns:a16="http://schemas.microsoft.com/office/drawing/2014/main" id="{54611543-9280-47D3-0176-9548CDA69934}"/>
              </a:ext>
            </a:extLst>
          </p:cNvPr>
          <p:cNvSpPr/>
          <p:nvPr/>
        </p:nvSpPr>
        <p:spPr>
          <a:xfrm flipV="1">
            <a:off x="8282047" y="5165511"/>
            <a:ext cx="167416" cy="441559"/>
          </a:xfrm>
          <a:prstGeom prst="down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1" name="Straight Connector 40"/>
          <p:cNvCxnSpPr/>
          <p:nvPr/>
        </p:nvCxnSpPr>
        <p:spPr>
          <a:xfrm>
            <a:off x="843377" y="4166884"/>
            <a:ext cx="10711314" cy="14252"/>
          </a:xfrm>
          <a:prstGeom prst="line">
            <a:avLst/>
          </a:prstGeom>
          <a:ln w="3810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42" name="Arrow: Down 7">
            <a:extLst>
              <a:ext uri="{FF2B5EF4-FFF2-40B4-BE49-F238E27FC236}">
                <a16:creationId xmlns:a16="http://schemas.microsoft.com/office/drawing/2014/main" id="{54611543-9280-47D3-0176-9548CDA69934}"/>
              </a:ext>
            </a:extLst>
          </p:cNvPr>
          <p:cNvSpPr/>
          <p:nvPr/>
        </p:nvSpPr>
        <p:spPr>
          <a:xfrm>
            <a:off x="9164240" y="3594636"/>
            <a:ext cx="175335" cy="509065"/>
          </a:xfrm>
          <a:prstGeom prst="down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Arrow: Down 7">
            <a:extLst>
              <a:ext uri="{FF2B5EF4-FFF2-40B4-BE49-F238E27FC236}">
                <a16:creationId xmlns:a16="http://schemas.microsoft.com/office/drawing/2014/main" id="{54611543-9280-47D3-0176-9548CDA69934}"/>
              </a:ext>
            </a:extLst>
          </p:cNvPr>
          <p:cNvSpPr/>
          <p:nvPr/>
        </p:nvSpPr>
        <p:spPr>
          <a:xfrm>
            <a:off x="7407436" y="3594636"/>
            <a:ext cx="175335" cy="509065"/>
          </a:xfrm>
          <a:prstGeom prst="down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 name="TextBox 49">
            <a:extLst>
              <a:ext uri="{FF2B5EF4-FFF2-40B4-BE49-F238E27FC236}">
                <a16:creationId xmlns:a16="http://schemas.microsoft.com/office/drawing/2014/main" id="{9B06E2C5-5A6D-77A7-7F13-42F9AA6CD3C9}"/>
              </a:ext>
            </a:extLst>
          </p:cNvPr>
          <p:cNvSpPr txBox="1"/>
          <p:nvPr/>
        </p:nvSpPr>
        <p:spPr>
          <a:xfrm>
            <a:off x="1251763" y="1207717"/>
            <a:ext cx="9894541"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baseline="0" dirty="0">
                <a:solidFill>
                  <a:srgbClr val="00B0F0"/>
                </a:solidFill>
                <a:latin typeface="Calibri"/>
              </a:rPr>
              <a:t>Proportion of Clinically Appropriate Contrast-enhanced MR Studies in Patients with </a:t>
            </a:r>
            <a:r>
              <a:rPr lang="en-US" sz="2400" b="1" baseline="0" dirty="0" err="1">
                <a:solidFill>
                  <a:srgbClr val="00B0F0"/>
                </a:solidFill>
                <a:latin typeface="Calibri"/>
              </a:rPr>
              <a:t>eGFR</a:t>
            </a:r>
            <a:r>
              <a:rPr lang="en-US" sz="2400" b="1" baseline="0" dirty="0">
                <a:solidFill>
                  <a:srgbClr val="00B0F0"/>
                </a:solidFill>
                <a:latin typeface="Calibri"/>
              </a:rPr>
              <a:t> 15-30mL/min/1.73m²</a:t>
            </a:r>
            <a:endParaRPr lang="en-US" sz="2200" b="1" dirty="0">
              <a:solidFill>
                <a:schemeClr val="accent2"/>
              </a:solidFill>
            </a:endParaRPr>
          </a:p>
        </p:txBody>
      </p:sp>
      <p:sp>
        <p:nvSpPr>
          <p:cNvPr id="21" name="TextBox 20">
            <a:extLst>
              <a:ext uri="{FF2B5EF4-FFF2-40B4-BE49-F238E27FC236}">
                <a16:creationId xmlns:a16="http://schemas.microsoft.com/office/drawing/2014/main" id="{25D45BA7-52F1-4B56-B17A-87C703E50DE6}"/>
              </a:ext>
            </a:extLst>
          </p:cNvPr>
          <p:cNvSpPr txBox="1"/>
          <p:nvPr/>
        </p:nvSpPr>
        <p:spPr>
          <a:xfrm>
            <a:off x="751780" y="3907379"/>
            <a:ext cx="1456250"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dirty="0">
                <a:solidFill>
                  <a:schemeClr val="accent1"/>
                </a:solidFill>
                <a:ea typeface="Calibri"/>
                <a:cs typeface="Calibri"/>
              </a:rPr>
              <a:t>Target</a:t>
            </a:r>
          </a:p>
        </p:txBody>
      </p:sp>
    </p:spTree>
    <p:extLst>
      <p:ext uri="{BB962C8B-B14F-4D97-AF65-F5344CB8AC3E}">
        <p14:creationId xmlns:p14="http://schemas.microsoft.com/office/powerpoint/2010/main" val="1825050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accel="50000" decel="50000" fill="hold" grpId="0" nodeType="afterEffect">
                                  <p:stCondLst>
                                    <p:cond delay="0"/>
                                  </p:stCondLst>
                                  <p:childTnLst>
                                    <p:set>
                                      <p:cBhvr>
                                        <p:cTn id="6" dur="1" fill="hold">
                                          <p:stCondLst>
                                            <p:cond delay="0"/>
                                          </p:stCondLst>
                                        </p:cTn>
                                        <p:tgtEl>
                                          <p:spTgt spid="47"/>
                                        </p:tgtEl>
                                        <p:attrNameLst>
                                          <p:attrName>style.visibility</p:attrName>
                                        </p:attrNameLst>
                                      </p:cBhvr>
                                      <p:to>
                                        <p:strVal val="visible"/>
                                      </p:to>
                                    </p:set>
                                    <p:anim calcmode="lin" valueType="num">
                                      <p:cBhvr additive="base">
                                        <p:cTn id="7" dur="1000" fill="hold"/>
                                        <p:tgtEl>
                                          <p:spTgt spid="47"/>
                                        </p:tgtEl>
                                        <p:attrNameLst>
                                          <p:attrName>ppt_x</p:attrName>
                                        </p:attrNameLst>
                                      </p:cBhvr>
                                      <p:tavLst>
                                        <p:tav tm="0">
                                          <p:val>
                                            <p:strVal val="0-#ppt_w/2"/>
                                          </p:val>
                                        </p:tav>
                                        <p:tav tm="100000">
                                          <p:val>
                                            <p:strVal val="#ppt_x"/>
                                          </p:val>
                                        </p:tav>
                                      </p:tavLst>
                                    </p:anim>
                                    <p:anim calcmode="lin" valueType="num">
                                      <p:cBhvr additive="base">
                                        <p:cTn id="8" dur="1000" fill="hold"/>
                                        <p:tgtEl>
                                          <p:spTgt spid="47"/>
                                        </p:tgtEl>
                                        <p:attrNameLst>
                                          <p:attrName>ppt_y</p:attrName>
                                        </p:attrNameLst>
                                      </p:cBhvr>
                                      <p:tavLst>
                                        <p:tav tm="0">
                                          <p:val>
                                            <p:strVal val="#ppt_y"/>
                                          </p:val>
                                        </p:tav>
                                        <p:tav tm="100000">
                                          <p:val>
                                            <p:strVal val="#ppt_y"/>
                                          </p:val>
                                        </p:tav>
                                      </p:tavLst>
                                    </p:anim>
                                  </p:childTnLst>
                                </p:cTn>
                              </p:par>
                              <p:par>
                                <p:cTn id="9" presetID="2" presetClass="entr" presetSubtype="2" accel="50000" decel="50000" fill="hold" nodeType="withEffect">
                                  <p:stCondLst>
                                    <p:cond delay="0"/>
                                  </p:stCondLst>
                                  <p:childTnLst>
                                    <p:set>
                                      <p:cBhvr>
                                        <p:cTn id="10" dur="1" fill="hold">
                                          <p:stCondLst>
                                            <p:cond delay="0"/>
                                          </p:stCondLst>
                                        </p:cTn>
                                        <p:tgtEl>
                                          <p:spTgt spid="48"/>
                                        </p:tgtEl>
                                        <p:attrNameLst>
                                          <p:attrName>style.visibility</p:attrName>
                                        </p:attrNameLst>
                                      </p:cBhvr>
                                      <p:to>
                                        <p:strVal val="visible"/>
                                      </p:to>
                                    </p:set>
                                    <p:anim calcmode="lin" valueType="num">
                                      <p:cBhvr additive="base">
                                        <p:cTn id="11" dur="1000" fill="hold"/>
                                        <p:tgtEl>
                                          <p:spTgt spid="48"/>
                                        </p:tgtEl>
                                        <p:attrNameLst>
                                          <p:attrName>ppt_x</p:attrName>
                                        </p:attrNameLst>
                                      </p:cBhvr>
                                      <p:tavLst>
                                        <p:tav tm="0">
                                          <p:val>
                                            <p:strVal val="1+#ppt_w/2"/>
                                          </p:val>
                                        </p:tav>
                                        <p:tav tm="100000">
                                          <p:val>
                                            <p:strVal val="#ppt_x"/>
                                          </p:val>
                                        </p:tav>
                                      </p:tavLst>
                                    </p:anim>
                                    <p:anim calcmode="lin" valueType="num">
                                      <p:cBhvr additive="base">
                                        <p:cTn id="12" dur="1000" fill="hold"/>
                                        <p:tgtEl>
                                          <p:spTgt spid="4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46"/>
          <p:cNvSpPr txBox="1"/>
          <p:nvPr/>
        </p:nvSpPr>
        <p:spPr>
          <a:xfrm>
            <a:off x="352697" y="64109"/>
            <a:ext cx="11839302" cy="710066"/>
          </a:xfrm>
          <a:prstGeom prst="rect">
            <a:avLst/>
          </a:prstGeom>
          <a:noFill/>
        </p:spPr>
        <p:txBody>
          <a:bodyPr wrap="square" rtlCol="0">
            <a:spAutoFit/>
          </a:bodyPr>
          <a:lstStyle/>
          <a:p>
            <a:pPr>
              <a:lnSpc>
                <a:spcPct val="150000"/>
              </a:lnSpc>
            </a:pPr>
            <a:r>
              <a:rPr lang="en-US" sz="3000" b="1" dirty="0">
                <a:solidFill>
                  <a:schemeClr val="tx1">
                    <a:lumMod val="85000"/>
                    <a:lumOff val="15000"/>
                  </a:schemeClr>
                </a:solidFill>
                <a:latin typeface="Arial Black" charset="0"/>
                <a:ea typeface="Arial Black" charset="0"/>
                <a:cs typeface="Arial Black" charset="0"/>
              </a:rPr>
              <a:t>E. Benefits / Results (</a:t>
            </a:r>
            <a:r>
              <a:rPr lang="en-US" sz="3000" b="1" dirty="0">
                <a:solidFill>
                  <a:srgbClr val="0070C0"/>
                </a:solidFill>
                <a:latin typeface="Arial Black" charset="0"/>
                <a:ea typeface="Arial Black" charset="0"/>
                <a:cs typeface="Arial Black" charset="0"/>
              </a:rPr>
              <a:t>C</a:t>
            </a:r>
            <a:r>
              <a:rPr lang="en-US" sz="3000" b="1" dirty="0">
                <a:solidFill>
                  <a:schemeClr val="tx1">
                    <a:lumMod val="85000"/>
                    <a:lumOff val="15000"/>
                  </a:schemeClr>
                </a:solidFill>
                <a:latin typeface="Arial Black" charset="0"/>
                <a:ea typeface="Arial Black" charset="0"/>
                <a:cs typeface="Arial Black" charset="0"/>
              </a:rPr>
              <a:t>HECK)</a:t>
            </a:r>
            <a:endParaRPr lang="en-US" sz="1600" dirty="0">
              <a:solidFill>
                <a:schemeClr val="tx1">
                  <a:lumMod val="85000"/>
                  <a:lumOff val="15000"/>
                </a:schemeClr>
              </a:solidFill>
              <a:latin typeface="Arial" charset="0"/>
              <a:ea typeface="Arial" charset="0"/>
              <a:cs typeface="Arial" charset="0"/>
            </a:endParaRPr>
          </a:p>
        </p:txBody>
      </p:sp>
      <p:cxnSp>
        <p:nvCxnSpPr>
          <p:cNvPr id="48" name="Straight Connector 47">
            <a:extLst>
              <a:ext uri="{C183D7F6-B498-43B3-948B-1728B52AA6E4}">
                <adec:decorative xmlns:adec="http://schemas.microsoft.com/office/drawing/2017/decorative" val="1"/>
              </a:ext>
            </a:extLst>
          </p:cNvPr>
          <p:cNvCxnSpPr/>
          <p:nvPr/>
        </p:nvCxnSpPr>
        <p:spPr>
          <a:xfrm>
            <a:off x="226423" y="746051"/>
            <a:ext cx="10027920" cy="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p:nvPr/>
        </p:nvCxnSpPr>
        <p:spPr>
          <a:xfrm>
            <a:off x="10836442" y="-521368"/>
            <a:ext cx="0" cy="33688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19" name="Content Placeholder 3">
            <a:extLst>
              <a:ext uri="{FF2B5EF4-FFF2-40B4-BE49-F238E27FC236}">
                <a16:creationId xmlns:a16="http://schemas.microsoft.com/office/drawing/2014/main" id="{EDF79A19-337C-0385-9337-B8259F93CE04}"/>
              </a:ext>
            </a:extLst>
          </p:cNvPr>
          <p:cNvGraphicFramePr>
            <a:graphicFrameLocks/>
          </p:cNvGraphicFramePr>
          <p:nvPr>
            <p:extLst>
              <p:ext uri="{D42A27DB-BD31-4B8C-83A1-F6EECF244321}">
                <p14:modId xmlns:p14="http://schemas.microsoft.com/office/powerpoint/2010/main" val="723208129"/>
              </p:ext>
            </p:extLst>
          </p:nvPr>
        </p:nvGraphicFramePr>
        <p:xfrm>
          <a:off x="1014548" y="1427994"/>
          <a:ext cx="10515600" cy="4120896"/>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2337889897"/>
                    </a:ext>
                  </a:extLst>
                </a:gridCol>
                <a:gridCol w="5257800">
                  <a:extLst>
                    <a:ext uri="{9D8B030D-6E8A-4147-A177-3AD203B41FA5}">
                      <a16:colId xmlns:a16="http://schemas.microsoft.com/office/drawing/2014/main" val="2266940814"/>
                    </a:ext>
                  </a:extLst>
                </a:gridCol>
              </a:tblGrid>
              <a:tr h="456320">
                <a:tc>
                  <a:txBody>
                    <a:bodyPr/>
                    <a:lstStyle/>
                    <a:p>
                      <a:r>
                        <a:rPr lang="en-US" sz="1400" b="1" u="sng" dirty="0">
                          <a:solidFill>
                            <a:srgbClr val="002060"/>
                          </a:solidFill>
                        </a:rPr>
                        <a:t>Benefits to Patients</a:t>
                      </a:r>
                    </a:p>
                    <a:p>
                      <a:pPr marL="342900" lvl="0" indent="-342900">
                        <a:buAutoNum type="arabicPeriod"/>
                      </a:pPr>
                      <a:r>
                        <a:rPr lang="en-US" sz="1400" b="0" u="none" dirty="0">
                          <a:solidFill>
                            <a:srgbClr val="002060"/>
                          </a:solidFill>
                        </a:rPr>
                        <a:t>Increased patient satisfaction </a:t>
                      </a:r>
                    </a:p>
                    <a:p>
                      <a:pPr marL="342900" lvl="0" indent="-342900">
                        <a:buAutoNum type="arabicPeriod"/>
                      </a:pPr>
                      <a:r>
                        <a:rPr lang="en-US" sz="1400" b="0" u="none" dirty="0">
                          <a:solidFill>
                            <a:srgbClr val="002060"/>
                          </a:solidFill>
                        </a:rPr>
                        <a:t>Reduced number of re-visits to the hospital </a:t>
                      </a:r>
                    </a:p>
                  </a:txBody>
                  <a:tcPr>
                    <a:noFill/>
                  </a:tcPr>
                </a:tc>
                <a:tc>
                  <a:txBody>
                    <a:bodyPr/>
                    <a:lstStyle/>
                    <a:p>
                      <a:pPr lvl="0">
                        <a:buNone/>
                      </a:pPr>
                      <a:r>
                        <a:rPr lang="en-US" sz="1400" b="1" u="sng" dirty="0">
                          <a:solidFill>
                            <a:srgbClr val="002060"/>
                          </a:solidFill>
                        </a:rPr>
                        <a:t>Benefits to Clinicians</a:t>
                      </a:r>
                    </a:p>
                    <a:p>
                      <a:pPr marL="342900" lvl="0" indent="-342900">
                        <a:buAutoNum type="arabicPeriod"/>
                      </a:pPr>
                      <a:r>
                        <a:rPr lang="en-US" sz="1400" b="0" u="none" dirty="0">
                          <a:solidFill>
                            <a:srgbClr val="002060"/>
                          </a:solidFill>
                        </a:rPr>
                        <a:t>Increased diagnostic confidence and clinical decision making</a:t>
                      </a:r>
                    </a:p>
                    <a:p>
                      <a:pPr marL="342900" lvl="0" indent="-342900">
                        <a:buAutoNum type="arabicPeriod"/>
                      </a:pPr>
                      <a:endParaRPr lang="en-US" sz="1400" b="0" u="none" dirty="0">
                        <a:solidFill>
                          <a:srgbClr val="002060"/>
                        </a:solidFill>
                      </a:endParaRPr>
                    </a:p>
                    <a:p>
                      <a:pPr marL="342900" lvl="0" indent="-342900">
                        <a:buAutoNum type="arabicPeriod"/>
                      </a:pPr>
                      <a:endParaRPr lang="en-US" sz="1400" b="0" u="none" dirty="0">
                        <a:solidFill>
                          <a:srgbClr val="002060"/>
                        </a:solidFill>
                      </a:endParaRPr>
                    </a:p>
                  </a:txBody>
                  <a:tcPr>
                    <a:noFill/>
                  </a:tcPr>
                </a:tc>
                <a:extLst>
                  <a:ext uri="{0D108BD9-81ED-4DB2-BD59-A6C34878D82A}">
                    <a16:rowId xmlns:a16="http://schemas.microsoft.com/office/drawing/2014/main" val="4140374532"/>
                  </a:ext>
                </a:extLst>
              </a:tr>
              <a:tr h="805961">
                <a:tc gridSpan="2">
                  <a:txBody>
                    <a:bodyPr/>
                    <a:lstStyle/>
                    <a:p>
                      <a:pPr lvl="0">
                        <a:buNone/>
                      </a:pPr>
                      <a:r>
                        <a:rPr lang="en-US" sz="1400" b="1" i="0" u="sng" strike="noStrike" noProof="0" dirty="0">
                          <a:solidFill>
                            <a:srgbClr val="002060"/>
                          </a:solidFill>
                          <a:latin typeface="Calibri"/>
                        </a:rPr>
                        <a:t>Benefits to Organization</a:t>
                      </a:r>
                      <a:endParaRPr lang="en-US" sz="1400" b="1" i="0" u="none" strike="noStrike" noProof="0" dirty="0">
                        <a:solidFill>
                          <a:srgbClr val="FFFFFF"/>
                        </a:solidFill>
                        <a:latin typeface="Calibri"/>
                      </a:endParaRPr>
                    </a:p>
                    <a:p>
                      <a:pPr marL="457200" marR="0" lvl="0" indent="-457200" algn="just">
                        <a:lnSpc>
                          <a:spcPct val="90000"/>
                        </a:lnSpc>
                        <a:spcBef>
                          <a:spcPts val="1000"/>
                        </a:spcBef>
                        <a:spcAft>
                          <a:spcPts val="0"/>
                        </a:spcAft>
                        <a:buClr>
                          <a:srgbClr val="002F6B"/>
                        </a:buClr>
                        <a:buAutoNum type="arabicPeriod"/>
                      </a:pPr>
                      <a:r>
                        <a:rPr lang="en-US" sz="1400" b="0" i="0" u="none" strike="noStrike" noProof="0" dirty="0">
                          <a:solidFill>
                            <a:schemeClr val="tx1">
                              <a:lumMod val="50000"/>
                            </a:schemeClr>
                          </a:solidFill>
                          <a:latin typeface="Calibri"/>
                        </a:rPr>
                        <a:t>Reduced Resource Utilization (hospital beds, scan slots, outpatient clinic slots)</a:t>
                      </a:r>
                      <a:endParaRPr lang="en-US" sz="1400" b="1" i="0" u="none" strike="noStrike" noProof="0" dirty="0">
                        <a:solidFill>
                          <a:schemeClr val="tx1">
                            <a:lumMod val="50000"/>
                          </a:schemeClr>
                        </a:solidFill>
                        <a:latin typeface="Calibri"/>
                      </a:endParaRPr>
                    </a:p>
                    <a:p>
                      <a:pPr marL="457200" marR="0" lvl="0" indent="-457200" algn="just">
                        <a:lnSpc>
                          <a:spcPct val="90000"/>
                        </a:lnSpc>
                        <a:spcBef>
                          <a:spcPts val="1000"/>
                        </a:spcBef>
                        <a:spcAft>
                          <a:spcPts val="0"/>
                        </a:spcAft>
                        <a:buClr>
                          <a:srgbClr val="002F6B"/>
                        </a:buClr>
                        <a:buAutoNum type="arabicPeriod"/>
                      </a:pPr>
                      <a:r>
                        <a:rPr lang="en-US" sz="1400" b="0" i="0" u="none" strike="noStrike" noProof="0" dirty="0">
                          <a:solidFill>
                            <a:schemeClr val="tx1">
                              <a:lumMod val="50000"/>
                            </a:schemeClr>
                          </a:solidFill>
                          <a:latin typeface="Calibri"/>
                        </a:rPr>
                        <a:t>Cost savings</a:t>
                      </a:r>
                    </a:p>
                    <a:p>
                      <a:pPr marL="914400" marR="0" lvl="1" indent="-457200" algn="just">
                        <a:lnSpc>
                          <a:spcPct val="90000"/>
                        </a:lnSpc>
                        <a:spcBef>
                          <a:spcPts val="1000"/>
                        </a:spcBef>
                        <a:spcAft>
                          <a:spcPts val="0"/>
                        </a:spcAft>
                        <a:buClr>
                          <a:srgbClr val="002F6B"/>
                        </a:buClr>
                        <a:buFont typeface="+mj-lt"/>
                        <a:buAutoNum type="alphaUcPeriod"/>
                      </a:pPr>
                      <a:r>
                        <a:rPr lang="en-US" sz="1400" b="0" i="0" u="none" strike="noStrike" noProof="0" dirty="0">
                          <a:solidFill>
                            <a:schemeClr val="tx1">
                              <a:lumMod val="50000"/>
                            </a:schemeClr>
                          </a:solidFill>
                          <a:latin typeface="Calibri"/>
                        </a:rPr>
                        <a:t>Scan reaches diagnosis,</a:t>
                      </a:r>
                      <a:r>
                        <a:rPr lang="en-US" sz="1400" b="0" i="0" u="none" strike="noStrike" baseline="0" noProof="0" dirty="0">
                          <a:solidFill>
                            <a:schemeClr val="tx1">
                              <a:lumMod val="50000"/>
                            </a:schemeClr>
                          </a:solidFill>
                          <a:latin typeface="Calibri"/>
                        </a:rPr>
                        <a:t> reduced frequency of follow-up or no follow-up required: $70.8 saved per patient per month</a:t>
                      </a:r>
                    </a:p>
                    <a:p>
                      <a:pPr marL="914400" marR="0" lvl="1" indent="-457200" algn="just">
                        <a:lnSpc>
                          <a:spcPct val="90000"/>
                        </a:lnSpc>
                        <a:spcBef>
                          <a:spcPts val="1000"/>
                        </a:spcBef>
                        <a:spcAft>
                          <a:spcPts val="0"/>
                        </a:spcAft>
                        <a:buClr>
                          <a:srgbClr val="002F6B"/>
                        </a:buClr>
                        <a:buFont typeface="+mj-lt"/>
                        <a:buAutoNum type="alphaUcPeriod"/>
                      </a:pPr>
                      <a:r>
                        <a:rPr lang="en-US" sz="1400" b="0" i="0" u="none" strike="noStrike" baseline="0" noProof="0" dirty="0">
                          <a:solidFill>
                            <a:schemeClr val="tx1">
                              <a:lumMod val="50000"/>
                            </a:schemeClr>
                          </a:solidFill>
                          <a:latin typeface="Calibri"/>
                        </a:rPr>
                        <a:t>Further investigation with alternative modality avoided: $100-$133.3 saved per patient per month</a:t>
                      </a:r>
                      <a:endParaRPr lang="en-US" sz="1400" b="0" i="0" u="none" strike="noStrike" noProof="0" dirty="0">
                        <a:solidFill>
                          <a:schemeClr val="tx1">
                            <a:lumMod val="50000"/>
                          </a:schemeClr>
                        </a:solidFill>
                        <a:latin typeface="Calibri"/>
                      </a:endParaRPr>
                    </a:p>
                    <a:p>
                      <a:pPr marL="914400" marR="0" lvl="1" indent="-457200" algn="just">
                        <a:lnSpc>
                          <a:spcPct val="90000"/>
                        </a:lnSpc>
                        <a:spcBef>
                          <a:spcPts val="1000"/>
                        </a:spcBef>
                        <a:spcAft>
                          <a:spcPts val="0"/>
                        </a:spcAft>
                        <a:buClr>
                          <a:srgbClr val="002F6B"/>
                        </a:buClr>
                        <a:buFont typeface="Arial" panose="020B0604020202020204" pitchFamily="34" charset="0"/>
                        <a:buChar char="•"/>
                      </a:pPr>
                      <a:r>
                        <a:rPr lang="en-US" sz="1400" b="0" i="1" u="none" strike="noStrike" noProof="0" dirty="0">
                          <a:solidFill>
                            <a:schemeClr val="tx1">
                              <a:lumMod val="50000"/>
                            </a:schemeClr>
                          </a:solidFill>
                          <a:latin typeface="Calibri"/>
                        </a:rPr>
                        <a:t>All costs as subsidized</a:t>
                      </a:r>
                      <a:r>
                        <a:rPr lang="en-US" sz="1400" b="0" i="1" u="none" strike="noStrike" baseline="0" noProof="0" dirty="0">
                          <a:solidFill>
                            <a:schemeClr val="tx1">
                              <a:lumMod val="50000"/>
                            </a:schemeClr>
                          </a:solidFill>
                          <a:latin typeface="Calibri"/>
                        </a:rPr>
                        <a:t> patient</a:t>
                      </a:r>
                      <a:endParaRPr lang="en-US" sz="1400" b="0" i="1" u="none" strike="noStrike" noProof="0" dirty="0">
                        <a:solidFill>
                          <a:schemeClr val="tx1">
                            <a:lumMod val="50000"/>
                          </a:schemeClr>
                        </a:solidFill>
                        <a:latin typeface="Calibri"/>
                      </a:endParaRPr>
                    </a:p>
                    <a:p>
                      <a:pPr marL="1371600" marR="0" lvl="2" indent="-457200" algn="just">
                        <a:lnSpc>
                          <a:spcPct val="90000"/>
                        </a:lnSpc>
                        <a:spcBef>
                          <a:spcPts val="1000"/>
                        </a:spcBef>
                        <a:spcAft>
                          <a:spcPts val="0"/>
                        </a:spcAft>
                        <a:buClr>
                          <a:srgbClr val="002F6B"/>
                        </a:buClr>
                        <a:buFont typeface="Arial" panose="020B0604020202020204" pitchFamily="34" charset="0"/>
                        <a:buChar char="•"/>
                      </a:pPr>
                      <a:r>
                        <a:rPr lang="en-US" sz="1400" b="0" i="1" u="none" strike="noStrike" noProof="0" dirty="0">
                          <a:solidFill>
                            <a:schemeClr val="tx1">
                              <a:lumMod val="50000"/>
                            </a:schemeClr>
                          </a:solidFill>
                          <a:latin typeface="Calibri"/>
                        </a:rPr>
                        <a:t>Outpatient MRI</a:t>
                      </a:r>
                      <a:r>
                        <a:rPr lang="en-US" sz="1400" b="0" i="1" u="none" strike="noStrike" baseline="0" noProof="0" dirty="0">
                          <a:solidFill>
                            <a:schemeClr val="tx1">
                              <a:lumMod val="50000"/>
                            </a:schemeClr>
                          </a:solidFill>
                          <a:latin typeface="Calibri"/>
                        </a:rPr>
                        <a:t>: $800</a:t>
                      </a:r>
                    </a:p>
                    <a:p>
                      <a:pPr marL="1371600" marR="0" lvl="2" indent="-457200" algn="just">
                        <a:lnSpc>
                          <a:spcPct val="90000"/>
                        </a:lnSpc>
                        <a:spcBef>
                          <a:spcPts val="1000"/>
                        </a:spcBef>
                        <a:spcAft>
                          <a:spcPts val="0"/>
                        </a:spcAft>
                        <a:buClr>
                          <a:srgbClr val="002F6B"/>
                        </a:buClr>
                        <a:buFont typeface="Arial" panose="020B0604020202020204" pitchFamily="34" charset="0"/>
                        <a:buChar char="•"/>
                      </a:pPr>
                      <a:r>
                        <a:rPr lang="en-US" sz="1400" b="0" i="1" u="none" strike="noStrike" baseline="0" noProof="0" dirty="0">
                          <a:solidFill>
                            <a:schemeClr val="tx1">
                              <a:lumMod val="50000"/>
                            </a:schemeClr>
                          </a:solidFill>
                          <a:latin typeface="Calibri"/>
                        </a:rPr>
                        <a:t>Percutaneous biopsy under IR: $400; </a:t>
                      </a:r>
                      <a:r>
                        <a:rPr lang="en-US" sz="1400" b="0" i="1" u="none" strike="noStrike" baseline="0" noProof="0" dirty="0">
                          <a:solidFill>
                            <a:schemeClr val="tx1">
                              <a:lumMod val="50000"/>
                            </a:schemeClr>
                          </a:solidFill>
                          <a:latin typeface="+mn-lt"/>
                        </a:rPr>
                        <a:t>a</a:t>
                      </a:r>
                      <a:r>
                        <a:rPr lang="en-US" sz="1400" b="0" i="1" u="none" strike="noStrike" noProof="0" dirty="0">
                          <a:solidFill>
                            <a:schemeClr val="tx1">
                              <a:lumMod val="50000"/>
                            </a:schemeClr>
                          </a:solidFill>
                          <a:latin typeface="+mn-lt"/>
                        </a:rPr>
                        <a:t>verage cost of B2/C patient per bed-day = $800</a:t>
                      </a:r>
                    </a:p>
                    <a:p>
                      <a:pPr marL="1371600" marR="0" lvl="2" indent="-457200" algn="just">
                        <a:lnSpc>
                          <a:spcPct val="90000"/>
                        </a:lnSpc>
                        <a:spcBef>
                          <a:spcPts val="1000"/>
                        </a:spcBef>
                        <a:spcAft>
                          <a:spcPts val="0"/>
                        </a:spcAft>
                        <a:buClr>
                          <a:srgbClr val="002F6B"/>
                        </a:buClr>
                        <a:buFont typeface="Arial" panose="020B0604020202020204" pitchFamily="34" charset="0"/>
                        <a:buChar char="•"/>
                      </a:pPr>
                      <a:r>
                        <a:rPr lang="en-US" sz="1400" b="0" i="1" u="none" strike="noStrike" noProof="0" dirty="0">
                          <a:solidFill>
                            <a:schemeClr val="tx1">
                              <a:lumMod val="50000"/>
                            </a:schemeClr>
                          </a:solidFill>
                          <a:latin typeface="+mn-lt"/>
                        </a:rPr>
                        <a:t>PET-CT: $1600</a:t>
                      </a:r>
                    </a:p>
                    <a:p>
                      <a:pPr marL="1371600" marR="0" lvl="2" indent="-457200" algn="just">
                        <a:lnSpc>
                          <a:spcPct val="90000"/>
                        </a:lnSpc>
                        <a:spcBef>
                          <a:spcPts val="1000"/>
                        </a:spcBef>
                        <a:spcAft>
                          <a:spcPts val="0"/>
                        </a:spcAft>
                        <a:buClr>
                          <a:srgbClr val="002F6B"/>
                        </a:buClr>
                        <a:buFont typeface="Arial" panose="020B0604020202020204" pitchFamily="34" charset="0"/>
                        <a:buChar char="•"/>
                      </a:pPr>
                      <a:r>
                        <a:rPr lang="en-US" sz="1400" b="0" i="1" u="none" strike="noStrike" noProof="0" dirty="0">
                          <a:solidFill>
                            <a:schemeClr val="tx1">
                              <a:lumMod val="50000"/>
                            </a:schemeClr>
                          </a:solidFill>
                          <a:latin typeface="+mn-lt"/>
                        </a:rPr>
                        <a:t>Repeat clinic visit : $50</a:t>
                      </a:r>
                      <a:endParaRPr lang="en-US" sz="1400" b="0" i="0" u="none" strike="noStrike" noProof="0" dirty="0">
                        <a:solidFill>
                          <a:srgbClr val="000000"/>
                        </a:solidFill>
                        <a:latin typeface="Calibri"/>
                      </a:endParaRPr>
                    </a:p>
                  </a:txBody>
                  <a:tcPr>
                    <a:noFill/>
                  </a:tcPr>
                </a:tc>
                <a:tc hMerge="1">
                  <a:txBody>
                    <a:bodyPr/>
                    <a:lstStyle/>
                    <a:p>
                      <a:endParaRPr lang="en-US"/>
                    </a:p>
                  </a:txBody>
                  <a:tcPr>
                    <a:noFill/>
                  </a:tcPr>
                </a:tc>
                <a:extLst>
                  <a:ext uri="{0D108BD9-81ED-4DB2-BD59-A6C34878D82A}">
                    <a16:rowId xmlns:a16="http://schemas.microsoft.com/office/drawing/2014/main" val="506798717"/>
                  </a:ext>
                </a:extLst>
              </a:tr>
            </a:tbl>
          </a:graphicData>
        </a:graphic>
      </p:graphicFrame>
    </p:spTree>
    <p:extLst>
      <p:ext uri="{BB962C8B-B14F-4D97-AF65-F5344CB8AC3E}">
        <p14:creationId xmlns:p14="http://schemas.microsoft.com/office/powerpoint/2010/main" val="467676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accel="50000" decel="50000" fill="hold" grpId="0" nodeType="afterEffect">
                                  <p:stCondLst>
                                    <p:cond delay="0"/>
                                  </p:stCondLst>
                                  <p:childTnLst>
                                    <p:set>
                                      <p:cBhvr>
                                        <p:cTn id="6" dur="1" fill="hold">
                                          <p:stCondLst>
                                            <p:cond delay="0"/>
                                          </p:stCondLst>
                                        </p:cTn>
                                        <p:tgtEl>
                                          <p:spTgt spid="47"/>
                                        </p:tgtEl>
                                        <p:attrNameLst>
                                          <p:attrName>style.visibility</p:attrName>
                                        </p:attrNameLst>
                                      </p:cBhvr>
                                      <p:to>
                                        <p:strVal val="visible"/>
                                      </p:to>
                                    </p:set>
                                    <p:anim calcmode="lin" valueType="num">
                                      <p:cBhvr additive="base">
                                        <p:cTn id="7" dur="1000" fill="hold"/>
                                        <p:tgtEl>
                                          <p:spTgt spid="47"/>
                                        </p:tgtEl>
                                        <p:attrNameLst>
                                          <p:attrName>ppt_x</p:attrName>
                                        </p:attrNameLst>
                                      </p:cBhvr>
                                      <p:tavLst>
                                        <p:tav tm="0">
                                          <p:val>
                                            <p:strVal val="0-#ppt_w/2"/>
                                          </p:val>
                                        </p:tav>
                                        <p:tav tm="100000">
                                          <p:val>
                                            <p:strVal val="#ppt_x"/>
                                          </p:val>
                                        </p:tav>
                                      </p:tavLst>
                                    </p:anim>
                                    <p:anim calcmode="lin" valueType="num">
                                      <p:cBhvr additive="base">
                                        <p:cTn id="8" dur="1000" fill="hold"/>
                                        <p:tgtEl>
                                          <p:spTgt spid="47"/>
                                        </p:tgtEl>
                                        <p:attrNameLst>
                                          <p:attrName>ppt_y</p:attrName>
                                        </p:attrNameLst>
                                      </p:cBhvr>
                                      <p:tavLst>
                                        <p:tav tm="0">
                                          <p:val>
                                            <p:strVal val="#ppt_y"/>
                                          </p:val>
                                        </p:tav>
                                        <p:tav tm="100000">
                                          <p:val>
                                            <p:strVal val="#ppt_y"/>
                                          </p:val>
                                        </p:tav>
                                      </p:tavLst>
                                    </p:anim>
                                  </p:childTnLst>
                                </p:cTn>
                              </p:par>
                              <p:par>
                                <p:cTn id="9" presetID="2" presetClass="entr" presetSubtype="2" accel="50000" decel="50000" fill="hold" nodeType="withEffect">
                                  <p:stCondLst>
                                    <p:cond delay="0"/>
                                  </p:stCondLst>
                                  <p:childTnLst>
                                    <p:set>
                                      <p:cBhvr>
                                        <p:cTn id="10" dur="1" fill="hold">
                                          <p:stCondLst>
                                            <p:cond delay="0"/>
                                          </p:stCondLst>
                                        </p:cTn>
                                        <p:tgtEl>
                                          <p:spTgt spid="48"/>
                                        </p:tgtEl>
                                        <p:attrNameLst>
                                          <p:attrName>style.visibility</p:attrName>
                                        </p:attrNameLst>
                                      </p:cBhvr>
                                      <p:to>
                                        <p:strVal val="visible"/>
                                      </p:to>
                                    </p:set>
                                    <p:anim calcmode="lin" valueType="num">
                                      <p:cBhvr additive="base">
                                        <p:cTn id="11" dur="1000" fill="hold"/>
                                        <p:tgtEl>
                                          <p:spTgt spid="48"/>
                                        </p:tgtEl>
                                        <p:attrNameLst>
                                          <p:attrName>ppt_x</p:attrName>
                                        </p:attrNameLst>
                                      </p:cBhvr>
                                      <p:tavLst>
                                        <p:tav tm="0">
                                          <p:val>
                                            <p:strVal val="1+#ppt_w/2"/>
                                          </p:val>
                                        </p:tav>
                                        <p:tav tm="100000">
                                          <p:val>
                                            <p:strVal val="#ppt_x"/>
                                          </p:val>
                                        </p:tav>
                                      </p:tavLst>
                                    </p:anim>
                                    <p:anim calcmode="lin" valueType="num">
                                      <p:cBhvr additive="base">
                                        <p:cTn id="12" dur="1000" fill="hold"/>
                                        <p:tgtEl>
                                          <p:spTgt spid="4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hidden="1"/>
          <p:cNvSpPr>
            <a:spLocks noGrp="1"/>
          </p:cNvSpPr>
          <p:nvPr>
            <p:ph type="title"/>
          </p:nvPr>
        </p:nvSpPr>
        <p:spPr>
          <a:xfrm>
            <a:off x="611028" y="1114096"/>
            <a:ext cx="10969943" cy="944561"/>
          </a:xfrm>
        </p:spPr>
        <p:txBody>
          <a:bodyPr/>
          <a:lstStyle/>
          <a:p>
            <a:r>
              <a:rPr lang="en-US" dirty="0"/>
              <a:t>Sample 5</a:t>
            </a:r>
          </a:p>
        </p:txBody>
      </p:sp>
      <p:sp>
        <p:nvSpPr>
          <p:cNvPr id="88" name="TextBox 87"/>
          <p:cNvSpPr txBox="1"/>
          <p:nvPr/>
        </p:nvSpPr>
        <p:spPr>
          <a:xfrm>
            <a:off x="352697" y="64109"/>
            <a:ext cx="11839302" cy="784830"/>
          </a:xfrm>
          <a:prstGeom prst="rect">
            <a:avLst/>
          </a:prstGeom>
          <a:noFill/>
        </p:spPr>
        <p:txBody>
          <a:bodyPr wrap="square" rtlCol="0">
            <a:spAutoFit/>
          </a:bodyPr>
          <a:lstStyle/>
          <a:p>
            <a:pPr>
              <a:lnSpc>
                <a:spcPct val="150000"/>
              </a:lnSpc>
            </a:pPr>
            <a:r>
              <a:rPr lang="en-US" sz="3000" b="1" dirty="0">
                <a:solidFill>
                  <a:schemeClr val="tx1">
                    <a:lumMod val="85000"/>
                    <a:lumOff val="15000"/>
                  </a:schemeClr>
                </a:solidFill>
                <a:latin typeface="Arial Black" charset="0"/>
                <a:ea typeface="Arial Black" charset="0"/>
                <a:cs typeface="Arial Black" charset="0"/>
              </a:rPr>
              <a:t>F. Strategy for Spreading/ Sustaining (</a:t>
            </a:r>
            <a:r>
              <a:rPr lang="en-US" sz="3000" b="1" dirty="0">
                <a:solidFill>
                  <a:srgbClr val="0070C0"/>
                </a:solidFill>
                <a:latin typeface="Arial Black" charset="0"/>
                <a:ea typeface="Arial Black" charset="0"/>
                <a:cs typeface="Arial Black" charset="0"/>
              </a:rPr>
              <a:t>A</a:t>
            </a:r>
            <a:r>
              <a:rPr lang="en-US" sz="3000" b="1" dirty="0">
                <a:solidFill>
                  <a:schemeClr val="tx1">
                    <a:lumMod val="85000"/>
                    <a:lumOff val="15000"/>
                  </a:schemeClr>
                </a:solidFill>
                <a:latin typeface="Arial Black" charset="0"/>
                <a:ea typeface="Arial Black" charset="0"/>
                <a:cs typeface="Arial Black" charset="0"/>
              </a:rPr>
              <a:t>CT)</a:t>
            </a:r>
            <a:endParaRPr lang="en-US" sz="1600" dirty="0">
              <a:solidFill>
                <a:schemeClr val="tx1">
                  <a:lumMod val="85000"/>
                  <a:lumOff val="15000"/>
                </a:schemeClr>
              </a:solidFill>
              <a:latin typeface="Arial" charset="0"/>
              <a:ea typeface="Arial" charset="0"/>
              <a:cs typeface="Arial" charset="0"/>
            </a:endParaRPr>
          </a:p>
        </p:txBody>
      </p:sp>
      <p:cxnSp>
        <p:nvCxnSpPr>
          <p:cNvPr id="89" name="Straight Connector 88">
            <a:extLst>
              <a:ext uri="{C183D7F6-B498-43B3-948B-1728B52AA6E4}">
                <adec:decorative xmlns:adec="http://schemas.microsoft.com/office/drawing/2017/decorative" val="1"/>
              </a:ext>
            </a:extLst>
          </p:cNvPr>
          <p:cNvCxnSpPr/>
          <p:nvPr/>
        </p:nvCxnSpPr>
        <p:spPr>
          <a:xfrm>
            <a:off x="226423" y="746051"/>
            <a:ext cx="10027920" cy="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2" name="Rectangle 1"/>
          <p:cNvSpPr/>
          <p:nvPr/>
        </p:nvSpPr>
        <p:spPr>
          <a:xfrm>
            <a:off x="468084" y="1182538"/>
            <a:ext cx="10798629" cy="1938992"/>
          </a:xfrm>
          <a:prstGeom prst="rect">
            <a:avLst/>
          </a:prstGeom>
        </p:spPr>
        <p:txBody>
          <a:bodyPr wrap="square">
            <a:spAutoFit/>
          </a:bodyPr>
          <a:lstStyle/>
          <a:p>
            <a:pPr marL="342900" indent="-342900">
              <a:buFont typeface="Calibri" panose="020B0604020202020204" pitchFamily="34" charset="0"/>
              <a:buChar char="-"/>
            </a:pPr>
            <a:r>
              <a:rPr lang="en-SG" sz="2400" dirty="0">
                <a:ea typeface="Calibri"/>
                <a:cs typeface="Calibri"/>
              </a:rPr>
              <a:t>Eventual inclusion of both CKD 4 and CKD 5 patients</a:t>
            </a:r>
          </a:p>
          <a:p>
            <a:pPr marL="800100" lvl="1" indent="-342900">
              <a:buFont typeface="Calibri" panose="020B0604020202020204" pitchFamily="34" charset="0"/>
              <a:buChar char="-"/>
            </a:pPr>
            <a:r>
              <a:rPr lang="en-SG" sz="2400" dirty="0">
                <a:ea typeface="Calibri"/>
                <a:cs typeface="Calibri"/>
              </a:rPr>
              <a:t>Goal to reconvene with Nephrology department in 1H 2026 with data</a:t>
            </a:r>
          </a:p>
          <a:p>
            <a:pPr marL="800100" lvl="1" indent="-342900">
              <a:buFont typeface="Calibri" panose="020B0604020202020204" pitchFamily="34" charset="0"/>
              <a:buChar char="-"/>
            </a:pPr>
            <a:endParaRPr lang="en-SG" sz="2400" dirty="0">
              <a:ea typeface="Calibri"/>
              <a:cs typeface="Calibri"/>
            </a:endParaRPr>
          </a:p>
          <a:p>
            <a:pPr marL="342900" indent="-342900">
              <a:buFont typeface="Calibri" panose="020B0604020202020204" pitchFamily="34" charset="0"/>
              <a:buChar char="-"/>
            </a:pPr>
            <a:r>
              <a:rPr lang="en-SG" sz="2400" dirty="0">
                <a:ea typeface="Calibri"/>
                <a:cs typeface="Calibri"/>
              </a:rPr>
              <a:t>Workflow can be introduced to AH and NTFGH diagnostic imaging departments in the future </a:t>
            </a:r>
            <a:endParaRPr lang="en-SG" sz="2400" dirty="0">
              <a:ea typeface="Calibri"/>
            </a:endParaRPr>
          </a:p>
        </p:txBody>
      </p:sp>
    </p:spTree>
    <p:extLst>
      <p:ext uri="{BB962C8B-B14F-4D97-AF65-F5344CB8AC3E}">
        <p14:creationId xmlns:p14="http://schemas.microsoft.com/office/powerpoint/2010/main" val="718530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accel="50000" decel="50000" fill="hold" grpId="0" nodeType="afterEffect">
                                  <p:stCondLst>
                                    <p:cond delay="0"/>
                                  </p:stCondLst>
                                  <p:childTnLst>
                                    <p:set>
                                      <p:cBhvr>
                                        <p:cTn id="6" dur="1" fill="hold">
                                          <p:stCondLst>
                                            <p:cond delay="0"/>
                                          </p:stCondLst>
                                        </p:cTn>
                                        <p:tgtEl>
                                          <p:spTgt spid="88"/>
                                        </p:tgtEl>
                                        <p:attrNameLst>
                                          <p:attrName>style.visibility</p:attrName>
                                        </p:attrNameLst>
                                      </p:cBhvr>
                                      <p:to>
                                        <p:strVal val="visible"/>
                                      </p:to>
                                    </p:set>
                                    <p:anim calcmode="lin" valueType="num">
                                      <p:cBhvr additive="base">
                                        <p:cTn id="7" dur="1000" fill="hold"/>
                                        <p:tgtEl>
                                          <p:spTgt spid="88"/>
                                        </p:tgtEl>
                                        <p:attrNameLst>
                                          <p:attrName>ppt_x</p:attrName>
                                        </p:attrNameLst>
                                      </p:cBhvr>
                                      <p:tavLst>
                                        <p:tav tm="0">
                                          <p:val>
                                            <p:strVal val="0-#ppt_w/2"/>
                                          </p:val>
                                        </p:tav>
                                        <p:tav tm="100000">
                                          <p:val>
                                            <p:strVal val="#ppt_x"/>
                                          </p:val>
                                        </p:tav>
                                      </p:tavLst>
                                    </p:anim>
                                    <p:anim calcmode="lin" valueType="num">
                                      <p:cBhvr additive="base">
                                        <p:cTn id="8" dur="1000" fill="hold"/>
                                        <p:tgtEl>
                                          <p:spTgt spid="88"/>
                                        </p:tgtEl>
                                        <p:attrNameLst>
                                          <p:attrName>ppt_y</p:attrName>
                                        </p:attrNameLst>
                                      </p:cBhvr>
                                      <p:tavLst>
                                        <p:tav tm="0">
                                          <p:val>
                                            <p:strVal val="#ppt_y"/>
                                          </p:val>
                                        </p:tav>
                                        <p:tav tm="100000">
                                          <p:val>
                                            <p:strVal val="#ppt_y"/>
                                          </p:val>
                                        </p:tav>
                                      </p:tavLst>
                                    </p:anim>
                                  </p:childTnLst>
                                </p:cTn>
                              </p:par>
                              <p:par>
                                <p:cTn id="9" presetID="2" presetClass="entr" presetSubtype="2" accel="50000" decel="50000" fill="hold" nodeType="withEffect">
                                  <p:stCondLst>
                                    <p:cond delay="0"/>
                                  </p:stCondLst>
                                  <p:childTnLst>
                                    <p:set>
                                      <p:cBhvr>
                                        <p:cTn id="10" dur="1" fill="hold">
                                          <p:stCondLst>
                                            <p:cond delay="0"/>
                                          </p:stCondLst>
                                        </p:cTn>
                                        <p:tgtEl>
                                          <p:spTgt spid="89"/>
                                        </p:tgtEl>
                                        <p:attrNameLst>
                                          <p:attrName>style.visibility</p:attrName>
                                        </p:attrNameLst>
                                      </p:cBhvr>
                                      <p:to>
                                        <p:strVal val="visible"/>
                                      </p:to>
                                    </p:set>
                                    <p:anim calcmode="lin" valueType="num">
                                      <p:cBhvr additive="base">
                                        <p:cTn id="11" dur="1000" fill="hold"/>
                                        <p:tgtEl>
                                          <p:spTgt spid="89"/>
                                        </p:tgtEl>
                                        <p:attrNameLst>
                                          <p:attrName>ppt_x</p:attrName>
                                        </p:attrNameLst>
                                      </p:cBhvr>
                                      <p:tavLst>
                                        <p:tav tm="0">
                                          <p:val>
                                            <p:strVal val="1+#ppt_w/2"/>
                                          </p:val>
                                        </p:tav>
                                        <p:tav tm="100000">
                                          <p:val>
                                            <p:strVal val="#ppt_x"/>
                                          </p:val>
                                        </p:tav>
                                      </p:tavLst>
                                    </p:anim>
                                    <p:anim calcmode="lin" valueType="num">
                                      <p:cBhvr additive="base">
                                        <p:cTn id="12" dur="1000" fill="hold"/>
                                        <p:tgtEl>
                                          <p:spTgt spid="8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hidden="1"/>
          <p:cNvSpPr>
            <a:spLocks noGrp="1"/>
          </p:cNvSpPr>
          <p:nvPr>
            <p:ph type="title"/>
          </p:nvPr>
        </p:nvSpPr>
        <p:spPr/>
        <p:txBody>
          <a:bodyPr/>
          <a:lstStyle/>
          <a:p>
            <a:r>
              <a:rPr lang="en-US" dirty="0"/>
              <a:t>Sample 3</a:t>
            </a:r>
          </a:p>
        </p:txBody>
      </p:sp>
      <p:sp>
        <p:nvSpPr>
          <p:cNvPr id="6" name="TextBox 5"/>
          <p:cNvSpPr txBox="1"/>
          <p:nvPr/>
        </p:nvSpPr>
        <p:spPr>
          <a:xfrm>
            <a:off x="352697" y="64109"/>
            <a:ext cx="11839302" cy="710066"/>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3000" b="1" i="0" u="none" strike="noStrike" kern="1200" cap="none" spc="0" normalizeH="0" baseline="0" noProof="0" dirty="0">
                <a:ln>
                  <a:noFill/>
                </a:ln>
                <a:solidFill>
                  <a:prstClr val="black">
                    <a:lumMod val="85000"/>
                    <a:lumOff val="15000"/>
                  </a:prstClr>
                </a:solidFill>
                <a:effectLst/>
                <a:uLnTx/>
                <a:uFillTx/>
                <a:latin typeface="Arial Black" charset="0"/>
                <a:ea typeface="Arial Black" charset="0"/>
                <a:cs typeface="Arial Black" charset="0"/>
              </a:rPr>
              <a:t>Appendix</a:t>
            </a:r>
            <a:endParaRPr kumimoji="0" lang="en-US" sz="1600" b="0" i="0" u="none" strike="noStrike" kern="1200" cap="none" spc="0" normalizeH="0" baseline="0" noProof="0" dirty="0">
              <a:ln>
                <a:noFill/>
              </a:ln>
              <a:solidFill>
                <a:prstClr val="black">
                  <a:lumMod val="85000"/>
                  <a:lumOff val="15000"/>
                </a:prstClr>
              </a:solidFill>
              <a:effectLst/>
              <a:uLnTx/>
              <a:uFillTx/>
              <a:latin typeface="Arial" charset="0"/>
              <a:ea typeface="Arial" charset="0"/>
              <a:cs typeface="Arial" charset="0"/>
            </a:endParaRPr>
          </a:p>
        </p:txBody>
      </p:sp>
      <p:cxnSp>
        <p:nvCxnSpPr>
          <p:cNvPr id="23" name="Straight Connector 22">
            <a:extLst>
              <a:ext uri="{C183D7F6-B498-43B3-948B-1728B52AA6E4}">
                <adec:decorative xmlns:adec="http://schemas.microsoft.com/office/drawing/2017/decorative" val="1"/>
              </a:ext>
            </a:extLst>
          </p:cNvPr>
          <p:cNvCxnSpPr/>
          <p:nvPr/>
        </p:nvCxnSpPr>
        <p:spPr>
          <a:xfrm>
            <a:off x="226423" y="746051"/>
            <a:ext cx="10027920" cy="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A563457-1EC8-4978-BCCB-AFD88C9ED04C}"/>
              </a:ext>
              <a:ext uri="{C183D7F6-B498-43B3-948B-1728B52AA6E4}">
                <adec:decorative xmlns:adec="http://schemas.microsoft.com/office/drawing/2017/decorative" val="1"/>
              </a:ext>
            </a:extLst>
          </p:cNvPr>
          <p:cNvCxnSpPr/>
          <p:nvPr/>
        </p:nvCxnSpPr>
        <p:spPr>
          <a:xfrm>
            <a:off x="6096000" y="2363035"/>
            <a:ext cx="0" cy="241133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2" name="TextBox 1"/>
          <p:cNvSpPr txBox="1"/>
          <p:nvPr/>
        </p:nvSpPr>
        <p:spPr>
          <a:xfrm>
            <a:off x="226423" y="774175"/>
            <a:ext cx="7219406" cy="1200329"/>
          </a:xfrm>
          <a:prstGeom prst="rect">
            <a:avLst/>
          </a:prstGeom>
          <a:noFill/>
        </p:spPr>
        <p:txBody>
          <a:bodyPr wrap="square" rtlCol="0">
            <a:spAutoFit/>
          </a:bodyPr>
          <a:lstStyle/>
          <a:p>
            <a:r>
              <a:rPr lang="en-US" dirty="0"/>
              <a:t>Intervention 1: Creation of hospital workflow</a:t>
            </a:r>
          </a:p>
          <a:p>
            <a:pPr marL="285750" indent="-285750">
              <a:buFont typeface="Arial" panose="020B0604020202020204" pitchFamily="34" charset="0"/>
              <a:buChar char="•"/>
            </a:pPr>
            <a:r>
              <a:rPr lang="en-US" dirty="0"/>
              <a:t>Workflow was created with input from Departments of Diagnostic Imaging Nephrology</a:t>
            </a:r>
          </a:p>
          <a:p>
            <a:pPr marL="285750" indent="-285750">
              <a:buFont typeface="Arial" panose="020B0604020202020204" pitchFamily="34" charset="0"/>
              <a:buChar char="•"/>
            </a:pPr>
            <a:r>
              <a:rPr lang="en-US" dirty="0"/>
              <a:t>Uploaded and made available on hospital intranet</a:t>
            </a:r>
            <a:endParaRPr lang="en-SG" dirty="0"/>
          </a:p>
        </p:txBody>
      </p:sp>
      <p:pic>
        <p:nvPicPr>
          <p:cNvPr id="8" name="Picture 7"/>
          <p:cNvPicPr>
            <a:picLocks noChangeAspect="1"/>
          </p:cNvPicPr>
          <p:nvPr/>
        </p:nvPicPr>
        <p:blipFill rotWithShape="1">
          <a:blip r:embed="rId3"/>
          <a:srcRect t="5707"/>
          <a:stretch/>
        </p:blipFill>
        <p:spPr>
          <a:xfrm>
            <a:off x="7506789" y="64109"/>
            <a:ext cx="4580934" cy="6682673"/>
          </a:xfrm>
          <a:prstGeom prst="rect">
            <a:avLst/>
          </a:prstGeom>
        </p:spPr>
      </p:pic>
      <p:pic>
        <p:nvPicPr>
          <p:cNvPr id="9" name="Picture 8"/>
          <p:cNvPicPr>
            <a:picLocks noChangeAspect="1"/>
          </p:cNvPicPr>
          <p:nvPr/>
        </p:nvPicPr>
        <p:blipFill>
          <a:blip r:embed="rId4"/>
          <a:stretch>
            <a:fillRect/>
          </a:stretch>
        </p:blipFill>
        <p:spPr>
          <a:xfrm>
            <a:off x="1075492" y="2430145"/>
            <a:ext cx="5725903" cy="3482579"/>
          </a:xfrm>
          <a:prstGeom prst="rect">
            <a:avLst/>
          </a:prstGeom>
        </p:spPr>
      </p:pic>
      <p:sp>
        <p:nvSpPr>
          <p:cNvPr id="10" name="Rectangle 9"/>
          <p:cNvSpPr/>
          <p:nvPr/>
        </p:nvSpPr>
        <p:spPr>
          <a:xfrm>
            <a:off x="3126737" y="5248546"/>
            <a:ext cx="2592199" cy="251669"/>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1" name="TextBox 10"/>
          <p:cNvSpPr txBox="1"/>
          <p:nvPr/>
        </p:nvSpPr>
        <p:spPr>
          <a:xfrm>
            <a:off x="2793534" y="5851391"/>
            <a:ext cx="5159230" cy="646331"/>
          </a:xfrm>
          <a:prstGeom prst="rect">
            <a:avLst/>
          </a:prstGeom>
          <a:noFill/>
        </p:spPr>
        <p:txBody>
          <a:bodyPr wrap="square" rtlCol="0">
            <a:spAutoFit/>
          </a:bodyPr>
          <a:lstStyle/>
          <a:p>
            <a:r>
              <a:rPr lang="en-US" dirty="0"/>
              <a:t>Screenshot from intranet page </a:t>
            </a:r>
          </a:p>
          <a:p>
            <a:r>
              <a:rPr lang="en-US" dirty="0"/>
              <a:t>Selected screenshot from the hospital workflow </a:t>
            </a:r>
            <a:endParaRPr lang="en-SG" dirty="0"/>
          </a:p>
        </p:txBody>
      </p:sp>
      <p:sp>
        <p:nvSpPr>
          <p:cNvPr id="12" name="Chevron 11"/>
          <p:cNvSpPr/>
          <p:nvPr/>
        </p:nvSpPr>
        <p:spPr>
          <a:xfrm>
            <a:off x="7354123" y="6233020"/>
            <a:ext cx="194611" cy="182405"/>
          </a:xfrm>
          <a:prstGeom prst="chevron">
            <a:avLst>
              <a:gd name="adj" fmla="val 46774"/>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solidFill>
                <a:schemeClr val="tx1"/>
              </a:solidFill>
            </a:endParaRPr>
          </a:p>
        </p:txBody>
      </p:sp>
      <p:sp>
        <p:nvSpPr>
          <p:cNvPr id="16" name="Chevron 15"/>
          <p:cNvSpPr/>
          <p:nvPr/>
        </p:nvSpPr>
        <p:spPr>
          <a:xfrm rot="16200000">
            <a:off x="5756379" y="5924416"/>
            <a:ext cx="194722" cy="204889"/>
          </a:xfrm>
          <a:prstGeom prst="chevron">
            <a:avLst>
              <a:gd name="adj" fmla="val 46774"/>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solidFill>
                <a:schemeClr val="tx1"/>
              </a:solidFill>
            </a:endParaRPr>
          </a:p>
        </p:txBody>
      </p:sp>
    </p:spTree>
    <p:extLst>
      <p:ext uri="{BB962C8B-B14F-4D97-AF65-F5344CB8AC3E}">
        <p14:creationId xmlns:p14="http://schemas.microsoft.com/office/powerpoint/2010/main" val="35809875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hidden="1"/>
          <p:cNvSpPr>
            <a:spLocks noGrp="1"/>
          </p:cNvSpPr>
          <p:nvPr>
            <p:ph type="title"/>
          </p:nvPr>
        </p:nvSpPr>
        <p:spPr/>
        <p:txBody>
          <a:bodyPr/>
          <a:lstStyle/>
          <a:p>
            <a:r>
              <a:rPr lang="en-US" dirty="0"/>
              <a:t>Sample 3</a:t>
            </a:r>
          </a:p>
        </p:txBody>
      </p:sp>
      <p:sp>
        <p:nvSpPr>
          <p:cNvPr id="6" name="TextBox 5"/>
          <p:cNvSpPr txBox="1"/>
          <p:nvPr/>
        </p:nvSpPr>
        <p:spPr>
          <a:xfrm>
            <a:off x="352697" y="64109"/>
            <a:ext cx="11839302" cy="710066"/>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3000" b="1" i="0" u="none" strike="noStrike" kern="1200" cap="none" spc="0" normalizeH="0" baseline="0" noProof="0" dirty="0">
                <a:ln>
                  <a:noFill/>
                </a:ln>
                <a:solidFill>
                  <a:prstClr val="black">
                    <a:lumMod val="85000"/>
                    <a:lumOff val="15000"/>
                  </a:prstClr>
                </a:solidFill>
                <a:effectLst/>
                <a:uLnTx/>
                <a:uFillTx/>
                <a:latin typeface="Arial Black" charset="0"/>
                <a:ea typeface="Arial Black" charset="0"/>
                <a:cs typeface="Arial Black" charset="0"/>
              </a:rPr>
              <a:t>Appendix</a:t>
            </a:r>
            <a:endParaRPr kumimoji="0" lang="en-US" sz="1600" b="0" i="0" u="none" strike="noStrike" kern="1200" cap="none" spc="0" normalizeH="0" baseline="0" noProof="0" dirty="0">
              <a:ln>
                <a:noFill/>
              </a:ln>
              <a:solidFill>
                <a:prstClr val="black">
                  <a:lumMod val="85000"/>
                  <a:lumOff val="15000"/>
                </a:prstClr>
              </a:solidFill>
              <a:effectLst/>
              <a:uLnTx/>
              <a:uFillTx/>
              <a:latin typeface="Arial" charset="0"/>
              <a:ea typeface="Arial" charset="0"/>
              <a:cs typeface="Arial" charset="0"/>
            </a:endParaRPr>
          </a:p>
        </p:txBody>
      </p:sp>
      <p:cxnSp>
        <p:nvCxnSpPr>
          <p:cNvPr id="23" name="Straight Connector 22">
            <a:extLst>
              <a:ext uri="{C183D7F6-B498-43B3-948B-1728B52AA6E4}">
                <adec:decorative xmlns:adec="http://schemas.microsoft.com/office/drawing/2017/decorative" val="1"/>
              </a:ext>
            </a:extLst>
          </p:cNvPr>
          <p:cNvCxnSpPr/>
          <p:nvPr/>
        </p:nvCxnSpPr>
        <p:spPr>
          <a:xfrm>
            <a:off x="226423" y="746051"/>
            <a:ext cx="10027920" cy="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A563457-1EC8-4978-BCCB-AFD88C9ED04C}"/>
              </a:ext>
              <a:ext uri="{C183D7F6-B498-43B3-948B-1728B52AA6E4}">
                <adec:decorative xmlns:adec="http://schemas.microsoft.com/office/drawing/2017/decorative" val="1"/>
              </a:ext>
            </a:extLst>
          </p:cNvPr>
          <p:cNvCxnSpPr/>
          <p:nvPr/>
        </p:nvCxnSpPr>
        <p:spPr>
          <a:xfrm>
            <a:off x="6096000" y="2363035"/>
            <a:ext cx="0" cy="241133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2" name="TextBox 1"/>
          <p:cNvSpPr txBox="1"/>
          <p:nvPr/>
        </p:nvSpPr>
        <p:spPr>
          <a:xfrm>
            <a:off x="226423" y="774175"/>
            <a:ext cx="11451052" cy="1477328"/>
          </a:xfrm>
          <a:prstGeom prst="rect">
            <a:avLst/>
          </a:prstGeom>
          <a:noFill/>
        </p:spPr>
        <p:txBody>
          <a:bodyPr wrap="square" rtlCol="0">
            <a:spAutoFit/>
          </a:bodyPr>
          <a:lstStyle/>
          <a:p>
            <a:r>
              <a:rPr lang="en-US" dirty="0"/>
              <a:t>Intervention 2: Doctor engagement</a:t>
            </a:r>
          </a:p>
          <a:p>
            <a:pPr marL="285750" indent="-285750">
              <a:buFont typeface="Arial" panose="020B0604020202020204" pitchFamily="34" charset="0"/>
              <a:buChar char="•"/>
            </a:pPr>
            <a:r>
              <a:rPr lang="en-US" dirty="0"/>
              <a:t>Senior clinicians were addressed through subspecialty </a:t>
            </a:r>
            <a:r>
              <a:rPr lang="en-US" dirty="0" err="1"/>
              <a:t>tumour</a:t>
            </a:r>
            <a:r>
              <a:rPr lang="en-US" dirty="0"/>
              <a:t> board meetings to allow for opportunity to ask questions and make clarifications</a:t>
            </a:r>
          </a:p>
          <a:p>
            <a:pPr marL="285750" indent="-285750">
              <a:buFont typeface="Arial" panose="020B0604020202020204" pitchFamily="34" charset="0"/>
              <a:buChar char="•"/>
            </a:pPr>
            <a:r>
              <a:rPr lang="en-US" dirty="0"/>
              <a:t>In-person sessions were arranged for medical and surgical HOs and MOs to inform them of the new workflow</a:t>
            </a:r>
          </a:p>
          <a:p>
            <a:pPr marL="285750" indent="-285750">
              <a:buFont typeface="Arial" panose="020B0604020202020204" pitchFamily="34" charset="0"/>
              <a:buChar char="•"/>
            </a:pPr>
            <a:r>
              <a:rPr lang="en-US" dirty="0"/>
              <a:t>Desktop wallpaper was created and uploaded </a:t>
            </a:r>
            <a:endParaRPr lang="en-SG" dirty="0"/>
          </a:p>
        </p:txBody>
      </p:sp>
      <p:sp>
        <p:nvSpPr>
          <p:cNvPr id="11" name="TextBox 10"/>
          <p:cNvSpPr txBox="1"/>
          <p:nvPr/>
        </p:nvSpPr>
        <p:spPr>
          <a:xfrm>
            <a:off x="570451" y="5700389"/>
            <a:ext cx="5159230" cy="646331"/>
          </a:xfrm>
          <a:prstGeom prst="rect">
            <a:avLst/>
          </a:prstGeom>
          <a:noFill/>
        </p:spPr>
        <p:txBody>
          <a:bodyPr wrap="square" rtlCol="0">
            <a:spAutoFit/>
          </a:bodyPr>
          <a:lstStyle/>
          <a:p>
            <a:r>
              <a:rPr lang="en-US" dirty="0"/>
              <a:t>Desktop wallpaper</a:t>
            </a:r>
          </a:p>
          <a:p>
            <a:r>
              <a:rPr lang="en-US" dirty="0"/>
              <a:t>One-page summary of workflow from the QR code </a:t>
            </a:r>
            <a:endParaRPr lang="en-SG" dirty="0"/>
          </a:p>
        </p:txBody>
      </p:sp>
      <p:sp>
        <p:nvSpPr>
          <p:cNvPr id="12" name="Chevron 11"/>
          <p:cNvSpPr/>
          <p:nvPr/>
        </p:nvSpPr>
        <p:spPr>
          <a:xfrm>
            <a:off x="5386444" y="6090407"/>
            <a:ext cx="194611" cy="182405"/>
          </a:xfrm>
          <a:prstGeom prst="chevron">
            <a:avLst>
              <a:gd name="adj" fmla="val 46774"/>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solidFill>
                <a:schemeClr val="tx1"/>
              </a:solidFill>
            </a:endParaRPr>
          </a:p>
        </p:txBody>
      </p:sp>
      <p:sp>
        <p:nvSpPr>
          <p:cNvPr id="16" name="Chevron 15"/>
          <p:cNvSpPr/>
          <p:nvPr/>
        </p:nvSpPr>
        <p:spPr>
          <a:xfrm rot="16200000">
            <a:off x="2442728" y="5785367"/>
            <a:ext cx="194722" cy="204889"/>
          </a:xfrm>
          <a:prstGeom prst="chevron">
            <a:avLst>
              <a:gd name="adj" fmla="val 46774"/>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solidFill>
                <a:schemeClr val="tx1"/>
              </a:solidFill>
            </a:endParaRPr>
          </a:p>
        </p:txBody>
      </p:sp>
      <p:pic>
        <p:nvPicPr>
          <p:cNvPr id="13" name="Picture 12">
            <a:extLst>
              <a:ext uri="{FF2B5EF4-FFF2-40B4-BE49-F238E27FC236}">
                <a16:creationId xmlns:a16="http://schemas.microsoft.com/office/drawing/2014/main" id="{CA62513E-D9D9-569D-28C4-29BA585F0523}"/>
              </a:ext>
            </a:extLst>
          </p:cNvPr>
          <p:cNvPicPr>
            <a:picLocks noChangeAspect="1"/>
          </p:cNvPicPr>
          <p:nvPr/>
        </p:nvPicPr>
        <p:blipFill>
          <a:blip r:embed="rId3"/>
          <a:stretch>
            <a:fillRect/>
          </a:stretch>
        </p:blipFill>
        <p:spPr>
          <a:xfrm>
            <a:off x="352697" y="2279626"/>
            <a:ext cx="6639844" cy="3450546"/>
          </a:xfrm>
          <a:prstGeom prst="rect">
            <a:avLst/>
          </a:prstGeom>
        </p:spPr>
      </p:pic>
      <p:pic>
        <p:nvPicPr>
          <p:cNvPr id="14" name="Picture 13" descr="A screenshot of a computer screen&#10;&#10;AI-generated content may be incorrect.">
            <a:extLst>
              <a:ext uri="{FF2B5EF4-FFF2-40B4-BE49-F238E27FC236}">
                <a16:creationId xmlns:a16="http://schemas.microsoft.com/office/drawing/2014/main" id="{9A46C10D-A224-668D-7A03-B6DFB39546AB}"/>
              </a:ext>
            </a:extLst>
          </p:cNvPr>
          <p:cNvPicPr>
            <a:picLocks noChangeAspect="1"/>
          </p:cNvPicPr>
          <p:nvPr/>
        </p:nvPicPr>
        <p:blipFill>
          <a:blip r:embed="rId4"/>
          <a:stretch>
            <a:fillRect/>
          </a:stretch>
        </p:blipFill>
        <p:spPr>
          <a:xfrm>
            <a:off x="7210295" y="1928142"/>
            <a:ext cx="2837940" cy="4842669"/>
          </a:xfrm>
          <a:prstGeom prst="rect">
            <a:avLst/>
          </a:prstGeom>
        </p:spPr>
      </p:pic>
    </p:spTree>
    <p:extLst>
      <p:ext uri="{BB962C8B-B14F-4D97-AF65-F5344CB8AC3E}">
        <p14:creationId xmlns:p14="http://schemas.microsoft.com/office/powerpoint/2010/main" val="2354792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hidden="1"/>
          <p:cNvSpPr>
            <a:spLocks noGrp="1"/>
          </p:cNvSpPr>
          <p:nvPr>
            <p:ph type="title"/>
          </p:nvPr>
        </p:nvSpPr>
        <p:spPr/>
        <p:txBody>
          <a:bodyPr/>
          <a:lstStyle/>
          <a:p>
            <a:r>
              <a:rPr lang="en-US" dirty="0"/>
              <a:t>Sample 3</a:t>
            </a:r>
          </a:p>
        </p:txBody>
      </p:sp>
      <p:sp>
        <p:nvSpPr>
          <p:cNvPr id="6" name="TextBox 5"/>
          <p:cNvSpPr txBox="1"/>
          <p:nvPr/>
        </p:nvSpPr>
        <p:spPr>
          <a:xfrm>
            <a:off x="352697" y="64109"/>
            <a:ext cx="11839302" cy="710066"/>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3000" b="1" i="0" u="none" strike="noStrike" kern="1200" cap="none" spc="0" normalizeH="0" baseline="0" noProof="0" dirty="0">
                <a:ln>
                  <a:noFill/>
                </a:ln>
                <a:solidFill>
                  <a:prstClr val="black">
                    <a:lumMod val="85000"/>
                    <a:lumOff val="15000"/>
                  </a:prstClr>
                </a:solidFill>
                <a:effectLst/>
                <a:uLnTx/>
                <a:uFillTx/>
                <a:latin typeface="Arial Black" charset="0"/>
                <a:ea typeface="Arial Black" charset="0"/>
                <a:cs typeface="Arial Black" charset="0"/>
              </a:rPr>
              <a:t>Appendix</a:t>
            </a:r>
            <a:endParaRPr kumimoji="0" lang="en-US" sz="1600" b="0" i="0" u="none" strike="noStrike" kern="1200" cap="none" spc="0" normalizeH="0" baseline="0" noProof="0" dirty="0">
              <a:ln>
                <a:noFill/>
              </a:ln>
              <a:solidFill>
                <a:prstClr val="black">
                  <a:lumMod val="85000"/>
                  <a:lumOff val="15000"/>
                </a:prstClr>
              </a:solidFill>
              <a:effectLst/>
              <a:uLnTx/>
              <a:uFillTx/>
              <a:latin typeface="Arial" charset="0"/>
              <a:ea typeface="Arial" charset="0"/>
              <a:cs typeface="Arial" charset="0"/>
            </a:endParaRPr>
          </a:p>
        </p:txBody>
      </p:sp>
      <p:cxnSp>
        <p:nvCxnSpPr>
          <p:cNvPr id="23" name="Straight Connector 22">
            <a:extLst>
              <a:ext uri="{C183D7F6-B498-43B3-948B-1728B52AA6E4}">
                <adec:decorative xmlns:adec="http://schemas.microsoft.com/office/drawing/2017/decorative" val="1"/>
              </a:ext>
            </a:extLst>
          </p:cNvPr>
          <p:cNvCxnSpPr/>
          <p:nvPr/>
        </p:nvCxnSpPr>
        <p:spPr>
          <a:xfrm>
            <a:off x="226423" y="746051"/>
            <a:ext cx="10027920" cy="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A563457-1EC8-4978-BCCB-AFD88C9ED04C}"/>
              </a:ext>
              <a:ext uri="{C183D7F6-B498-43B3-948B-1728B52AA6E4}">
                <adec:decorative xmlns:adec="http://schemas.microsoft.com/office/drawing/2017/decorative" val="1"/>
              </a:ext>
            </a:extLst>
          </p:cNvPr>
          <p:cNvCxnSpPr/>
          <p:nvPr/>
        </p:nvCxnSpPr>
        <p:spPr>
          <a:xfrm>
            <a:off x="6096000" y="2363035"/>
            <a:ext cx="0" cy="241133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2" name="TextBox 1"/>
          <p:cNvSpPr txBox="1"/>
          <p:nvPr/>
        </p:nvSpPr>
        <p:spPr>
          <a:xfrm>
            <a:off x="226423" y="774175"/>
            <a:ext cx="11451052" cy="646331"/>
          </a:xfrm>
          <a:prstGeom prst="rect">
            <a:avLst/>
          </a:prstGeom>
          <a:noFill/>
        </p:spPr>
        <p:txBody>
          <a:bodyPr wrap="square" rtlCol="0">
            <a:spAutoFit/>
          </a:bodyPr>
          <a:lstStyle/>
          <a:p>
            <a:r>
              <a:rPr lang="en-US" dirty="0"/>
              <a:t>Intervention 3: Standardized counselling template</a:t>
            </a:r>
          </a:p>
          <a:p>
            <a:pPr marL="285750" indent="-285750">
              <a:buFont typeface="Arial" panose="020B0604020202020204" pitchFamily="34" charset="0"/>
              <a:buChar char="•"/>
            </a:pPr>
            <a:r>
              <a:rPr lang="en-US" dirty="0"/>
              <a:t>Counselling template was uploaded to EPIC with </a:t>
            </a:r>
            <a:r>
              <a:rPr lang="en-US" dirty="0" err="1"/>
              <a:t>smartphrase</a:t>
            </a:r>
            <a:r>
              <a:rPr lang="en-US" dirty="0"/>
              <a:t> shortcut</a:t>
            </a:r>
            <a:endParaRPr lang="en-SG" dirty="0"/>
          </a:p>
        </p:txBody>
      </p:sp>
      <p:pic>
        <p:nvPicPr>
          <p:cNvPr id="4" name="Picture 3"/>
          <p:cNvPicPr>
            <a:picLocks noChangeAspect="1"/>
          </p:cNvPicPr>
          <p:nvPr/>
        </p:nvPicPr>
        <p:blipFill>
          <a:blip r:embed="rId3"/>
          <a:stretch>
            <a:fillRect/>
          </a:stretch>
        </p:blipFill>
        <p:spPr>
          <a:xfrm>
            <a:off x="1564633" y="1582475"/>
            <a:ext cx="7839426" cy="4811352"/>
          </a:xfrm>
          <a:prstGeom prst="rect">
            <a:avLst/>
          </a:prstGeom>
        </p:spPr>
      </p:pic>
    </p:spTree>
    <p:extLst>
      <p:ext uri="{BB962C8B-B14F-4D97-AF65-F5344CB8AC3E}">
        <p14:creationId xmlns:p14="http://schemas.microsoft.com/office/powerpoint/2010/main" val="32582946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hidden="1"/>
          <p:cNvSpPr>
            <a:spLocks noGrp="1"/>
          </p:cNvSpPr>
          <p:nvPr>
            <p:ph type="title"/>
          </p:nvPr>
        </p:nvSpPr>
        <p:spPr/>
        <p:txBody>
          <a:bodyPr/>
          <a:lstStyle/>
          <a:p>
            <a:r>
              <a:rPr lang="en-US" dirty="0"/>
              <a:t>Sample 3</a:t>
            </a:r>
          </a:p>
        </p:txBody>
      </p:sp>
      <p:sp>
        <p:nvSpPr>
          <p:cNvPr id="6" name="TextBox 5"/>
          <p:cNvSpPr txBox="1"/>
          <p:nvPr/>
        </p:nvSpPr>
        <p:spPr>
          <a:xfrm>
            <a:off x="352697" y="64109"/>
            <a:ext cx="11839302" cy="710066"/>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3000" b="1" i="0" u="none" strike="noStrike" kern="1200" cap="none" spc="0" normalizeH="0" baseline="0" noProof="0" dirty="0">
                <a:ln>
                  <a:noFill/>
                </a:ln>
                <a:solidFill>
                  <a:prstClr val="black">
                    <a:lumMod val="85000"/>
                    <a:lumOff val="15000"/>
                  </a:prstClr>
                </a:solidFill>
                <a:effectLst/>
                <a:uLnTx/>
                <a:uFillTx/>
                <a:latin typeface="Arial Black" charset="0"/>
                <a:ea typeface="Arial Black" charset="0"/>
                <a:cs typeface="Arial Black" charset="0"/>
              </a:rPr>
              <a:t>Appendix</a:t>
            </a:r>
            <a:endParaRPr kumimoji="0" lang="en-US" sz="1600" b="0" i="0" u="none" strike="noStrike" kern="1200" cap="none" spc="0" normalizeH="0" baseline="0" noProof="0" dirty="0">
              <a:ln>
                <a:noFill/>
              </a:ln>
              <a:solidFill>
                <a:prstClr val="black">
                  <a:lumMod val="85000"/>
                  <a:lumOff val="15000"/>
                </a:prstClr>
              </a:solidFill>
              <a:effectLst/>
              <a:uLnTx/>
              <a:uFillTx/>
              <a:latin typeface="Arial" charset="0"/>
              <a:ea typeface="Arial" charset="0"/>
              <a:cs typeface="Arial" charset="0"/>
            </a:endParaRPr>
          </a:p>
        </p:txBody>
      </p:sp>
      <p:cxnSp>
        <p:nvCxnSpPr>
          <p:cNvPr id="23" name="Straight Connector 22">
            <a:extLst>
              <a:ext uri="{C183D7F6-B498-43B3-948B-1728B52AA6E4}">
                <adec:decorative xmlns:adec="http://schemas.microsoft.com/office/drawing/2017/decorative" val="1"/>
              </a:ext>
            </a:extLst>
          </p:cNvPr>
          <p:cNvCxnSpPr/>
          <p:nvPr/>
        </p:nvCxnSpPr>
        <p:spPr>
          <a:xfrm>
            <a:off x="226423" y="746051"/>
            <a:ext cx="10027920" cy="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2" name="TextBox 1"/>
          <p:cNvSpPr txBox="1"/>
          <p:nvPr/>
        </p:nvSpPr>
        <p:spPr>
          <a:xfrm>
            <a:off x="226423" y="774175"/>
            <a:ext cx="11451052" cy="923330"/>
          </a:xfrm>
          <a:prstGeom prst="rect">
            <a:avLst/>
          </a:prstGeom>
          <a:noFill/>
        </p:spPr>
        <p:txBody>
          <a:bodyPr wrap="square" rtlCol="0">
            <a:spAutoFit/>
          </a:bodyPr>
          <a:lstStyle/>
          <a:p>
            <a:r>
              <a:rPr lang="en-US" dirty="0"/>
              <a:t>Intervention 4: Consultant outpatient MR roster</a:t>
            </a:r>
          </a:p>
          <a:p>
            <a:pPr marL="285750" indent="-285750">
              <a:buFont typeface="Arial" panose="020B0604020202020204" pitchFamily="34" charset="0"/>
              <a:buChar char="•"/>
            </a:pPr>
            <a:r>
              <a:rPr lang="en-US" dirty="0"/>
              <a:t>Created an easy-to-understand consultant outpatient MR roster for clinicians, if they were to require advice on a particular patient’s scan of choice</a:t>
            </a:r>
            <a:endParaRPr lang="en-SG" dirty="0"/>
          </a:p>
        </p:txBody>
      </p:sp>
      <p:pic>
        <p:nvPicPr>
          <p:cNvPr id="4" name="Picture 3"/>
          <p:cNvPicPr>
            <a:picLocks noChangeAspect="1"/>
          </p:cNvPicPr>
          <p:nvPr/>
        </p:nvPicPr>
        <p:blipFill>
          <a:blip r:embed="rId3"/>
          <a:stretch>
            <a:fillRect/>
          </a:stretch>
        </p:blipFill>
        <p:spPr>
          <a:xfrm>
            <a:off x="1224753" y="1804358"/>
            <a:ext cx="9454392" cy="4446969"/>
          </a:xfrm>
          <a:prstGeom prst="rect">
            <a:avLst/>
          </a:prstGeom>
        </p:spPr>
      </p:pic>
    </p:spTree>
    <p:extLst>
      <p:ext uri="{BB962C8B-B14F-4D97-AF65-F5344CB8AC3E}">
        <p14:creationId xmlns:p14="http://schemas.microsoft.com/office/powerpoint/2010/main" val="37376889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Nurliza xmlns="b640db37-6f70-4f55-97a3-afbfef871668">
      <UserInfo>
        <DisplayName/>
        <AccountId xsi:nil="true"/>
        <AccountType/>
      </UserInfo>
    </Nurliza>
    <TaxCatchAll xmlns="8fa29a4f-5ff9-4307-95c8-345f7a0c22a6" xsi:nil="true"/>
    <lcf76f155ced4ddcb4097134ff3c332f xmlns="b640db37-6f70-4f55-97a3-afbfef871668">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4D9EC032407D747A0CCCE08536E2C40" ma:contentTypeVersion="16" ma:contentTypeDescription="Create a new document." ma:contentTypeScope="" ma:versionID="f93a43adddd53eb707f1f27d3b656bed">
  <xsd:schema xmlns:xsd="http://www.w3.org/2001/XMLSchema" xmlns:xs="http://www.w3.org/2001/XMLSchema" xmlns:p="http://schemas.microsoft.com/office/2006/metadata/properties" xmlns:ns2="b640db37-6f70-4f55-97a3-afbfef871668" xmlns:ns3="8fa29a4f-5ff9-4307-95c8-345f7a0c22a6" targetNamespace="http://schemas.microsoft.com/office/2006/metadata/properties" ma:root="true" ma:fieldsID="1bbc1c2ffdf4a50098feed94a94d8ef6" ns2:_="" ns3:_="">
    <xsd:import namespace="b640db37-6f70-4f55-97a3-afbfef871668"/>
    <xsd:import namespace="8fa29a4f-5ff9-4307-95c8-345f7a0c22a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Nurliza" minOccurs="0"/>
                <xsd:element ref="ns2:lcf76f155ced4ddcb4097134ff3c332f" minOccurs="0"/>
                <xsd:element ref="ns3:TaxCatchAll" minOccurs="0"/>
                <xsd:element ref="ns2:MediaServiceOCR" minOccurs="0"/>
                <xsd:element ref="ns2:MediaServiceLoca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640db37-6f70-4f55-97a3-afbfef87166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Nurliza" ma:index="16" nillable="true" ma:displayName="Owner" ma:format="Dropdown" ma:list="UserInfo" ma:SharePointGroup="0" ma:internalName="Nurliza">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abfb6660-b9af-4ec2-a833-14c7ed8b7103"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Location" ma:index="21" nillable="true" ma:displayName="Location" ma:indexed="true" ma:internalName="MediaServiceLocation" ma:readOnly="true">
      <xsd:simpleType>
        <xsd:restriction base="dms:Text"/>
      </xsd:simpleType>
    </xsd:element>
    <xsd:element name="MediaServiceBillingMetadata" ma:index="22"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fa29a4f-5ff9-4307-95c8-345f7a0c22a6"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696f3f65-d232-4738-b6e8-224c02de2a4b}" ma:internalName="TaxCatchAll" ma:showField="CatchAllData" ma:web="8fa29a4f-5ff9-4307-95c8-345f7a0c22a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695D1C0-9BB5-46B8-BDA7-57532C0357D2}">
  <ds:schemaRefs>
    <ds:schemaRef ds:uri="http://schemas.microsoft.com/office/2006/documentManagement/types"/>
    <ds:schemaRef ds:uri="http://purl.org/dc/elements/1.1/"/>
    <ds:schemaRef ds:uri="http://schemas.microsoft.com/office/2006/metadata/properties"/>
    <ds:schemaRef ds:uri="http://schemas.microsoft.com/sharepoint/v3"/>
    <ds:schemaRef ds:uri="http://schemas.microsoft.com/office/infopath/2007/PartnerControls"/>
    <ds:schemaRef ds:uri="http://purl.org/dc/terms/"/>
    <ds:schemaRef ds:uri="http://schemas.openxmlformats.org/package/2006/metadata/core-properties"/>
    <ds:schemaRef ds:uri="36a81429-46e2-4541-84e2-8247d1e19221"/>
    <ds:schemaRef ds:uri="http://www.w3.org/XML/1998/namespace"/>
    <ds:schemaRef ds:uri="http://purl.org/dc/dcmitype/"/>
    <ds:schemaRef ds:uri="b640db37-6f70-4f55-97a3-afbfef871668"/>
    <ds:schemaRef ds:uri="8fa29a4f-5ff9-4307-95c8-345f7a0c22a6"/>
  </ds:schemaRefs>
</ds:datastoreItem>
</file>

<file path=customXml/itemProps2.xml><?xml version="1.0" encoding="utf-8"?>
<ds:datastoreItem xmlns:ds="http://schemas.openxmlformats.org/officeDocument/2006/customXml" ds:itemID="{6CE67394-7AA3-4B71-9E89-45F0C3812287}">
  <ds:schemaRefs>
    <ds:schemaRef ds:uri="http://schemas.microsoft.com/sharepoint/v3/contenttype/forms"/>
  </ds:schemaRefs>
</ds:datastoreItem>
</file>

<file path=customXml/itemProps3.xml><?xml version="1.0" encoding="utf-8"?>
<ds:datastoreItem xmlns:ds="http://schemas.openxmlformats.org/officeDocument/2006/customXml" ds:itemID="{961F785E-09C8-4C6D-80A9-2D193972CC7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640db37-6f70-4f55-97a3-afbfef871668"/>
    <ds:schemaRef ds:uri="8fa29a4f-5ff9-4307-95c8-345f7a0c22a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336</TotalTime>
  <Words>1928</Words>
  <Application>Microsoft Office PowerPoint</Application>
  <PresentationFormat>Widescreen</PresentationFormat>
  <Paragraphs>215</Paragraphs>
  <Slides>13</Slides>
  <Notes>9</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PowerPoint Presentation</vt:lpstr>
      <vt:lpstr>Sample 3</vt:lpstr>
      <vt:lpstr>Sample 3</vt:lpstr>
      <vt:lpstr>Sample 4</vt:lpstr>
      <vt:lpstr>PowerPoint Presentation</vt:lpstr>
      <vt:lpstr>PowerPoint Presentation</vt:lpstr>
      <vt:lpstr>PowerPoint Presentation</vt:lpstr>
      <vt:lpstr>PowerPoint Presentation</vt:lpstr>
      <vt:lpstr>Sample 5</vt:lpstr>
      <vt:lpstr>Sample 3</vt:lpstr>
      <vt:lpstr>Sample 3</vt:lpstr>
      <vt:lpstr>Sample 3</vt:lpstr>
      <vt:lpstr>Sample 3</vt:lpstr>
    </vt:vector>
  </TitlesOfParts>
  <Company>NN+A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STACY LEONG PEI YUNN</dc:creator>
  <cp:lastModifiedBy>Samuel Lau (NUH)</cp:lastModifiedBy>
  <cp:revision>56</cp:revision>
  <dcterms:created xsi:type="dcterms:W3CDTF">2023-04-04T06:38:14Z</dcterms:created>
  <dcterms:modified xsi:type="dcterms:W3CDTF">2026-02-03T02:33:05Z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0x01010054D9EC032407D747A0CCCE08536E2C40</vt:lpwstr>
  </property>
  <property fmtid="{D5CDD505-2E9C-101B-9397-08002B2CF9AE}" pid="3" name="MediaServiceImageTags">
    <vt:lpwstr/>
  </property>
</Properties>
</file>